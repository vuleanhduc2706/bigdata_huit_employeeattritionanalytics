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_rels/slide15.xml.rels" ContentType="application/vnd.openxmlformats-package.relationships+xml"/>
  <Override PartName="/ppt/slides/_rels/slide14.xml.rels" ContentType="application/vnd.openxmlformats-package.relationships+xml"/>
  <Override PartName="/ppt/slides/_rels/slide19.xml.rels" ContentType="application/vnd.openxmlformats-package.relationships+xml"/>
  <Override PartName="/ppt/slides/_rels/slide7.xml.rels" ContentType="application/vnd.openxmlformats-package.relationships+xml"/>
  <Override PartName="/ppt/slides/_rels/slide11.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9.xml.rels" ContentType="application/vnd.openxmlformats-package.relationships+xml"/>
  <Override PartName="/ppt/slides/_rels/slide5.xml.rels" ContentType="application/vnd.openxmlformats-package.relationships+xml"/>
  <Override PartName="/ppt/slides/_rels/slide17.xml.rels" ContentType="application/vnd.openxmlformats-package.relationships+xml"/>
  <Override PartName="/ppt/slides/_rels/slide6.xml.rels" ContentType="application/vnd.openxmlformats-package.relationships+xml"/>
  <Override PartName="/ppt/slides/_rels/slide16.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12.xml.rels" ContentType="application/vnd.openxmlformats-package.relationships+xml"/>
  <Override PartName="/ppt/slides/_rels/slide1.xml.rels" ContentType="application/vnd.openxmlformats-package.relationships+xml"/>
  <Override PartName="/ppt/slides/slide11.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_rels/notesSlide18.xml.rels" ContentType="application/vnd.openxmlformats-package.relationships+xml"/>
  <Override PartName="/ppt/notesSlides/_rels/notesSlide16.xml.rels" ContentType="application/vnd.openxmlformats-package.relationships+xml"/>
  <Override PartName="/ppt/notesSlides/_rels/notesSlide15.xml.rels" ContentType="application/vnd.openxmlformats-package.relationships+xml"/>
  <Override PartName="/ppt/notesSlides/_rels/notesSlide12.xml.rels" ContentType="application/vnd.openxmlformats-package.relationships+xml"/>
  <Override PartName="/ppt/notesSlides/_rels/notesSlide17.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8.xml.rels" ContentType="application/vnd.openxmlformats-package.relationships+xml"/>
  <Override PartName="/ppt/notesSlides/_rels/notesSlide19.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xml.rels" ContentType="application/vnd.openxmlformats-package.relationships+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Arial"/>
              </a:rPr>
              <a:t>Click to move the slide</a:t>
            </a:r>
            <a:endParaRPr b="0" lang="en-US" sz="1800" strike="noStrike" u="none">
              <a:solidFill>
                <a:schemeClr val="dk1"/>
              </a:solidFill>
              <a:effectLst/>
              <a:uFillTx/>
              <a:latin typeface="Arial"/>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1"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F4E18ABB-6F40-46BA-9571-08F670EA74B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685800" y="1143000"/>
            <a:ext cx="5486040" cy="3085920"/>
          </a:xfrm>
          <a:prstGeom prst="rect">
            <a:avLst/>
          </a:prstGeom>
          <a:ln w="0">
            <a:noFill/>
          </a:ln>
        </p:spPr>
      </p:sp>
      <p:sp>
        <p:nvSpPr>
          <p:cNvPr id="5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3"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4F39509-02B5-474B-9460-E48E59868931}"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685800" y="1143000"/>
            <a:ext cx="5486040" cy="3085920"/>
          </a:xfrm>
          <a:prstGeom prst="rect">
            <a:avLst/>
          </a:prstGeom>
          <a:ln w="0">
            <a:noFill/>
          </a:ln>
        </p:spPr>
      </p:sp>
      <p:sp>
        <p:nvSpPr>
          <p:cNvPr id="5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6"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F94E72-DCAB-4415-A118-050D225D4E5B}"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685800" y="1143000"/>
            <a:ext cx="5486040" cy="3085920"/>
          </a:xfrm>
          <a:prstGeom prst="rect">
            <a:avLst/>
          </a:prstGeom>
          <a:ln w="0">
            <a:noFill/>
          </a:ln>
        </p:spPr>
      </p:sp>
      <p:sp>
        <p:nvSpPr>
          <p:cNvPr id="5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89"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D5053BE-66A7-41F3-86B7-5B5D73DBA09C}"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685800" y="1143000"/>
            <a:ext cx="5486040" cy="3085920"/>
          </a:xfrm>
          <a:prstGeom prst="rect">
            <a:avLst/>
          </a:prstGeom>
          <a:ln w="0">
            <a:noFill/>
          </a:ln>
        </p:spPr>
      </p:sp>
      <p:sp>
        <p:nvSpPr>
          <p:cNvPr id="5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92"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2B868DE-CBB0-4C00-AF0C-A9096E64752E}"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685800" y="1143000"/>
            <a:ext cx="5486040" cy="3085920"/>
          </a:xfrm>
          <a:prstGeom prst="rect">
            <a:avLst/>
          </a:prstGeom>
          <a:ln w="0">
            <a:noFill/>
          </a:ln>
        </p:spPr>
      </p:sp>
      <p:sp>
        <p:nvSpPr>
          <p:cNvPr id="5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95"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DAD755A-2B32-41A7-8043-A4BC2DA2D4C4}"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685800" y="1143000"/>
            <a:ext cx="5486040" cy="3085920"/>
          </a:xfrm>
          <a:prstGeom prst="rect">
            <a:avLst/>
          </a:prstGeom>
          <a:ln w="0">
            <a:noFill/>
          </a:ln>
        </p:spPr>
      </p:sp>
      <p:sp>
        <p:nvSpPr>
          <p:cNvPr id="5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98"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DA9FFF6-079B-495E-86CD-03336C953C96}"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685800" y="1143000"/>
            <a:ext cx="5486040" cy="3085920"/>
          </a:xfrm>
          <a:prstGeom prst="rect">
            <a:avLst/>
          </a:prstGeom>
          <a:ln w="0">
            <a:noFill/>
          </a:ln>
        </p:spPr>
      </p:sp>
      <p:sp>
        <p:nvSpPr>
          <p:cNvPr id="6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01"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079D859-4956-49F1-BB4D-A1B90904B62C}"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685800" y="1143000"/>
            <a:ext cx="5486040" cy="3085920"/>
          </a:xfrm>
          <a:prstGeom prst="rect">
            <a:avLst/>
          </a:prstGeom>
          <a:ln w="0">
            <a:noFill/>
          </a:ln>
        </p:spPr>
      </p:sp>
      <p:sp>
        <p:nvSpPr>
          <p:cNvPr id="6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04"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F2EE1A8-E690-4D7B-BD52-CCB410944841}"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685800" y="1143000"/>
            <a:ext cx="5486040" cy="3085920"/>
          </a:xfrm>
          <a:prstGeom prst="rect">
            <a:avLst/>
          </a:prstGeom>
          <a:ln w="0">
            <a:noFill/>
          </a:ln>
        </p:spPr>
      </p:sp>
      <p:sp>
        <p:nvSpPr>
          <p:cNvPr id="6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07"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C4D27E5-C500-494A-AE07-13ECEDFD4D39}"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685800" y="1143000"/>
            <a:ext cx="5486040" cy="3085920"/>
          </a:xfrm>
          <a:prstGeom prst="rect">
            <a:avLst/>
          </a:prstGeom>
          <a:ln w="0">
            <a:noFill/>
          </a:ln>
        </p:spPr>
      </p:sp>
      <p:sp>
        <p:nvSpPr>
          <p:cNvPr id="6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10"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07D913D-F1EE-4761-93CA-7351A1D7BCD1}"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685800" y="1143000"/>
            <a:ext cx="5486040" cy="3085920"/>
          </a:xfrm>
          <a:prstGeom prst="rect">
            <a:avLst/>
          </a:prstGeom>
          <a:ln w="0">
            <a:noFill/>
          </a:ln>
        </p:spPr>
      </p:sp>
      <p:sp>
        <p:nvSpPr>
          <p:cNvPr id="6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13"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B7A7F65-21E7-4554-B26E-A8008E62D744}"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685800" y="1143000"/>
            <a:ext cx="5486040" cy="3085920"/>
          </a:xfrm>
          <a:prstGeom prst="rect">
            <a:avLst/>
          </a:prstGeom>
          <a:ln w="0">
            <a:noFill/>
          </a:ln>
        </p:spPr>
      </p:sp>
      <p:sp>
        <p:nvSpPr>
          <p:cNvPr id="6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16"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56ADE9-F944-4177-BD0C-262C11DD2E8B}"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685800" y="1143000"/>
            <a:ext cx="5486040" cy="3085920"/>
          </a:xfrm>
          <a:prstGeom prst="rect">
            <a:avLst/>
          </a:prstGeom>
          <a:ln w="0">
            <a:noFill/>
          </a:ln>
        </p:spPr>
      </p:sp>
      <p:sp>
        <p:nvSpPr>
          <p:cNvPr id="6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19"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940F7F8-67D6-4320-B0C7-4B6CCC23C714}"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5800" y="1143000"/>
            <a:ext cx="5486040" cy="3085920"/>
          </a:xfrm>
          <a:prstGeom prst="rect">
            <a:avLst/>
          </a:prstGeom>
          <a:ln w="0">
            <a:noFill/>
          </a:ln>
        </p:spPr>
      </p:sp>
      <p:sp>
        <p:nvSpPr>
          <p:cNvPr id="6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22"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1E96BBB-B95A-4F33-89E5-FC35899FEA12}"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685800" y="1143000"/>
            <a:ext cx="5486040" cy="3085920"/>
          </a:xfrm>
          <a:prstGeom prst="rect">
            <a:avLst/>
          </a:prstGeom>
          <a:ln w="0">
            <a:noFill/>
          </a:ln>
        </p:spPr>
      </p:sp>
      <p:sp>
        <p:nvSpPr>
          <p:cNvPr id="6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25"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DEC72A3-764C-41B3-B613-860F38AC95D1}"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685800" y="1143000"/>
            <a:ext cx="5486040" cy="3085920"/>
          </a:xfrm>
          <a:prstGeom prst="rect">
            <a:avLst/>
          </a:prstGeom>
          <a:ln w="0">
            <a:noFill/>
          </a:ln>
        </p:spPr>
      </p:sp>
      <p:sp>
        <p:nvSpPr>
          <p:cNvPr id="6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28"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2989BB5-9683-4589-8910-FBE87875BE09}"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685800" y="1143000"/>
            <a:ext cx="5486040" cy="3085920"/>
          </a:xfrm>
          <a:prstGeom prst="rect">
            <a:avLst/>
          </a:prstGeom>
          <a:ln w="0">
            <a:noFill/>
          </a:ln>
        </p:spPr>
      </p:sp>
      <p:sp>
        <p:nvSpPr>
          <p:cNvPr id="6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31"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ADADE6D-96F0-426A-BD5A-85E64C74F2DE}"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685800" y="1143000"/>
            <a:ext cx="5486040" cy="3085920"/>
          </a:xfrm>
          <a:prstGeom prst="rect">
            <a:avLst/>
          </a:prstGeom>
          <a:ln w="0">
            <a:noFill/>
          </a:ln>
        </p:spPr>
      </p:sp>
      <p:sp>
        <p:nvSpPr>
          <p:cNvPr id="6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34"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62AD0F8-071B-4056-A06B-DAEC561B4FDC}" type="slidenum">
              <a:rPr b="0" lang="en-US" sz="1200" strike="noStrike" u="none">
                <a:solidFill>
                  <a:schemeClr val="dk1"/>
                </a:solidFill>
                <a:effectLst/>
                <a:uFillTx/>
                <a:latin typeface="+mn-lt"/>
                <a:ea typeface="+mn-ea"/>
              </a:rPr>
              <a:t>19</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685800" y="1143000"/>
            <a:ext cx="5486040" cy="3085920"/>
          </a:xfrm>
          <a:prstGeom prst="rect">
            <a:avLst/>
          </a:prstGeom>
          <a:ln w="0">
            <a:noFill/>
          </a:ln>
        </p:spPr>
      </p:sp>
      <p:sp>
        <p:nvSpPr>
          <p:cNvPr id="6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37"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8E83F53-4C98-4F23-B82E-4380797275D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400" cy="10944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 name="Text 1"/>
          <p:cNvSpPr/>
          <p:nvPr/>
        </p:nvSpPr>
        <p:spPr>
          <a:xfrm>
            <a:off x="502920" y="6546960"/>
            <a:ext cx="32914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7a8797"/>
                </a:solidFill>
                <a:effectLst/>
                <a:uFillTx/>
                <a:latin typeface="Arial"/>
                <a:ea typeface="Arial"/>
              </a:rPr>
              <a:t>BIG DATA • CHƯƠNG 4</a:t>
            </a:r>
            <a:endParaRPr b="0" lang="en-US" sz="800" strike="noStrike" u="none">
              <a:solidFill>
                <a:srgbClr val="000000"/>
              </a:solidFill>
              <a:effectLst/>
              <a:uFillTx/>
              <a:latin typeface="Arial"/>
            </a:endParaRPr>
          </a:p>
        </p:txBody>
      </p:sp>
      <p:sp>
        <p:nvSpPr>
          <p:cNvPr id="4" name="Text 2"/>
          <p:cNvSpPr/>
          <p:nvPr/>
        </p:nvSpPr>
        <p:spPr>
          <a:xfrm>
            <a:off x="8549640" y="6546960"/>
            <a:ext cx="306288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7a8797"/>
                </a:solidFill>
                <a:effectLst/>
                <a:uFillTx/>
                <a:latin typeface="Arial"/>
                <a:ea typeface="Arial"/>
              </a:rPr>
              <a:t>Data Ingestion &amp; Orchestration</a:t>
            </a:r>
            <a:endParaRPr b="0" lang="en-US" sz="800" strike="noStrike" u="none">
              <a:solidFill>
                <a:srgbClr val="000000"/>
              </a:solidFill>
              <a:effectLst/>
              <a:uFillTx/>
              <a:latin typeface="Arial"/>
            </a:endParaRPr>
          </a:p>
        </p:txBody>
      </p:sp>
      <p:sp>
        <p:nvSpPr>
          <p:cNvPr id="5" name="PlaceHolder 1"/>
          <p:cNvSpPr>
            <a:spLocks noGrp="1"/>
          </p:cNvSpPr>
          <p:nvPr>
            <p:ph type="sldNum" idx="1"/>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7E7D8938-B4BA-4DCC-9374-93F6E3B9E3DF}" type="slidenum">
              <a:rPr b="0" lang="en-US" sz="800" strike="noStrike" u="none">
                <a:solidFill>
                  <a:srgbClr val="7a8797"/>
                </a:solidFill>
                <a:effectLst/>
                <a:uFillTx/>
                <a:latin typeface="Arial"/>
                <a:ea typeface="Arial"/>
              </a:rPr>
              <a:t>&lt;number&gt;</a:t>
            </a:fld>
            <a:endParaRPr b="0" lang="en-US" sz="800" strike="noStrike" u="none">
              <a:solidFill>
                <a:srgbClr val="000000"/>
              </a:solidFill>
              <a:effectLst/>
              <a:uFillTx/>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Arial"/>
              </a:rPr>
              <a:t>Click to edit the outline text format</a:t>
            </a:r>
            <a:endParaRPr b="0" lang="en-US"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Arial"/>
              </a:rPr>
              <a:t>Third Outline Level</a:t>
            </a:r>
            <a:endParaRPr b="0" lang="en-US"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Arial"/>
              </a:rPr>
              <a:t>Fourth Outline Level</a:t>
            </a:r>
            <a:endParaRPr b="0" lang="en-US"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14" name="Shape 0"/>
          <p:cNvSpPr/>
          <p:nvPr/>
        </p:nvSpPr>
        <p:spPr>
          <a:xfrm>
            <a:off x="567000" y="1051560"/>
            <a:ext cx="11018160" cy="4983120"/>
          </a:xfrm>
          <a:prstGeom prst="roundRect">
            <a:avLst>
              <a:gd name="adj" fmla="val 1468"/>
            </a:avLst>
          </a:prstGeom>
          <a:solidFill>
            <a:srgbClr val="ffffff"/>
          </a:solidFill>
          <a:ln w="12700">
            <a:solidFill>
              <a:srgbClr val="dfe7e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 name="Text 1"/>
          <p:cNvSpPr/>
          <p:nvPr/>
        </p:nvSpPr>
        <p:spPr>
          <a:xfrm>
            <a:off x="868680" y="1417320"/>
            <a:ext cx="1828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e88e5"/>
                </a:solidFill>
                <a:effectLst/>
                <a:uFillTx/>
                <a:latin typeface="Arial"/>
              </a:rPr>
              <a:t>CHƯƠNG 4</a:t>
            </a:r>
            <a:endParaRPr b="0" lang="en-US" sz="1600" strike="noStrike" u="none">
              <a:solidFill>
                <a:srgbClr val="000000"/>
              </a:solidFill>
              <a:effectLst/>
              <a:uFillTx/>
              <a:latin typeface="Arial"/>
            </a:endParaRPr>
          </a:p>
        </p:txBody>
      </p:sp>
      <p:sp>
        <p:nvSpPr>
          <p:cNvPr id="16" name="Text 2"/>
          <p:cNvSpPr/>
          <p:nvPr/>
        </p:nvSpPr>
        <p:spPr>
          <a:xfrm>
            <a:off x="868680" y="1874520"/>
            <a:ext cx="6309000" cy="1261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400" strike="noStrike" u="none">
                <a:solidFill>
                  <a:srgbClr val="16324f"/>
                </a:solidFill>
                <a:effectLst/>
                <a:uFillTx/>
                <a:latin typeface="Arial"/>
              </a:rPr>
              <a:t>DATA INGESTION</a:t>
            </a:r>
            <a:endParaRPr b="0" lang="en-US" sz="3400" strike="noStrike" u="none">
              <a:solidFill>
                <a:srgbClr val="000000"/>
              </a:solidFill>
              <a:effectLst/>
              <a:uFillTx/>
              <a:latin typeface="Arial"/>
            </a:endParaRPr>
          </a:p>
          <a:p>
            <a:pPr defTabSz="914400">
              <a:lnSpc>
                <a:spcPct val="100000"/>
              </a:lnSpc>
              <a:tabLst>
                <a:tab algn="l" pos="0"/>
              </a:tabLst>
            </a:pPr>
            <a:r>
              <a:rPr b="1" lang="en-US" sz="3400" strike="noStrike" u="none">
                <a:solidFill>
                  <a:srgbClr val="16324f"/>
                </a:solidFill>
                <a:effectLst/>
                <a:uFillTx/>
                <a:latin typeface="Arial"/>
              </a:rPr>
              <a:t>&amp; ORCHESTRATION</a:t>
            </a:r>
            <a:endParaRPr b="0" lang="en-US" sz="3400" strike="noStrike" u="none">
              <a:solidFill>
                <a:srgbClr val="000000"/>
              </a:solidFill>
              <a:effectLst/>
              <a:uFillTx/>
              <a:latin typeface="Arial"/>
            </a:endParaRPr>
          </a:p>
        </p:txBody>
      </p:sp>
      <p:sp>
        <p:nvSpPr>
          <p:cNvPr id="17" name="Text 3"/>
          <p:cNvSpPr/>
          <p:nvPr/>
        </p:nvSpPr>
        <p:spPr>
          <a:xfrm>
            <a:off x="896040" y="3401640"/>
            <a:ext cx="667476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5f6b7a"/>
                </a:solidFill>
                <a:effectLst/>
                <a:uFillTx/>
                <a:latin typeface="Arial"/>
              </a:rPr>
              <a:t>Thu thập dữ liệu • Batch &amp; Streaming • Sqoop • Flume • Kafka • Airflow • Redis Queue</a:t>
            </a:r>
            <a:endParaRPr b="0" lang="en-US" sz="1500" strike="noStrike" u="none">
              <a:solidFill>
                <a:srgbClr val="000000"/>
              </a:solidFill>
              <a:effectLst/>
              <a:uFillTx/>
              <a:latin typeface="Arial"/>
            </a:endParaRPr>
          </a:p>
        </p:txBody>
      </p:sp>
      <p:sp>
        <p:nvSpPr>
          <p:cNvPr id="18" name="Shape 4"/>
          <p:cNvSpPr/>
          <p:nvPr/>
        </p:nvSpPr>
        <p:spPr>
          <a:xfrm>
            <a:off x="914400" y="4526280"/>
            <a:ext cx="1416960" cy="639720"/>
          </a:xfrm>
          <a:prstGeom prst="roundRect">
            <a:avLst>
              <a:gd name="adj" fmla="val 8571"/>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 name="Text 5"/>
          <p:cNvSpPr/>
          <p:nvPr/>
        </p:nvSpPr>
        <p:spPr>
          <a:xfrm>
            <a:off x="969120" y="4727520"/>
            <a:ext cx="1307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Arial"/>
              </a:rPr>
              <a:t>Sources</a:t>
            </a:r>
            <a:endParaRPr b="0" lang="en-US" sz="1050" strike="noStrike" u="none">
              <a:solidFill>
                <a:srgbClr val="000000"/>
              </a:solidFill>
              <a:effectLst/>
              <a:uFillTx/>
              <a:latin typeface="Arial"/>
            </a:endParaRPr>
          </a:p>
        </p:txBody>
      </p:sp>
      <p:sp>
        <p:nvSpPr>
          <p:cNvPr id="20" name="Shape 6"/>
          <p:cNvSpPr/>
          <p:nvPr/>
        </p:nvSpPr>
        <p:spPr>
          <a:xfrm>
            <a:off x="2331720" y="4846320"/>
            <a:ext cx="484560" cy="360"/>
          </a:xfrm>
          <a:prstGeom prst="line">
            <a:avLst/>
          </a:prstGeom>
          <a:ln w="25400">
            <a:solidFill>
              <a:srgbClr val="a5b2c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1" name="Shape 7"/>
          <p:cNvSpPr/>
          <p:nvPr/>
        </p:nvSpPr>
        <p:spPr>
          <a:xfrm>
            <a:off x="2816280" y="4526280"/>
            <a:ext cx="1416960" cy="639720"/>
          </a:xfrm>
          <a:prstGeom prst="roundRect">
            <a:avLst>
              <a:gd name="adj" fmla="val 8571"/>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 name="Text 8"/>
          <p:cNvSpPr/>
          <p:nvPr/>
        </p:nvSpPr>
        <p:spPr>
          <a:xfrm>
            <a:off x="2871360" y="4727520"/>
            <a:ext cx="1307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Arial"/>
              </a:rPr>
              <a:t>Ingestion</a:t>
            </a:r>
            <a:endParaRPr b="0" lang="en-US" sz="1050" strike="noStrike" u="none">
              <a:solidFill>
                <a:srgbClr val="000000"/>
              </a:solidFill>
              <a:effectLst/>
              <a:uFillTx/>
              <a:latin typeface="Arial"/>
            </a:endParaRPr>
          </a:p>
        </p:txBody>
      </p:sp>
      <p:sp>
        <p:nvSpPr>
          <p:cNvPr id="23" name="Shape 9"/>
          <p:cNvSpPr/>
          <p:nvPr/>
        </p:nvSpPr>
        <p:spPr>
          <a:xfrm>
            <a:off x="4233600" y="4846320"/>
            <a:ext cx="502920" cy="360"/>
          </a:xfrm>
          <a:prstGeom prst="line">
            <a:avLst/>
          </a:prstGeom>
          <a:ln w="25400">
            <a:solidFill>
              <a:srgbClr val="a5b2c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4" name="Shape 10"/>
          <p:cNvSpPr/>
          <p:nvPr/>
        </p:nvSpPr>
        <p:spPr>
          <a:xfrm>
            <a:off x="4736520" y="4526280"/>
            <a:ext cx="1416960" cy="639720"/>
          </a:xfrm>
          <a:prstGeom prst="roundRect">
            <a:avLst>
              <a:gd name="adj" fmla="val 8571"/>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 name="Text 11"/>
          <p:cNvSpPr/>
          <p:nvPr/>
        </p:nvSpPr>
        <p:spPr>
          <a:xfrm>
            <a:off x="4791600" y="4727520"/>
            <a:ext cx="1307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Arial"/>
              </a:rPr>
              <a:t>Storage</a:t>
            </a:r>
            <a:endParaRPr b="0" lang="en-US" sz="1050" strike="noStrike" u="none">
              <a:solidFill>
                <a:srgbClr val="000000"/>
              </a:solidFill>
              <a:effectLst/>
              <a:uFillTx/>
              <a:latin typeface="Arial"/>
            </a:endParaRPr>
          </a:p>
        </p:txBody>
      </p:sp>
      <p:sp>
        <p:nvSpPr>
          <p:cNvPr id="26" name="Shape 12"/>
          <p:cNvSpPr/>
          <p:nvPr/>
        </p:nvSpPr>
        <p:spPr>
          <a:xfrm>
            <a:off x="6153840" y="4846320"/>
            <a:ext cx="502920" cy="360"/>
          </a:xfrm>
          <a:prstGeom prst="line">
            <a:avLst/>
          </a:prstGeom>
          <a:ln w="25400">
            <a:solidFill>
              <a:srgbClr val="a5b2c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7" name="Shape 13"/>
          <p:cNvSpPr/>
          <p:nvPr/>
        </p:nvSpPr>
        <p:spPr>
          <a:xfrm>
            <a:off x="6656760" y="4526280"/>
            <a:ext cx="1416960" cy="639720"/>
          </a:xfrm>
          <a:prstGeom prst="roundRect">
            <a:avLst>
              <a:gd name="adj" fmla="val 8571"/>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 name="Text 14"/>
          <p:cNvSpPr/>
          <p:nvPr/>
        </p:nvSpPr>
        <p:spPr>
          <a:xfrm>
            <a:off x="6711840" y="4727520"/>
            <a:ext cx="1307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Arial"/>
              </a:rPr>
              <a:t>Processing</a:t>
            </a:r>
            <a:endParaRPr b="0" lang="en-US" sz="1050" strike="noStrike" u="none">
              <a:solidFill>
                <a:srgbClr val="000000"/>
              </a:solidFill>
              <a:effectLst/>
              <a:uFillTx/>
              <a:latin typeface="Arial"/>
            </a:endParaRPr>
          </a:p>
        </p:txBody>
      </p:sp>
      <p:sp>
        <p:nvSpPr>
          <p:cNvPr id="29" name="Shape 15"/>
          <p:cNvSpPr/>
          <p:nvPr/>
        </p:nvSpPr>
        <p:spPr>
          <a:xfrm>
            <a:off x="8074080" y="4846320"/>
            <a:ext cx="502920" cy="360"/>
          </a:xfrm>
          <a:prstGeom prst="line">
            <a:avLst/>
          </a:prstGeom>
          <a:ln w="25400">
            <a:solidFill>
              <a:srgbClr val="a5b2c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 name="Shape 16"/>
          <p:cNvSpPr/>
          <p:nvPr/>
        </p:nvSpPr>
        <p:spPr>
          <a:xfrm>
            <a:off x="8577000" y="4526280"/>
            <a:ext cx="1416960" cy="639720"/>
          </a:xfrm>
          <a:prstGeom prst="roundRect">
            <a:avLst>
              <a:gd name="adj" fmla="val 8571"/>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 name="Text 17"/>
          <p:cNvSpPr/>
          <p:nvPr/>
        </p:nvSpPr>
        <p:spPr>
          <a:xfrm>
            <a:off x="8632080" y="4727520"/>
            <a:ext cx="1307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Arial"/>
              </a:rPr>
              <a:t>Orchestration</a:t>
            </a:r>
            <a:endParaRPr b="0" lang="en-US" sz="1050" strike="noStrike" u="none">
              <a:solidFill>
                <a:srgbClr val="000000"/>
              </a:solidFill>
              <a:effectLst/>
              <a:uFillTx/>
              <a:latin typeface="Arial"/>
            </a:endParaRPr>
          </a:p>
        </p:txBody>
      </p:sp>
      <p:sp>
        <p:nvSpPr>
          <p:cNvPr id="32" name="Shape 18"/>
          <p:cNvSpPr/>
          <p:nvPr/>
        </p:nvSpPr>
        <p:spPr>
          <a:xfrm>
            <a:off x="9994320" y="4846320"/>
            <a:ext cx="64080" cy="360"/>
          </a:xfrm>
          <a:prstGeom prst="line">
            <a:avLst/>
          </a:prstGeom>
          <a:ln w="25400">
            <a:solidFill>
              <a:srgbClr val="a5b2c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3" name="Shape 19"/>
          <p:cNvSpPr/>
          <p:nvPr/>
        </p:nvSpPr>
        <p:spPr>
          <a:xfrm>
            <a:off x="10058400" y="4526280"/>
            <a:ext cx="1416960" cy="639720"/>
          </a:xfrm>
          <a:prstGeom prst="roundRect">
            <a:avLst>
              <a:gd name="adj" fmla="val 8571"/>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 name="Text 20"/>
          <p:cNvSpPr/>
          <p:nvPr/>
        </p:nvSpPr>
        <p:spPr>
          <a:xfrm>
            <a:off x="10113120" y="4727520"/>
            <a:ext cx="13071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ffffff"/>
                </a:solidFill>
                <a:effectLst/>
                <a:uFillTx/>
                <a:latin typeface="Arial"/>
              </a:rPr>
              <a:t>Analytics</a:t>
            </a:r>
            <a:endParaRPr b="0" lang="en-US" sz="1050" strike="noStrike" u="none">
              <a:solidFill>
                <a:srgbClr val="000000"/>
              </a:solidFill>
              <a:effectLst/>
              <a:uFillTx/>
              <a:latin typeface="Arial"/>
            </a:endParaRPr>
          </a:p>
        </p:txBody>
      </p:sp>
      <p:sp>
        <p:nvSpPr>
          <p:cNvPr id="35" name="Text 21"/>
          <p:cNvSpPr/>
          <p:nvPr/>
        </p:nvSpPr>
        <p:spPr>
          <a:xfrm>
            <a:off x="896040" y="5532120"/>
            <a:ext cx="9875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trike="noStrike" u="none">
                <a:solidFill>
                  <a:srgbClr val="6f7d8d"/>
                </a:solidFill>
                <a:effectLst/>
                <a:uFillTx/>
                <a:latin typeface="Arial"/>
              </a:rPr>
              <a:t>Bản revise: bổ sung giải thích, phân biệt vai trò các công nghệ và cập nhật Airflow hiện hành.</a:t>
            </a:r>
            <a:endParaRPr b="0" lang="en-US" sz="1100" strike="noStrike" u="none">
              <a:solidFill>
                <a:srgbClr val="000000"/>
              </a:solidFill>
              <a:effectLst/>
              <a:uFillTx/>
              <a:latin typeface="Arial"/>
            </a:endParaRPr>
          </a:p>
        </p:txBody>
      </p:sp>
      <p:sp>
        <p:nvSpPr>
          <p:cNvPr id="36" name="PlaceHolder 1"/>
          <p:cNvSpPr>
            <a:spLocks noGrp="1"/>
          </p:cNvSpPr>
          <p:nvPr>
            <p:ph type="sldNum" idx="5"/>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A647E980-137C-4AA7-8190-191B46B4594A}" type="slidenum">
              <a:rPr b="0" lang="en-US" sz="800" strike="noStrike" u="none">
                <a:solidFill>
                  <a:srgbClr val="7a8797"/>
                </a:solidFill>
                <a:effectLst/>
                <a:uFillTx/>
                <a:latin typeface="Arial"/>
                <a:ea typeface="Arial"/>
              </a:rPr>
              <a:t>1</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 Data Ingestion nằm ở đâu trong kiến trúc Big Data?</a:t>
            </a:r>
            <a:endParaRPr b="0" lang="en-US" sz="2700" strike="noStrike" u="none">
              <a:solidFill>
                <a:srgbClr val="000000"/>
              </a:solidFill>
              <a:effectLst/>
              <a:uFillTx/>
              <a:latin typeface="Arial"/>
            </a:endParaRPr>
          </a:p>
        </p:txBody>
      </p:sp>
      <p:sp>
        <p:nvSpPr>
          <p:cNvPr id="38"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Ingestion là “cửa vào” của pipeline — đưa dữ liệu từ nguồn vào hệ thống lưu trữ/xử lý.</a:t>
            </a:r>
            <a:endParaRPr b="0" lang="en-US" sz="1250" strike="noStrike" u="none">
              <a:solidFill>
                <a:srgbClr val="000000"/>
              </a:solidFill>
              <a:effectLst/>
              <a:uFillTx/>
              <a:latin typeface="Arial"/>
            </a:endParaRPr>
          </a:p>
        </p:txBody>
      </p:sp>
      <p:sp>
        <p:nvSpPr>
          <p:cNvPr id="39" name="Shape 2"/>
          <p:cNvSpPr/>
          <p:nvPr/>
        </p:nvSpPr>
        <p:spPr>
          <a:xfrm>
            <a:off x="658440" y="1828800"/>
            <a:ext cx="1874160" cy="1170000"/>
          </a:xfrm>
          <a:prstGeom prst="roundRect">
            <a:avLst>
              <a:gd name="adj" fmla="val 4688"/>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 name="Text 3"/>
          <p:cNvSpPr/>
          <p:nvPr/>
        </p:nvSpPr>
        <p:spPr>
          <a:xfrm>
            <a:off x="749880" y="2039040"/>
            <a:ext cx="16912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Data Sources</a:t>
            </a:r>
            <a:endParaRPr b="0" lang="en-US" sz="1400" strike="noStrike" u="none">
              <a:solidFill>
                <a:srgbClr val="000000"/>
              </a:solidFill>
              <a:effectLst/>
              <a:uFillTx/>
              <a:latin typeface="Arial"/>
            </a:endParaRPr>
          </a:p>
        </p:txBody>
      </p:sp>
      <p:sp>
        <p:nvSpPr>
          <p:cNvPr id="41" name="Text 4"/>
          <p:cNvSpPr/>
          <p:nvPr/>
        </p:nvSpPr>
        <p:spPr>
          <a:xfrm>
            <a:off x="749880" y="2423160"/>
            <a:ext cx="169128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e8f0f7"/>
                </a:solidFill>
                <a:effectLst/>
                <a:uFillTx/>
                <a:latin typeface="Arial"/>
              </a:rPr>
              <a:t>DB, file, log, API, IoT</a:t>
            </a:r>
            <a:endParaRPr b="0" lang="en-US" sz="980" strike="noStrike" u="none">
              <a:solidFill>
                <a:srgbClr val="000000"/>
              </a:solidFill>
              <a:effectLst/>
              <a:uFillTx/>
              <a:latin typeface="Arial"/>
            </a:endParaRPr>
          </a:p>
        </p:txBody>
      </p:sp>
      <p:sp>
        <p:nvSpPr>
          <p:cNvPr id="42" name="Shape 5"/>
          <p:cNvSpPr/>
          <p:nvPr/>
        </p:nvSpPr>
        <p:spPr>
          <a:xfrm>
            <a:off x="2532600" y="2413800"/>
            <a:ext cx="41148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 name="Shape 6"/>
          <p:cNvSpPr/>
          <p:nvPr/>
        </p:nvSpPr>
        <p:spPr>
          <a:xfrm>
            <a:off x="2944440" y="1828800"/>
            <a:ext cx="1874160" cy="1170000"/>
          </a:xfrm>
          <a:prstGeom prst="roundRect">
            <a:avLst>
              <a:gd name="adj" fmla="val 4688"/>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 name="Text 7"/>
          <p:cNvSpPr/>
          <p:nvPr/>
        </p:nvSpPr>
        <p:spPr>
          <a:xfrm>
            <a:off x="3035880" y="2039040"/>
            <a:ext cx="16912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Ingestion</a:t>
            </a:r>
            <a:endParaRPr b="0" lang="en-US" sz="1400" strike="noStrike" u="none">
              <a:solidFill>
                <a:srgbClr val="000000"/>
              </a:solidFill>
              <a:effectLst/>
              <a:uFillTx/>
              <a:latin typeface="Arial"/>
            </a:endParaRPr>
          </a:p>
        </p:txBody>
      </p:sp>
      <p:sp>
        <p:nvSpPr>
          <p:cNvPr id="45" name="Text 8"/>
          <p:cNvSpPr/>
          <p:nvPr/>
        </p:nvSpPr>
        <p:spPr>
          <a:xfrm>
            <a:off x="3035880" y="2423160"/>
            <a:ext cx="169128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e8f0f7"/>
                </a:solidFill>
                <a:effectLst/>
                <a:uFillTx/>
                <a:latin typeface="Arial"/>
              </a:rPr>
              <a:t>Sqoop/Flume/Kafka/NiFi</a:t>
            </a:r>
            <a:endParaRPr b="0" lang="en-US" sz="980" strike="noStrike" u="none">
              <a:solidFill>
                <a:srgbClr val="000000"/>
              </a:solidFill>
              <a:effectLst/>
              <a:uFillTx/>
              <a:latin typeface="Arial"/>
            </a:endParaRPr>
          </a:p>
        </p:txBody>
      </p:sp>
      <p:sp>
        <p:nvSpPr>
          <p:cNvPr id="46" name="Shape 9"/>
          <p:cNvSpPr/>
          <p:nvPr/>
        </p:nvSpPr>
        <p:spPr>
          <a:xfrm>
            <a:off x="4818600" y="2413800"/>
            <a:ext cx="41148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7" name="Shape 10"/>
          <p:cNvSpPr/>
          <p:nvPr/>
        </p:nvSpPr>
        <p:spPr>
          <a:xfrm>
            <a:off x="5230440" y="1828800"/>
            <a:ext cx="1874160" cy="1170000"/>
          </a:xfrm>
          <a:prstGeom prst="roundRect">
            <a:avLst>
              <a:gd name="adj" fmla="val 4688"/>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 name="Text 11"/>
          <p:cNvSpPr/>
          <p:nvPr/>
        </p:nvSpPr>
        <p:spPr>
          <a:xfrm>
            <a:off x="5321880" y="2039040"/>
            <a:ext cx="16912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Storage</a:t>
            </a:r>
            <a:endParaRPr b="0" lang="en-US" sz="1400" strike="noStrike" u="none">
              <a:solidFill>
                <a:srgbClr val="000000"/>
              </a:solidFill>
              <a:effectLst/>
              <a:uFillTx/>
              <a:latin typeface="Arial"/>
            </a:endParaRPr>
          </a:p>
        </p:txBody>
      </p:sp>
      <p:sp>
        <p:nvSpPr>
          <p:cNvPr id="49" name="Text 12"/>
          <p:cNvSpPr/>
          <p:nvPr/>
        </p:nvSpPr>
        <p:spPr>
          <a:xfrm>
            <a:off x="5321880" y="2423160"/>
            <a:ext cx="169128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e8f0f7"/>
                </a:solidFill>
                <a:effectLst/>
                <a:uFillTx/>
                <a:latin typeface="Arial"/>
              </a:rPr>
              <a:t>HDFS, object store, HBase</a:t>
            </a:r>
            <a:endParaRPr b="0" lang="en-US" sz="980" strike="noStrike" u="none">
              <a:solidFill>
                <a:srgbClr val="000000"/>
              </a:solidFill>
              <a:effectLst/>
              <a:uFillTx/>
              <a:latin typeface="Arial"/>
            </a:endParaRPr>
          </a:p>
        </p:txBody>
      </p:sp>
      <p:sp>
        <p:nvSpPr>
          <p:cNvPr id="50" name="Shape 13"/>
          <p:cNvSpPr/>
          <p:nvPr/>
        </p:nvSpPr>
        <p:spPr>
          <a:xfrm>
            <a:off x="7104600" y="2413800"/>
            <a:ext cx="41148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1" name="Shape 14"/>
          <p:cNvSpPr/>
          <p:nvPr/>
        </p:nvSpPr>
        <p:spPr>
          <a:xfrm>
            <a:off x="7516440" y="1828800"/>
            <a:ext cx="1874160" cy="1170000"/>
          </a:xfrm>
          <a:prstGeom prst="roundRect">
            <a:avLst>
              <a:gd name="adj" fmla="val 4688"/>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 name="Text 15"/>
          <p:cNvSpPr/>
          <p:nvPr/>
        </p:nvSpPr>
        <p:spPr>
          <a:xfrm>
            <a:off x="7607880" y="2039040"/>
            <a:ext cx="16912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Processing</a:t>
            </a:r>
            <a:endParaRPr b="0" lang="en-US" sz="1400" strike="noStrike" u="none">
              <a:solidFill>
                <a:srgbClr val="000000"/>
              </a:solidFill>
              <a:effectLst/>
              <a:uFillTx/>
              <a:latin typeface="Arial"/>
            </a:endParaRPr>
          </a:p>
        </p:txBody>
      </p:sp>
      <p:sp>
        <p:nvSpPr>
          <p:cNvPr id="53" name="Text 16"/>
          <p:cNvSpPr/>
          <p:nvPr/>
        </p:nvSpPr>
        <p:spPr>
          <a:xfrm>
            <a:off x="7607880" y="2423160"/>
            <a:ext cx="169128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e8f0f7"/>
                </a:solidFill>
                <a:effectLst/>
                <a:uFillTx/>
                <a:latin typeface="Arial"/>
              </a:rPr>
              <a:t>Spark / Flink</a:t>
            </a:r>
            <a:endParaRPr b="0" lang="en-US" sz="980" strike="noStrike" u="none">
              <a:solidFill>
                <a:srgbClr val="000000"/>
              </a:solidFill>
              <a:effectLst/>
              <a:uFillTx/>
              <a:latin typeface="Arial"/>
            </a:endParaRPr>
          </a:p>
        </p:txBody>
      </p:sp>
      <p:sp>
        <p:nvSpPr>
          <p:cNvPr id="54" name="Shape 17"/>
          <p:cNvSpPr/>
          <p:nvPr/>
        </p:nvSpPr>
        <p:spPr>
          <a:xfrm>
            <a:off x="9390600" y="2413800"/>
            <a:ext cx="41148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5" name="Shape 18"/>
          <p:cNvSpPr/>
          <p:nvPr/>
        </p:nvSpPr>
        <p:spPr>
          <a:xfrm>
            <a:off x="9802440" y="1828800"/>
            <a:ext cx="1874160" cy="1170000"/>
          </a:xfrm>
          <a:prstGeom prst="roundRect">
            <a:avLst>
              <a:gd name="adj" fmla="val 4688"/>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 name="Text 19"/>
          <p:cNvSpPr/>
          <p:nvPr/>
        </p:nvSpPr>
        <p:spPr>
          <a:xfrm>
            <a:off x="9893880" y="2039040"/>
            <a:ext cx="16912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Analytics</a:t>
            </a:r>
            <a:endParaRPr b="0" lang="en-US" sz="1400" strike="noStrike" u="none">
              <a:solidFill>
                <a:srgbClr val="000000"/>
              </a:solidFill>
              <a:effectLst/>
              <a:uFillTx/>
              <a:latin typeface="Arial"/>
            </a:endParaRPr>
          </a:p>
        </p:txBody>
      </p:sp>
      <p:sp>
        <p:nvSpPr>
          <p:cNvPr id="57" name="Text 20"/>
          <p:cNvSpPr/>
          <p:nvPr/>
        </p:nvSpPr>
        <p:spPr>
          <a:xfrm>
            <a:off x="9893880" y="2423160"/>
            <a:ext cx="169128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e8f0f7"/>
                </a:solidFill>
                <a:effectLst/>
                <a:uFillTx/>
                <a:latin typeface="Arial"/>
              </a:rPr>
              <a:t>SQL / BI / ML</a:t>
            </a:r>
            <a:endParaRPr b="0" lang="en-US" sz="980" strike="noStrike" u="none">
              <a:solidFill>
                <a:srgbClr val="000000"/>
              </a:solidFill>
              <a:effectLst/>
              <a:uFillTx/>
              <a:latin typeface="Arial"/>
            </a:endParaRPr>
          </a:p>
        </p:txBody>
      </p:sp>
      <p:sp>
        <p:nvSpPr>
          <p:cNvPr id="58" name="Shape 21"/>
          <p:cNvSpPr/>
          <p:nvPr/>
        </p:nvSpPr>
        <p:spPr>
          <a:xfrm>
            <a:off x="822960" y="3429000"/>
            <a:ext cx="3200040" cy="1599840"/>
          </a:xfrm>
          <a:prstGeom prst="roundRect">
            <a:avLst>
              <a:gd name="adj" fmla="val 34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 name="Shape 22"/>
          <p:cNvSpPr/>
          <p:nvPr/>
        </p:nvSpPr>
        <p:spPr>
          <a:xfrm>
            <a:off x="822960" y="3429000"/>
            <a:ext cx="72720" cy="159984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 name="Text 23"/>
          <p:cNvSpPr/>
          <p:nvPr/>
        </p:nvSpPr>
        <p:spPr>
          <a:xfrm>
            <a:off x="1005840" y="357516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Batch ingestion</a:t>
            </a:r>
            <a:endParaRPr b="0" lang="en-US" sz="1600" strike="noStrike" u="none">
              <a:solidFill>
                <a:srgbClr val="000000"/>
              </a:solidFill>
              <a:effectLst/>
              <a:uFillTx/>
              <a:latin typeface="Arial"/>
            </a:endParaRPr>
          </a:p>
        </p:txBody>
      </p:sp>
      <p:sp>
        <p:nvSpPr>
          <p:cNvPr id="61" name="Text 24"/>
          <p:cNvSpPr/>
          <p:nvPr/>
        </p:nvSpPr>
        <p:spPr>
          <a:xfrm>
            <a:off x="1005840" y="3959280"/>
            <a:ext cx="288900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40" strike="noStrike" u="none">
                <a:solidFill>
                  <a:srgbClr val="1f2937"/>
                </a:solidFill>
                <a:effectLst/>
                <a:uFillTx/>
                <a:latin typeface="Arial"/>
              </a:rPr>
              <a:t>Dữ liệu được nạp theo đợt: mỗi giờ, mỗi ngày hoặc theo lịch.</a:t>
            </a:r>
            <a:endParaRPr b="0" lang="en-US" sz="1240" strike="noStrike" u="none">
              <a:solidFill>
                <a:srgbClr val="000000"/>
              </a:solidFill>
              <a:effectLst/>
              <a:uFillTx/>
              <a:latin typeface="Arial"/>
            </a:endParaRPr>
          </a:p>
          <a:p>
            <a:pPr defTabSz="914400">
              <a:lnSpc>
                <a:spcPct val="100000"/>
              </a:lnSpc>
              <a:tabLst>
                <a:tab algn="l" pos="0"/>
              </a:tabLst>
            </a:pPr>
            <a:r>
              <a:rPr b="0" lang="en-US" sz="1240" strike="noStrike" u="none">
                <a:solidFill>
                  <a:srgbClr val="1f2937"/>
                </a:solidFill>
                <a:effectLst/>
                <a:uFillTx/>
                <a:latin typeface="Arial"/>
              </a:rPr>
              <a:t>Ví dụ: bảng MySQL → HDFS.</a:t>
            </a:r>
            <a:endParaRPr b="0" lang="en-US" sz="1240" strike="noStrike" u="none">
              <a:solidFill>
                <a:srgbClr val="000000"/>
              </a:solidFill>
              <a:effectLst/>
              <a:uFillTx/>
              <a:latin typeface="Arial"/>
            </a:endParaRPr>
          </a:p>
        </p:txBody>
      </p:sp>
      <p:sp>
        <p:nvSpPr>
          <p:cNvPr id="62" name="Shape 25"/>
          <p:cNvSpPr/>
          <p:nvPr/>
        </p:nvSpPr>
        <p:spPr>
          <a:xfrm>
            <a:off x="4498920" y="3429000"/>
            <a:ext cx="3200040" cy="1599840"/>
          </a:xfrm>
          <a:prstGeom prst="roundRect">
            <a:avLst>
              <a:gd name="adj" fmla="val 34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 name="Shape 26"/>
          <p:cNvSpPr/>
          <p:nvPr/>
        </p:nvSpPr>
        <p:spPr>
          <a:xfrm>
            <a:off x="4498920" y="3429000"/>
            <a:ext cx="72720" cy="159984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4" name="Text 27"/>
          <p:cNvSpPr/>
          <p:nvPr/>
        </p:nvSpPr>
        <p:spPr>
          <a:xfrm>
            <a:off x="4681800" y="357516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Streaming ingestion</a:t>
            </a:r>
            <a:endParaRPr b="0" lang="en-US" sz="1600" strike="noStrike" u="none">
              <a:solidFill>
                <a:srgbClr val="000000"/>
              </a:solidFill>
              <a:effectLst/>
              <a:uFillTx/>
              <a:latin typeface="Arial"/>
            </a:endParaRPr>
          </a:p>
        </p:txBody>
      </p:sp>
      <p:sp>
        <p:nvSpPr>
          <p:cNvPr id="65" name="Text 28"/>
          <p:cNvSpPr/>
          <p:nvPr/>
        </p:nvSpPr>
        <p:spPr>
          <a:xfrm>
            <a:off x="4681800" y="3959280"/>
            <a:ext cx="288900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40" strike="noStrike" u="none">
                <a:solidFill>
                  <a:srgbClr val="1f2937"/>
                </a:solidFill>
                <a:effectLst/>
                <a:uFillTx/>
                <a:latin typeface="Arial"/>
              </a:rPr>
              <a:t>Dữ liệu đi vào liên tục theo sự kiện.</a:t>
            </a:r>
            <a:endParaRPr b="0" lang="en-US" sz="1240" strike="noStrike" u="none">
              <a:solidFill>
                <a:srgbClr val="000000"/>
              </a:solidFill>
              <a:effectLst/>
              <a:uFillTx/>
              <a:latin typeface="Arial"/>
            </a:endParaRPr>
          </a:p>
          <a:p>
            <a:pPr defTabSz="914400">
              <a:lnSpc>
                <a:spcPct val="100000"/>
              </a:lnSpc>
              <a:tabLst>
                <a:tab algn="l" pos="0"/>
              </a:tabLst>
            </a:pPr>
            <a:r>
              <a:rPr b="0" lang="en-US" sz="1240" strike="noStrike" u="none">
                <a:solidFill>
                  <a:srgbClr val="1f2937"/>
                </a:solidFill>
                <a:effectLst/>
                <a:uFillTx/>
                <a:latin typeface="Arial"/>
              </a:rPr>
              <a:t>Ví dụ: log web → Kafka → Spark Structured Streaming.</a:t>
            </a:r>
            <a:endParaRPr b="0" lang="en-US" sz="1240" strike="noStrike" u="none">
              <a:solidFill>
                <a:srgbClr val="000000"/>
              </a:solidFill>
              <a:effectLst/>
              <a:uFillTx/>
              <a:latin typeface="Arial"/>
            </a:endParaRPr>
          </a:p>
        </p:txBody>
      </p:sp>
      <p:sp>
        <p:nvSpPr>
          <p:cNvPr id="66" name="Shape 29"/>
          <p:cNvSpPr/>
          <p:nvPr/>
        </p:nvSpPr>
        <p:spPr>
          <a:xfrm>
            <a:off x="8156520" y="3429000"/>
            <a:ext cx="3200040" cy="1599840"/>
          </a:xfrm>
          <a:prstGeom prst="roundRect">
            <a:avLst>
              <a:gd name="adj" fmla="val 34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 name="Shape 30"/>
          <p:cNvSpPr/>
          <p:nvPr/>
        </p:nvSpPr>
        <p:spPr>
          <a:xfrm>
            <a:off x="8156520" y="3429000"/>
            <a:ext cx="72720" cy="15998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 name="Text 31"/>
          <p:cNvSpPr/>
          <p:nvPr/>
        </p:nvSpPr>
        <p:spPr>
          <a:xfrm>
            <a:off x="8339400" y="357516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Orchestration</a:t>
            </a:r>
            <a:endParaRPr b="0" lang="en-US" sz="1600" strike="noStrike" u="none">
              <a:solidFill>
                <a:srgbClr val="000000"/>
              </a:solidFill>
              <a:effectLst/>
              <a:uFillTx/>
              <a:latin typeface="Arial"/>
            </a:endParaRPr>
          </a:p>
        </p:txBody>
      </p:sp>
      <p:sp>
        <p:nvSpPr>
          <p:cNvPr id="69" name="Text 32"/>
          <p:cNvSpPr/>
          <p:nvPr/>
        </p:nvSpPr>
        <p:spPr>
          <a:xfrm>
            <a:off x="8339400" y="3959280"/>
            <a:ext cx="288900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40" strike="noStrike" u="none">
                <a:solidFill>
                  <a:srgbClr val="1f2937"/>
                </a:solidFill>
                <a:effectLst/>
                <a:uFillTx/>
                <a:latin typeface="Arial"/>
              </a:rPr>
              <a:t>Không “chở” dữ liệu; Airflow điều phối thứ tự, lịch chạy, retry và giám sát các task.</a:t>
            </a:r>
            <a:endParaRPr b="0" lang="en-US" sz="1240" strike="noStrike" u="none">
              <a:solidFill>
                <a:srgbClr val="000000"/>
              </a:solidFill>
              <a:effectLst/>
              <a:uFillTx/>
              <a:latin typeface="Arial"/>
            </a:endParaRPr>
          </a:p>
        </p:txBody>
      </p:sp>
      <p:sp>
        <p:nvSpPr>
          <p:cNvPr id="70" name="Shape 33"/>
          <p:cNvSpPr/>
          <p:nvPr/>
        </p:nvSpPr>
        <p:spPr>
          <a:xfrm>
            <a:off x="567000" y="571500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1" name="Text 34"/>
          <p:cNvSpPr/>
          <p:nvPr/>
        </p:nvSpPr>
        <p:spPr>
          <a:xfrm>
            <a:off x="749880" y="587052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72" name="Text 35"/>
          <p:cNvSpPr/>
          <p:nvPr/>
        </p:nvSpPr>
        <p:spPr>
          <a:xfrm>
            <a:off x="1609200" y="5833800"/>
            <a:ext cx="97106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b4d1d"/>
                </a:solidFill>
                <a:effectLst/>
                <a:uFillTx/>
                <a:latin typeface="Arial"/>
              </a:rPr>
              <a:t>Điểm dễ nhầm: Kafka/Flume chủ yếu phục vụ ingestion; Spark xử lý; Airflow điều phối workflow. Một pipeline thực tế thường dùng nhiều lớp kết hợp.</a:t>
            </a:r>
            <a:endParaRPr b="0" lang="en-US" sz="1120" strike="noStrike" u="none">
              <a:solidFill>
                <a:srgbClr val="000000"/>
              </a:solidFill>
              <a:effectLst/>
              <a:uFillTx/>
              <a:latin typeface="Arial"/>
            </a:endParaRPr>
          </a:p>
        </p:txBody>
      </p:sp>
      <p:sp>
        <p:nvSpPr>
          <p:cNvPr id="73" name="Text 36"/>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gốc nội dung: slide 1 trong tài liệu gốc; sơ đồ được đơn giản hóa để dễ giảng.</a:t>
            </a:r>
            <a:endParaRPr b="0" lang="en-US" sz="720" strike="noStrike" u="none">
              <a:solidFill>
                <a:srgbClr val="000000"/>
              </a:solidFill>
              <a:effectLst/>
              <a:uFillTx/>
              <a:latin typeface="Arial"/>
            </a:endParaRPr>
          </a:p>
        </p:txBody>
      </p:sp>
      <p:sp>
        <p:nvSpPr>
          <p:cNvPr id="74" name="PlaceHolder 1"/>
          <p:cNvSpPr>
            <a:spLocks noGrp="1"/>
          </p:cNvSpPr>
          <p:nvPr>
            <p:ph type="sldNum" idx="6"/>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9A31AED3-5BBE-40DB-8FC5-F8B859A1E761}" type="slidenum">
              <a:rPr b="0" lang="en-US" sz="800" strike="noStrike" u="none">
                <a:solidFill>
                  <a:srgbClr val="7a8797"/>
                </a:solidFill>
                <a:effectLst/>
                <a:uFillTx/>
                <a:latin typeface="Arial"/>
                <a:ea typeface="Arial"/>
              </a:rPr>
              <a:t>2</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2. Batch Ingestion và Streaming Ingestion</a:t>
            </a:r>
            <a:endParaRPr b="0" lang="en-US" sz="2700" strike="noStrike" u="none">
              <a:solidFill>
                <a:srgbClr val="000000"/>
              </a:solidFill>
              <a:effectLst/>
              <a:uFillTx/>
              <a:latin typeface="Arial"/>
            </a:endParaRPr>
          </a:p>
        </p:txBody>
      </p:sp>
      <p:sp>
        <p:nvSpPr>
          <p:cNvPr id="76"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Hai cách đưa dữ liệu vào hệ thống — khác nhau chủ yếu ở thời điểm và độ trễ.</a:t>
            </a:r>
            <a:endParaRPr b="0" lang="en-US" sz="1250" strike="noStrike" u="none">
              <a:solidFill>
                <a:srgbClr val="000000"/>
              </a:solidFill>
              <a:effectLst/>
              <a:uFillTx/>
              <a:latin typeface="Arial"/>
            </a:endParaRPr>
          </a:p>
        </p:txBody>
      </p:sp>
      <p:sp>
        <p:nvSpPr>
          <p:cNvPr id="77" name="Shape 2"/>
          <p:cNvSpPr/>
          <p:nvPr/>
        </p:nvSpPr>
        <p:spPr>
          <a:xfrm>
            <a:off x="731520" y="1600200"/>
            <a:ext cx="237708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8" name="Text 3"/>
          <p:cNvSpPr/>
          <p:nvPr/>
        </p:nvSpPr>
        <p:spPr>
          <a:xfrm>
            <a:off x="804600" y="1746360"/>
            <a:ext cx="22309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ffffff"/>
                </a:solidFill>
                <a:effectLst/>
                <a:uFillTx/>
                <a:latin typeface="Arial"/>
              </a:rPr>
              <a:t>Tiêu chí</a:t>
            </a:r>
            <a:endParaRPr b="0" lang="en-US" sz="1200" strike="noStrike" u="none">
              <a:solidFill>
                <a:srgbClr val="000000"/>
              </a:solidFill>
              <a:effectLst/>
              <a:uFillTx/>
              <a:latin typeface="Arial"/>
            </a:endParaRPr>
          </a:p>
        </p:txBody>
      </p:sp>
      <p:sp>
        <p:nvSpPr>
          <p:cNvPr id="79" name="Shape 4"/>
          <p:cNvSpPr/>
          <p:nvPr/>
        </p:nvSpPr>
        <p:spPr>
          <a:xfrm>
            <a:off x="3246120" y="1600200"/>
            <a:ext cx="265140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 name="Text 5"/>
          <p:cNvSpPr/>
          <p:nvPr/>
        </p:nvSpPr>
        <p:spPr>
          <a:xfrm>
            <a:off x="3319200" y="1746360"/>
            <a:ext cx="250524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Arial"/>
              </a:rPr>
              <a:t>Batch</a:t>
            </a:r>
            <a:endParaRPr b="0" lang="en-US" sz="1200" strike="noStrike" u="none">
              <a:solidFill>
                <a:srgbClr val="000000"/>
              </a:solidFill>
              <a:effectLst/>
              <a:uFillTx/>
              <a:latin typeface="Arial"/>
            </a:endParaRPr>
          </a:p>
        </p:txBody>
      </p:sp>
      <p:sp>
        <p:nvSpPr>
          <p:cNvPr id="81" name="Shape 6"/>
          <p:cNvSpPr/>
          <p:nvPr/>
        </p:nvSpPr>
        <p:spPr>
          <a:xfrm>
            <a:off x="6080760" y="1600200"/>
            <a:ext cx="265140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2" name="Text 7"/>
          <p:cNvSpPr/>
          <p:nvPr/>
        </p:nvSpPr>
        <p:spPr>
          <a:xfrm>
            <a:off x="6153840" y="1746360"/>
            <a:ext cx="250524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Arial"/>
              </a:rPr>
              <a:t>Streaming</a:t>
            </a:r>
            <a:endParaRPr b="0" lang="en-US" sz="1200" strike="noStrike" u="none">
              <a:solidFill>
                <a:srgbClr val="000000"/>
              </a:solidFill>
              <a:effectLst/>
              <a:uFillTx/>
              <a:latin typeface="Arial"/>
            </a:endParaRPr>
          </a:p>
        </p:txBody>
      </p:sp>
      <p:sp>
        <p:nvSpPr>
          <p:cNvPr id="83" name="Shape 8"/>
          <p:cNvSpPr/>
          <p:nvPr/>
        </p:nvSpPr>
        <p:spPr>
          <a:xfrm>
            <a:off x="8915400" y="1600200"/>
            <a:ext cx="251424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4" name="Text 9"/>
          <p:cNvSpPr/>
          <p:nvPr/>
        </p:nvSpPr>
        <p:spPr>
          <a:xfrm>
            <a:off x="8988480" y="1746360"/>
            <a:ext cx="2368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Arial"/>
              </a:rPr>
              <a:t>Ví dụ</a:t>
            </a:r>
            <a:endParaRPr b="0" lang="en-US" sz="1200" strike="noStrike" u="none">
              <a:solidFill>
                <a:srgbClr val="000000"/>
              </a:solidFill>
              <a:effectLst/>
              <a:uFillTx/>
              <a:latin typeface="Arial"/>
            </a:endParaRPr>
          </a:p>
        </p:txBody>
      </p:sp>
      <p:sp>
        <p:nvSpPr>
          <p:cNvPr id="85" name="Shape 10"/>
          <p:cNvSpPr/>
          <p:nvPr/>
        </p:nvSpPr>
        <p:spPr>
          <a:xfrm>
            <a:off x="731520" y="2103120"/>
            <a:ext cx="237708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6" name="Text 11"/>
          <p:cNvSpPr/>
          <p:nvPr/>
        </p:nvSpPr>
        <p:spPr>
          <a:xfrm>
            <a:off x="822960" y="2267640"/>
            <a:ext cx="2194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30" strike="noStrike" u="none">
                <a:solidFill>
                  <a:srgbClr val="16324f"/>
                </a:solidFill>
                <a:effectLst/>
                <a:uFillTx/>
                <a:latin typeface="Arial"/>
              </a:rPr>
              <a:t>Thời điểm</a:t>
            </a:r>
            <a:endParaRPr b="0" lang="en-US" sz="1130" strike="noStrike" u="none">
              <a:solidFill>
                <a:srgbClr val="000000"/>
              </a:solidFill>
              <a:effectLst/>
              <a:uFillTx/>
              <a:latin typeface="Arial"/>
            </a:endParaRPr>
          </a:p>
        </p:txBody>
      </p:sp>
      <p:sp>
        <p:nvSpPr>
          <p:cNvPr id="87" name="Shape 12"/>
          <p:cNvSpPr/>
          <p:nvPr/>
        </p:nvSpPr>
        <p:spPr>
          <a:xfrm>
            <a:off x="3246120" y="2103120"/>
            <a:ext cx="265140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8" name="Text 13"/>
          <p:cNvSpPr/>
          <p:nvPr/>
        </p:nvSpPr>
        <p:spPr>
          <a:xfrm>
            <a:off x="3337560" y="226764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Theo lịch / theo lô</a:t>
            </a:r>
            <a:endParaRPr b="0" lang="en-US" sz="1130" strike="noStrike" u="none">
              <a:solidFill>
                <a:srgbClr val="000000"/>
              </a:solidFill>
              <a:effectLst/>
              <a:uFillTx/>
              <a:latin typeface="Arial"/>
            </a:endParaRPr>
          </a:p>
        </p:txBody>
      </p:sp>
      <p:sp>
        <p:nvSpPr>
          <p:cNvPr id="89" name="Shape 14"/>
          <p:cNvSpPr/>
          <p:nvPr/>
        </p:nvSpPr>
        <p:spPr>
          <a:xfrm>
            <a:off x="6080760" y="2103120"/>
            <a:ext cx="265140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0" name="Text 15"/>
          <p:cNvSpPr/>
          <p:nvPr/>
        </p:nvSpPr>
        <p:spPr>
          <a:xfrm>
            <a:off x="6172200" y="226764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Liên tục khi có event</a:t>
            </a:r>
            <a:endParaRPr b="0" lang="en-US" sz="1130" strike="noStrike" u="none">
              <a:solidFill>
                <a:srgbClr val="000000"/>
              </a:solidFill>
              <a:effectLst/>
              <a:uFillTx/>
              <a:latin typeface="Arial"/>
            </a:endParaRPr>
          </a:p>
        </p:txBody>
      </p:sp>
      <p:sp>
        <p:nvSpPr>
          <p:cNvPr id="91" name="Shape 16"/>
          <p:cNvSpPr/>
          <p:nvPr/>
        </p:nvSpPr>
        <p:spPr>
          <a:xfrm>
            <a:off x="8915400" y="2103120"/>
            <a:ext cx="251424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2" name="Text 17"/>
          <p:cNvSpPr/>
          <p:nvPr/>
        </p:nvSpPr>
        <p:spPr>
          <a:xfrm>
            <a:off x="9006840" y="2267640"/>
            <a:ext cx="23313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ETL hằng đêm vs clickstream</a:t>
            </a:r>
            <a:endParaRPr b="0" lang="en-US" sz="1130" strike="noStrike" u="none">
              <a:solidFill>
                <a:srgbClr val="000000"/>
              </a:solidFill>
              <a:effectLst/>
              <a:uFillTx/>
              <a:latin typeface="Arial"/>
            </a:endParaRPr>
          </a:p>
        </p:txBody>
      </p:sp>
      <p:sp>
        <p:nvSpPr>
          <p:cNvPr id="93" name="Shape 18"/>
          <p:cNvSpPr/>
          <p:nvPr/>
        </p:nvSpPr>
        <p:spPr>
          <a:xfrm>
            <a:off x="731520" y="2816280"/>
            <a:ext cx="237708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4" name="Text 19"/>
          <p:cNvSpPr/>
          <p:nvPr/>
        </p:nvSpPr>
        <p:spPr>
          <a:xfrm>
            <a:off x="822960" y="2980800"/>
            <a:ext cx="2194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30" strike="noStrike" u="none">
                <a:solidFill>
                  <a:srgbClr val="16324f"/>
                </a:solidFill>
                <a:effectLst/>
                <a:uFillTx/>
                <a:latin typeface="Arial"/>
              </a:rPr>
              <a:t>Độ trễ</a:t>
            </a:r>
            <a:endParaRPr b="0" lang="en-US" sz="1130" strike="noStrike" u="none">
              <a:solidFill>
                <a:srgbClr val="000000"/>
              </a:solidFill>
              <a:effectLst/>
              <a:uFillTx/>
              <a:latin typeface="Arial"/>
            </a:endParaRPr>
          </a:p>
        </p:txBody>
      </p:sp>
      <p:sp>
        <p:nvSpPr>
          <p:cNvPr id="95" name="Shape 20"/>
          <p:cNvSpPr/>
          <p:nvPr/>
        </p:nvSpPr>
        <p:spPr>
          <a:xfrm>
            <a:off x="3246120" y="2816280"/>
            <a:ext cx="265140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6" name="Text 21"/>
          <p:cNvSpPr/>
          <p:nvPr/>
        </p:nvSpPr>
        <p:spPr>
          <a:xfrm>
            <a:off x="3337560" y="298080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Phút → giờ</a:t>
            </a:r>
            <a:endParaRPr b="0" lang="en-US" sz="1130" strike="noStrike" u="none">
              <a:solidFill>
                <a:srgbClr val="000000"/>
              </a:solidFill>
              <a:effectLst/>
              <a:uFillTx/>
              <a:latin typeface="Arial"/>
            </a:endParaRPr>
          </a:p>
        </p:txBody>
      </p:sp>
      <p:sp>
        <p:nvSpPr>
          <p:cNvPr id="97" name="Shape 22"/>
          <p:cNvSpPr/>
          <p:nvPr/>
        </p:nvSpPr>
        <p:spPr>
          <a:xfrm>
            <a:off x="6080760" y="2816280"/>
            <a:ext cx="265140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8" name="Text 23"/>
          <p:cNvSpPr/>
          <p:nvPr/>
        </p:nvSpPr>
        <p:spPr>
          <a:xfrm>
            <a:off x="6172200" y="298080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ms → giây</a:t>
            </a:r>
            <a:endParaRPr b="0" lang="en-US" sz="1130" strike="noStrike" u="none">
              <a:solidFill>
                <a:srgbClr val="000000"/>
              </a:solidFill>
              <a:effectLst/>
              <a:uFillTx/>
              <a:latin typeface="Arial"/>
            </a:endParaRPr>
          </a:p>
        </p:txBody>
      </p:sp>
      <p:sp>
        <p:nvSpPr>
          <p:cNvPr id="99" name="Shape 24"/>
          <p:cNvSpPr/>
          <p:nvPr/>
        </p:nvSpPr>
        <p:spPr>
          <a:xfrm>
            <a:off x="8915400" y="2816280"/>
            <a:ext cx="251424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0" name="Text 25"/>
          <p:cNvSpPr/>
          <p:nvPr/>
        </p:nvSpPr>
        <p:spPr>
          <a:xfrm>
            <a:off x="9006840" y="2980800"/>
            <a:ext cx="23313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Báo cáo ngày vs cảnh báo realtime</a:t>
            </a:r>
            <a:endParaRPr b="0" lang="en-US" sz="1130" strike="noStrike" u="none">
              <a:solidFill>
                <a:srgbClr val="000000"/>
              </a:solidFill>
              <a:effectLst/>
              <a:uFillTx/>
              <a:latin typeface="Arial"/>
            </a:endParaRPr>
          </a:p>
        </p:txBody>
      </p:sp>
      <p:sp>
        <p:nvSpPr>
          <p:cNvPr id="101" name="Shape 26"/>
          <p:cNvSpPr/>
          <p:nvPr/>
        </p:nvSpPr>
        <p:spPr>
          <a:xfrm>
            <a:off x="731520" y="3529440"/>
            <a:ext cx="237708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2" name="Text 27"/>
          <p:cNvSpPr/>
          <p:nvPr/>
        </p:nvSpPr>
        <p:spPr>
          <a:xfrm>
            <a:off x="822960" y="3694320"/>
            <a:ext cx="2194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30" strike="noStrike" u="none">
                <a:solidFill>
                  <a:srgbClr val="16324f"/>
                </a:solidFill>
                <a:effectLst/>
                <a:uFillTx/>
                <a:latin typeface="Arial"/>
              </a:rPr>
              <a:t>Công cụ</a:t>
            </a:r>
            <a:endParaRPr b="0" lang="en-US" sz="1130" strike="noStrike" u="none">
              <a:solidFill>
                <a:srgbClr val="000000"/>
              </a:solidFill>
              <a:effectLst/>
              <a:uFillTx/>
              <a:latin typeface="Arial"/>
            </a:endParaRPr>
          </a:p>
        </p:txBody>
      </p:sp>
      <p:sp>
        <p:nvSpPr>
          <p:cNvPr id="103" name="Shape 28"/>
          <p:cNvSpPr/>
          <p:nvPr/>
        </p:nvSpPr>
        <p:spPr>
          <a:xfrm>
            <a:off x="3246120" y="3529440"/>
            <a:ext cx="265140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4" name="Text 29"/>
          <p:cNvSpPr/>
          <p:nvPr/>
        </p:nvSpPr>
        <p:spPr>
          <a:xfrm>
            <a:off x="3337560" y="369432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Sqoop (legacy), Spark JDBC</a:t>
            </a:r>
            <a:endParaRPr b="0" lang="en-US" sz="1130" strike="noStrike" u="none">
              <a:solidFill>
                <a:srgbClr val="000000"/>
              </a:solidFill>
              <a:effectLst/>
              <a:uFillTx/>
              <a:latin typeface="Arial"/>
            </a:endParaRPr>
          </a:p>
        </p:txBody>
      </p:sp>
      <p:sp>
        <p:nvSpPr>
          <p:cNvPr id="105" name="Shape 30"/>
          <p:cNvSpPr/>
          <p:nvPr/>
        </p:nvSpPr>
        <p:spPr>
          <a:xfrm>
            <a:off x="6080760" y="3529440"/>
            <a:ext cx="265140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6" name="Text 31"/>
          <p:cNvSpPr/>
          <p:nvPr/>
        </p:nvSpPr>
        <p:spPr>
          <a:xfrm>
            <a:off x="6172200" y="369432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Kafka, Flume, NiFi</a:t>
            </a:r>
            <a:endParaRPr b="0" lang="en-US" sz="1130" strike="noStrike" u="none">
              <a:solidFill>
                <a:srgbClr val="000000"/>
              </a:solidFill>
              <a:effectLst/>
              <a:uFillTx/>
              <a:latin typeface="Arial"/>
            </a:endParaRPr>
          </a:p>
        </p:txBody>
      </p:sp>
      <p:sp>
        <p:nvSpPr>
          <p:cNvPr id="107" name="Shape 32"/>
          <p:cNvSpPr/>
          <p:nvPr/>
        </p:nvSpPr>
        <p:spPr>
          <a:xfrm>
            <a:off x="8915400" y="3529440"/>
            <a:ext cx="2514240" cy="712800"/>
          </a:xfrm>
          <a:prstGeom prst="rect">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8" name="Text 33"/>
          <p:cNvSpPr/>
          <p:nvPr/>
        </p:nvSpPr>
        <p:spPr>
          <a:xfrm>
            <a:off x="9006840" y="3694320"/>
            <a:ext cx="23313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DB → HDFS / App → Kafka</a:t>
            </a:r>
            <a:endParaRPr b="0" lang="en-US" sz="1130" strike="noStrike" u="none">
              <a:solidFill>
                <a:srgbClr val="000000"/>
              </a:solidFill>
              <a:effectLst/>
              <a:uFillTx/>
              <a:latin typeface="Arial"/>
            </a:endParaRPr>
          </a:p>
        </p:txBody>
      </p:sp>
      <p:sp>
        <p:nvSpPr>
          <p:cNvPr id="109" name="Shape 34"/>
          <p:cNvSpPr/>
          <p:nvPr/>
        </p:nvSpPr>
        <p:spPr>
          <a:xfrm>
            <a:off x="731520" y="4242960"/>
            <a:ext cx="237708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0" name="Text 35"/>
          <p:cNvSpPr/>
          <p:nvPr/>
        </p:nvSpPr>
        <p:spPr>
          <a:xfrm>
            <a:off x="822960" y="4407480"/>
            <a:ext cx="21942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30" strike="noStrike" u="none">
                <a:solidFill>
                  <a:srgbClr val="16324f"/>
                </a:solidFill>
                <a:effectLst/>
                <a:uFillTx/>
                <a:latin typeface="Arial"/>
              </a:rPr>
              <a:t>Phù hợp</a:t>
            </a:r>
            <a:endParaRPr b="0" lang="en-US" sz="1130" strike="noStrike" u="none">
              <a:solidFill>
                <a:srgbClr val="000000"/>
              </a:solidFill>
              <a:effectLst/>
              <a:uFillTx/>
              <a:latin typeface="Arial"/>
            </a:endParaRPr>
          </a:p>
        </p:txBody>
      </p:sp>
      <p:sp>
        <p:nvSpPr>
          <p:cNvPr id="111" name="Shape 36"/>
          <p:cNvSpPr/>
          <p:nvPr/>
        </p:nvSpPr>
        <p:spPr>
          <a:xfrm>
            <a:off x="3246120" y="4242960"/>
            <a:ext cx="265140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Text 37"/>
          <p:cNvSpPr/>
          <p:nvPr/>
        </p:nvSpPr>
        <p:spPr>
          <a:xfrm>
            <a:off x="3337560" y="440748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Dữ liệu ổn định, khối lượng lớn</a:t>
            </a:r>
            <a:endParaRPr b="0" lang="en-US" sz="1130" strike="noStrike" u="none">
              <a:solidFill>
                <a:srgbClr val="000000"/>
              </a:solidFill>
              <a:effectLst/>
              <a:uFillTx/>
              <a:latin typeface="Arial"/>
            </a:endParaRPr>
          </a:p>
        </p:txBody>
      </p:sp>
      <p:sp>
        <p:nvSpPr>
          <p:cNvPr id="113" name="Shape 38"/>
          <p:cNvSpPr/>
          <p:nvPr/>
        </p:nvSpPr>
        <p:spPr>
          <a:xfrm>
            <a:off x="6080760" y="4242960"/>
            <a:ext cx="265140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4" name="Text 39"/>
          <p:cNvSpPr/>
          <p:nvPr/>
        </p:nvSpPr>
        <p:spPr>
          <a:xfrm>
            <a:off x="6172200" y="4407480"/>
            <a:ext cx="24685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Dữ liệu phát sinh liên tục</a:t>
            </a:r>
            <a:endParaRPr b="0" lang="en-US" sz="1130" strike="noStrike" u="none">
              <a:solidFill>
                <a:srgbClr val="000000"/>
              </a:solidFill>
              <a:effectLst/>
              <a:uFillTx/>
              <a:latin typeface="Arial"/>
            </a:endParaRPr>
          </a:p>
        </p:txBody>
      </p:sp>
      <p:sp>
        <p:nvSpPr>
          <p:cNvPr id="115" name="Shape 40"/>
          <p:cNvSpPr/>
          <p:nvPr/>
        </p:nvSpPr>
        <p:spPr>
          <a:xfrm>
            <a:off x="8915400" y="4242960"/>
            <a:ext cx="2514240" cy="712800"/>
          </a:xfrm>
          <a:prstGeom prst="rect">
            <a:avLst/>
          </a:prstGeom>
          <a:solidFill>
            <a:srgbClr val="f3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6" name="Text 41"/>
          <p:cNvSpPr/>
          <p:nvPr/>
        </p:nvSpPr>
        <p:spPr>
          <a:xfrm>
            <a:off x="9006840" y="4407480"/>
            <a:ext cx="23313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DW/BI vs monitoring/fraud</a:t>
            </a:r>
            <a:endParaRPr b="0" lang="en-US" sz="1130" strike="noStrike" u="none">
              <a:solidFill>
                <a:srgbClr val="000000"/>
              </a:solidFill>
              <a:effectLst/>
              <a:uFillTx/>
              <a:latin typeface="Arial"/>
            </a:endParaRPr>
          </a:p>
        </p:txBody>
      </p:sp>
      <p:sp>
        <p:nvSpPr>
          <p:cNvPr id="117" name="Shape 42"/>
          <p:cNvSpPr/>
          <p:nvPr/>
        </p:nvSpPr>
        <p:spPr>
          <a:xfrm>
            <a:off x="567000" y="525780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8" name="Text 43"/>
          <p:cNvSpPr/>
          <p:nvPr/>
        </p:nvSpPr>
        <p:spPr>
          <a:xfrm>
            <a:off x="749880" y="541332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119" name="Text 44"/>
          <p:cNvSpPr/>
          <p:nvPr/>
        </p:nvSpPr>
        <p:spPr>
          <a:xfrm>
            <a:off x="1609200" y="537660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Không phải hệ thống nào cũng cần realtime. Chọn streaming khi giá trị của dữ liệu giảm nhanh theo thời gian; chọn batch khi độ trễ vài phút/giờ vẫn chấp nhận được và cần vận hành đơn giản hơn.</a:t>
            </a:r>
            <a:endParaRPr b="0" lang="en-US" sz="1120" strike="noStrike" u="none">
              <a:solidFill>
                <a:srgbClr val="000000"/>
              </a:solidFill>
              <a:effectLst/>
              <a:uFillTx/>
              <a:latin typeface="Arial"/>
            </a:endParaRPr>
          </a:p>
        </p:txBody>
      </p:sp>
      <p:sp>
        <p:nvSpPr>
          <p:cNvPr id="120" name="PlaceHolder 1"/>
          <p:cNvSpPr>
            <a:spLocks noGrp="1"/>
          </p:cNvSpPr>
          <p:nvPr>
            <p:ph type="sldNum" idx="7"/>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9F672C0B-AE9A-4498-9D33-9A910ADE3AA2}" type="slidenum">
              <a:rPr b="0" lang="en-US" sz="800" strike="noStrike" u="none">
                <a:solidFill>
                  <a:srgbClr val="7a8797"/>
                </a:solidFill>
                <a:effectLst/>
                <a:uFillTx/>
                <a:latin typeface="Arial"/>
                <a:ea typeface="Arial"/>
              </a:rPr>
              <a:t>3</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3. Sqoop — ingestion dữ liệu quan hệ (Legacy)</a:t>
            </a:r>
            <a:endParaRPr b="0" lang="en-US" sz="2700" strike="noStrike" u="none">
              <a:solidFill>
                <a:srgbClr val="000000"/>
              </a:solidFill>
              <a:effectLst/>
              <a:uFillTx/>
              <a:latin typeface="Arial"/>
            </a:endParaRPr>
          </a:p>
        </p:txBody>
      </p:sp>
      <p:sp>
        <p:nvSpPr>
          <p:cNvPr id="122"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Sqoop từng là công cụ phổ biến để chuyển dữ liệu giữa RDBMS và Hadoop/HDFS.</a:t>
            </a:r>
            <a:endParaRPr b="0" lang="en-US" sz="1250" strike="noStrike" u="none">
              <a:solidFill>
                <a:srgbClr val="000000"/>
              </a:solidFill>
              <a:effectLst/>
              <a:uFillTx/>
              <a:latin typeface="Arial"/>
            </a:endParaRPr>
          </a:p>
        </p:txBody>
      </p:sp>
      <p:sp>
        <p:nvSpPr>
          <p:cNvPr id="123" name="Shape 2"/>
          <p:cNvSpPr/>
          <p:nvPr/>
        </p:nvSpPr>
        <p:spPr>
          <a:xfrm>
            <a:off x="685800" y="1463040"/>
            <a:ext cx="2834280" cy="1599840"/>
          </a:xfrm>
          <a:prstGeom prst="roundRect">
            <a:avLst>
              <a:gd name="adj" fmla="val 34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4" name="Shape 3"/>
          <p:cNvSpPr/>
          <p:nvPr/>
        </p:nvSpPr>
        <p:spPr>
          <a:xfrm>
            <a:off x="685800" y="1463040"/>
            <a:ext cx="72720" cy="159984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5" name="Text 4"/>
          <p:cNvSpPr/>
          <p:nvPr/>
        </p:nvSpPr>
        <p:spPr>
          <a:xfrm>
            <a:off x="868680" y="160920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Import</a:t>
            </a:r>
            <a:endParaRPr b="0" lang="en-US" sz="1600" strike="noStrike" u="none">
              <a:solidFill>
                <a:srgbClr val="000000"/>
              </a:solidFill>
              <a:effectLst/>
              <a:uFillTx/>
              <a:latin typeface="Arial"/>
            </a:endParaRPr>
          </a:p>
        </p:txBody>
      </p:sp>
      <p:sp>
        <p:nvSpPr>
          <p:cNvPr id="126" name="Text 5"/>
          <p:cNvSpPr/>
          <p:nvPr/>
        </p:nvSpPr>
        <p:spPr>
          <a:xfrm>
            <a:off x="868680" y="1993320"/>
            <a:ext cx="252324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20" strike="noStrike" u="none">
                <a:solidFill>
                  <a:srgbClr val="1f2937"/>
                </a:solidFill>
                <a:effectLst/>
                <a:uFillTx/>
                <a:latin typeface="Arial"/>
              </a:rPr>
              <a:t>RDBMS → HDFS/Hive/HBase</a:t>
            </a:r>
            <a:endParaRPr b="0" lang="en-US" sz="1220" strike="noStrike" u="none">
              <a:solidFill>
                <a:srgbClr val="000000"/>
              </a:solidFill>
              <a:effectLst/>
              <a:uFillTx/>
              <a:latin typeface="Arial"/>
            </a:endParaRPr>
          </a:p>
          <a:p>
            <a:pPr defTabSz="914400">
              <a:lnSpc>
                <a:spcPct val="100000"/>
              </a:lnSpc>
              <a:tabLst>
                <a:tab algn="l" pos="0"/>
              </a:tabLst>
            </a:pPr>
            <a:r>
              <a:rPr b="0" lang="en-US" sz="1220" strike="noStrike" u="none">
                <a:solidFill>
                  <a:srgbClr val="1f2937"/>
                </a:solidFill>
                <a:effectLst/>
                <a:uFillTx/>
                <a:latin typeface="Arial"/>
              </a:rPr>
              <a:t>Dùng khi cần đưa bảng quan hệ vào hệ sinh thái Hadoop.</a:t>
            </a:r>
            <a:endParaRPr b="0" lang="en-US" sz="1220" strike="noStrike" u="none">
              <a:solidFill>
                <a:srgbClr val="000000"/>
              </a:solidFill>
              <a:effectLst/>
              <a:uFillTx/>
              <a:latin typeface="Arial"/>
            </a:endParaRPr>
          </a:p>
        </p:txBody>
      </p:sp>
      <p:sp>
        <p:nvSpPr>
          <p:cNvPr id="127" name="Shape 6"/>
          <p:cNvSpPr/>
          <p:nvPr/>
        </p:nvSpPr>
        <p:spPr>
          <a:xfrm>
            <a:off x="3886200" y="1463040"/>
            <a:ext cx="2834280" cy="1599840"/>
          </a:xfrm>
          <a:prstGeom prst="roundRect">
            <a:avLst>
              <a:gd name="adj" fmla="val 34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8" name="Shape 7"/>
          <p:cNvSpPr/>
          <p:nvPr/>
        </p:nvSpPr>
        <p:spPr>
          <a:xfrm>
            <a:off x="3886200" y="1463040"/>
            <a:ext cx="72720" cy="159984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9" name="Text 8"/>
          <p:cNvSpPr/>
          <p:nvPr/>
        </p:nvSpPr>
        <p:spPr>
          <a:xfrm>
            <a:off x="4069080" y="160920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Export</a:t>
            </a:r>
            <a:endParaRPr b="0" lang="en-US" sz="1600" strike="noStrike" u="none">
              <a:solidFill>
                <a:srgbClr val="000000"/>
              </a:solidFill>
              <a:effectLst/>
              <a:uFillTx/>
              <a:latin typeface="Arial"/>
            </a:endParaRPr>
          </a:p>
        </p:txBody>
      </p:sp>
      <p:sp>
        <p:nvSpPr>
          <p:cNvPr id="130" name="Text 9"/>
          <p:cNvSpPr/>
          <p:nvPr/>
        </p:nvSpPr>
        <p:spPr>
          <a:xfrm>
            <a:off x="4069080" y="1993320"/>
            <a:ext cx="252324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20" strike="noStrike" u="none">
                <a:solidFill>
                  <a:srgbClr val="1f2937"/>
                </a:solidFill>
                <a:effectLst/>
                <a:uFillTx/>
                <a:latin typeface="Arial"/>
              </a:rPr>
              <a:t>HDFS/Hive → RDBMS</a:t>
            </a:r>
            <a:endParaRPr b="0" lang="en-US" sz="1220" strike="noStrike" u="none">
              <a:solidFill>
                <a:srgbClr val="000000"/>
              </a:solidFill>
              <a:effectLst/>
              <a:uFillTx/>
              <a:latin typeface="Arial"/>
            </a:endParaRPr>
          </a:p>
          <a:p>
            <a:pPr defTabSz="914400">
              <a:lnSpc>
                <a:spcPct val="100000"/>
              </a:lnSpc>
              <a:tabLst>
                <a:tab algn="l" pos="0"/>
              </a:tabLst>
            </a:pPr>
            <a:r>
              <a:rPr b="0" lang="en-US" sz="1220" strike="noStrike" u="none">
                <a:solidFill>
                  <a:srgbClr val="1f2937"/>
                </a:solidFill>
                <a:effectLst/>
                <a:uFillTx/>
                <a:latin typeface="Arial"/>
              </a:rPr>
              <a:t>Dùng khi cần đưa kết quả xử lý trở lại hệ CSDL quan hệ.</a:t>
            </a:r>
            <a:endParaRPr b="0" lang="en-US" sz="1220" strike="noStrike" u="none">
              <a:solidFill>
                <a:srgbClr val="000000"/>
              </a:solidFill>
              <a:effectLst/>
              <a:uFillTx/>
              <a:latin typeface="Arial"/>
            </a:endParaRPr>
          </a:p>
        </p:txBody>
      </p:sp>
      <p:sp>
        <p:nvSpPr>
          <p:cNvPr id="131" name="Shape 10"/>
          <p:cNvSpPr/>
          <p:nvPr/>
        </p:nvSpPr>
        <p:spPr>
          <a:xfrm>
            <a:off x="7086600" y="1463040"/>
            <a:ext cx="4388760" cy="1599840"/>
          </a:xfrm>
          <a:prstGeom prst="roundRect">
            <a:avLst>
              <a:gd name="adj" fmla="val 3429"/>
            </a:avLst>
          </a:prstGeom>
          <a:solidFill>
            <a:srgbClr val="fff9ec"/>
          </a:solidFill>
          <a:ln w="15240">
            <a:solidFill>
              <a:srgbClr val="f1d28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2" name="Shape 11"/>
          <p:cNvSpPr/>
          <p:nvPr/>
        </p:nvSpPr>
        <p:spPr>
          <a:xfrm>
            <a:off x="7086600" y="1463040"/>
            <a:ext cx="72720" cy="159984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3" name="Text 12"/>
          <p:cNvSpPr/>
          <p:nvPr/>
        </p:nvSpPr>
        <p:spPr>
          <a:xfrm>
            <a:off x="7269480" y="1609200"/>
            <a:ext cx="40960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Cập nhật quan trọng (2026)</a:t>
            </a:r>
            <a:endParaRPr b="0" lang="en-US" sz="1600" strike="noStrike" u="none">
              <a:solidFill>
                <a:srgbClr val="000000"/>
              </a:solidFill>
              <a:effectLst/>
              <a:uFillTx/>
              <a:latin typeface="Arial"/>
            </a:endParaRPr>
          </a:p>
        </p:txBody>
      </p:sp>
      <p:sp>
        <p:nvSpPr>
          <p:cNvPr id="134" name="Text 13"/>
          <p:cNvSpPr/>
          <p:nvPr/>
        </p:nvSpPr>
        <p:spPr>
          <a:xfrm>
            <a:off x="7269480" y="1993320"/>
            <a:ext cx="4077720" cy="941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80" strike="noStrike" u="none">
                <a:solidFill>
                  <a:srgbClr val="1f2937"/>
                </a:solidFill>
                <a:effectLst/>
                <a:uFillTx/>
                <a:latin typeface="Arial"/>
              </a:rPr>
              <a:t>Apache Sqoop đã được Apache ghi nhận là project “retired”.</a:t>
            </a:r>
            <a:endParaRPr b="0" lang="en-US" sz="1180" strike="noStrike" u="none">
              <a:solidFill>
                <a:srgbClr val="000000"/>
              </a:solidFill>
              <a:effectLst/>
              <a:uFillTx/>
              <a:latin typeface="Arial"/>
            </a:endParaRPr>
          </a:p>
        </p:txBody>
      </p:sp>
      <p:sp>
        <p:nvSpPr>
          <p:cNvPr id="135" name="Shape 14"/>
          <p:cNvSpPr/>
          <p:nvPr/>
        </p:nvSpPr>
        <p:spPr>
          <a:xfrm>
            <a:off x="1188720" y="3657600"/>
            <a:ext cx="1828440" cy="868320"/>
          </a:xfrm>
          <a:prstGeom prst="roundRect">
            <a:avLst>
              <a:gd name="adj" fmla="val 16667"/>
            </a:avLst>
          </a:prstGeom>
          <a:solidFill>
            <a:srgbClr val="e8f5f4"/>
          </a:solidFill>
          <a:ln w="12700">
            <a:solidFill>
              <a:srgbClr val="b7dad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6" name="Text 15"/>
          <p:cNvSpPr/>
          <p:nvPr/>
        </p:nvSpPr>
        <p:spPr>
          <a:xfrm>
            <a:off x="1325880" y="3858840"/>
            <a:ext cx="1554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00a6a6"/>
                </a:solidFill>
                <a:effectLst/>
                <a:uFillTx/>
                <a:latin typeface="Arial"/>
              </a:rPr>
              <a:t>RDBMS</a:t>
            </a:r>
            <a:endParaRPr b="0" lang="en-US" sz="1250" strike="noStrike" u="none">
              <a:solidFill>
                <a:srgbClr val="000000"/>
              </a:solidFill>
              <a:effectLst/>
              <a:uFillTx/>
              <a:latin typeface="Arial"/>
            </a:endParaRPr>
          </a:p>
          <a:p>
            <a:pPr algn="ctr" defTabSz="914400">
              <a:lnSpc>
                <a:spcPct val="100000"/>
              </a:lnSpc>
              <a:tabLst>
                <a:tab algn="l" pos="0"/>
              </a:tabLst>
            </a:pPr>
            <a:r>
              <a:rPr b="1" lang="en-US" sz="1250" strike="noStrike" u="none">
                <a:solidFill>
                  <a:srgbClr val="00a6a6"/>
                </a:solidFill>
                <a:effectLst/>
                <a:uFillTx/>
                <a:latin typeface="Arial"/>
              </a:rPr>
              <a:t>MySQL • PostgreSQL</a:t>
            </a:r>
            <a:endParaRPr b="0" lang="en-US" sz="1250" strike="noStrike" u="none">
              <a:solidFill>
                <a:srgbClr val="000000"/>
              </a:solidFill>
              <a:effectLst/>
              <a:uFillTx/>
              <a:latin typeface="Arial"/>
            </a:endParaRPr>
          </a:p>
        </p:txBody>
      </p:sp>
      <p:sp>
        <p:nvSpPr>
          <p:cNvPr id="137" name="Shape 16"/>
          <p:cNvSpPr/>
          <p:nvPr/>
        </p:nvSpPr>
        <p:spPr>
          <a:xfrm>
            <a:off x="5166360" y="3493080"/>
            <a:ext cx="1919880" cy="120672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8" name="Text 17"/>
          <p:cNvSpPr/>
          <p:nvPr/>
        </p:nvSpPr>
        <p:spPr>
          <a:xfrm>
            <a:off x="5303520" y="3858840"/>
            <a:ext cx="16455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trike="noStrike" u="none">
                <a:solidFill>
                  <a:srgbClr val="ffffff"/>
                </a:solidFill>
                <a:effectLst/>
                <a:uFillTx/>
                <a:latin typeface="Arial"/>
              </a:rPr>
              <a:t>SQOOP</a:t>
            </a:r>
            <a:endParaRPr b="0" lang="en-US" sz="2000" strike="noStrike" u="none">
              <a:solidFill>
                <a:srgbClr val="000000"/>
              </a:solidFill>
              <a:effectLst/>
              <a:uFillTx/>
              <a:latin typeface="Arial"/>
            </a:endParaRPr>
          </a:p>
        </p:txBody>
      </p:sp>
      <p:sp>
        <p:nvSpPr>
          <p:cNvPr id="139" name="Shape 18"/>
          <p:cNvSpPr/>
          <p:nvPr/>
        </p:nvSpPr>
        <p:spPr>
          <a:xfrm>
            <a:off x="9144000" y="3657600"/>
            <a:ext cx="1828440" cy="868320"/>
          </a:xfrm>
          <a:prstGeom prst="roundRect">
            <a:avLst>
              <a:gd name="adj" fmla="val 16667"/>
            </a:avLst>
          </a:prstGeom>
          <a:solidFill>
            <a:srgbClr val="eaf0f8"/>
          </a:solidFill>
          <a:ln w="12700">
            <a:solidFill>
              <a:srgbClr val="cad7e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0" name="Text 19"/>
          <p:cNvSpPr/>
          <p:nvPr/>
        </p:nvSpPr>
        <p:spPr>
          <a:xfrm>
            <a:off x="9281160" y="3858840"/>
            <a:ext cx="15541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16324f"/>
                </a:solidFill>
                <a:effectLst/>
                <a:uFillTx/>
                <a:latin typeface="Arial"/>
              </a:rPr>
              <a:t>HDFS / Hive</a:t>
            </a:r>
            <a:endParaRPr b="0" lang="en-US" sz="1250" strike="noStrike" u="none">
              <a:solidFill>
                <a:srgbClr val="000000"/>
              </a:solidFill>
              <a:effectLst/>
              <a:uFillTx/>
              <a:latin typeface="Arial"/>
            </a:endParaRPr>
          </a:p>
          <a:p>
            <a:pPr algn="ctr" defTabSz="914400">
              <a:lnSpc>
                <a:spcPct val="100000"/>
              </a:lnSpc>
              <a:tabLst>
                <a:tab algn="l" pos="0"/>
              </a:tabLst>
            </a:pPr>
            <a:r>
              <a:rPr b="1" lang="en-US" sz="1250" strike="noStrike" u="none">
                <a:solidFill>
                  <a:srgbClr val="16324f"/>
                </a:solidFill>
                <a:effectLst/>
                <a:uFillTx/>
                <a:latin typeface="Arial"/>
              </a:rPr>
              <a:t>(Hadoop)</a:t>
            </a:r>
            <a:endParaRPr b="0" lang="en-US" sz="1250" strike="noStrike" u="none">
              <a:solidFill>
                <a:srgbClr val="000000"/>
              </a:solidFill>
              <a:effectLst/>
              <a:uFillTx/>
              <a:latin typeface="Arial"/>
            </a:endParaRPr>
          </a:p>
        </p:txBody>
      </p:sp>
      <p:sp>
        <p:nvSpPr>
          <p:cNvPr id="141" name="Shape 20"/>
          <p:cNvSpPr/>
          <p:nvPr/>
        </p:nvSpPr>
        <p:spPr>
          <a:xfrm>
            <a:off x="3017520" y="4096440"/>
            <a:ext cx="2148840" cy="360"/>
          </a:xfrm>
          <a:prstGeom prst="line">
            <a:avLst/>
          </a:prstGeom>
          <a:ln w="25400">
            <a:solidFill>
              <a:srgbClr val="1e88e5"/>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2" name="Shape 21"/>
          <p:cNvSpPr/>
          <p:nvPr/>
        </p:nvSpPr>
        <p:spPr>
          <a:xfrm>
            <a:off x="7086600" y="4096440"/>
            <a:ext cx="2057400" cy="360"/>
          </a:xfrm>
          <a:prstGeom prst="line">
            <a:avLst/>
          </a:prstGeom>
          <a:ln w="25400">
            <a:solidFill>
              <a:srgbClr val="00a6a6"/>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3" name="Text 22"/>
          <p:cNvSpPr/>
          <p:nvPr/>
        </p:nvSpPr>
        <p:spPr>
          <a:xfrm>
            <a:off x="3767400" y="3767400"/>
            <a:ext cx="8226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trike="noStrike" u="none">
                <a:solidFill>
                  <a:srgbClr val="1e88e5"/>
                </a:solidFill>
                <a:effectLst/>
                <a:uFillTx/>
                <a:latin typeface="Arial"/>
              </a:rPr>
              <a:t>IMPORT</a:t>
            </a:r>
            <a:endParaRPr b="0" lang="en-US" sz="900" strike="noStrike" u="none">
              <a:solidFill>
                <a:srgbClr val="000000"/>
              </a:solidFill>
              <a:effectLst/>
              <a:uFillTx/>
              <a:latin typeface="Arial"/>
            </a:endParaRPr>
          </a:p>
        </p:txBody>
      </p:sp>
      <p:sp>
        <p:nvSpPr>
          <p:cNvPr id="144" name="Text 23"/>
          <p:cNvSpPr/>
          <p:nvPr/>
        </p:nvSpPr>
        <p:spPr>
          <a:xfrm>
            <a:off x="7726680" y="3767400"/>
            <a:ext cx="8226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trike="noStrike" u="none">
                <a:solidFill>
                  <a:srgbClr val="00a6a6"/>
                </a:solidFill>
                <a:effectLst/>
                <a:uFillTx/>
                <a:latin typeface="Arial"/>
              </a:rPr>
              <a:t>EXPORT</a:t>
            </a:r>
            <a:endParaRPr b="0" lang="en-US" sz="900" strike="noStrike" u="none">
              <a:solidFill>
                <a:srgbClr val="000000"/>
              </a:solidFill>
              <a:effectLst/>
              <a:uFillTx/>
              <a:latin typeface="Arial"/>
            </a:endParaRPr>
          </a:p>
        </p:txBody>
      </p:sp>
      <p:sp>
        <p:nvSpPr>
          <p:cNvPr id="145" name="Shape 24"/>
          <p:cNvSpPr/>
          <p:nvPr/>
        </p:nvSpPr>
        <p:spPr>
          <a:xfrm>
            <a:off x="567000" y="519372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6" name="Text 25"/>
          <p:cNvSpPr/>
          <p:nvPr/>
        </p:nvSpPr>
        <p:spPr>
          <a:xfrm>
            <a:off x="749880" y="534924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147" name="Text 26"/>
          <p:cNvSpPr/>
          <p:nvPr/>
        </p:nvSpPr>
        <p:spPr>
          <a:xfrm>
            <a:off x="1609200" y="531252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Trong môn học, Sqoop vẫn hữu ích để hiểu mô hình “pull dữ liệu theo lô từ DB”. Với hệ thống mới, có thể thay bằng Spark JDBC, Kafka Connect/CDC hoặc NiFi tùy nhu cầu.</a:t>
            </a:r>
            <a:endParaRPr b="0" lang="en-US" sz="1120" strike="noStrike" u="none">
              <a:solidFill>
                <a:srgbClr val="000000"/>
              </a:solidFill>
              <a:effectLst/>
              <a:uFillTx/>
              <a:latin typeface="Arial"/>
            </a:endParaRPr>
          </a:p>
        </p:txBody>
      </p:sp>
      <p:sp>
        <p:nvSpPr>
          <p:cNvPr id="148" name="Text 27"/>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tài liệu gốc slide 2–3; Apache Sqoop project page (retired).</a:t>
            </a:r>
            <a:endParaRPr b="0" lang="en-US" sz="720" strike="noStrike" u="none">
              <a:solidFill>
                <a:srgbClr val="000000"/>
              </a:solidFill>
              <a:effectLst/>
              <a:uFillTx/>
              <a:latin typeface="Arial"/>
            </a:endParaRPr>
          </a:p>
        </p:txBody>
      </p:sp>
      <p:sp>
        <p:nvSpPr>
          <p:cNvPr id="149" name="PlaceHolder 1"/>
          <p:cNvSpPr>
            <a:spLocks noGrp="1"/>
          </p:cNvSpPr>
          <p:nvPr>
            <p:ph type="sldNum" idx="8"/>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7D4ED473-2151-484D-A14F-B95837A1EFC3}" type="slidenum">
              <a:rPr b="0" lang="en-US" sz="800" strike="noStrike" u="none">
                <a:solidFill>
                  <a:srgbClr val="7a8797"/>
                </a:solidFill>
                <a:effectLst/>
                <a:uFillTx/>
                <a:latin typeface="Arial"/>
                <a:ea typeface="Arial"/>
              </a:rPr>
              <a:t>4</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4. Đọc một lệnh Sqoop import như thế nào?</a:t>
            </a:r>
            <a:endParaRPr b="0" lang="en-US" sz="2700" strike="noStrike" u="none">
              <a:solidFill>
                <a:srgbClr val="000000"/>
              </a:solidFill>
              <a:effectLst/>
              <a:uFillTx/>
              <a:latin typeface="Arial"/>
            </a:endParaRPr>
          </a:p>
        </p:txBody>
      </p:sp>
      <p:sp>
        <p:nvSpPr>
          <p:cNvPr id="151"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Mục tiêu là hiểu ý nghĩa từng tham số, không chỉ “copy lệnh”.</a:t>
            </a:r>
            <a:endParaRPr b="0" lang="en-US" sz="1250" strike="noStrike" u="none">
              <a:solidFill>
                <a:srgbClr val="000000"/>
              </a:solidFill>
              <a:effectLst/>
              <a:uFillTx/>
              <a:latin typeface="Arial"/>
            </a:endParaRPr>
          </a:p>
        </p:txBody>
      </p:sp>
      <p:sp>
        <p:nvSpPr>
          <p:cNvPr id="152" name="Shape 2"/>
          <p:cNvSpPr/>
          <p:nvPr/>
        </p:nvSpPr>
        <p:spPr>
          <a:xfrm>
            <a:off x="685800" y="1417320"/>
            <a:ext cx="6080400" cy="3245760"/>
          </a:xfrm>
          <a:prstGeom prst="roundRect">
            <a:avLst>
              <a:gd name="adj" fmla="val 1127"/>
            </a:avLst>
          </a:prstGeom>
          <a:solidFill>
            <a:srgbClr val="101827"/>
          </a:solidFill>
          <a:ln w="12700">
            <a:solidFill>
              <a:srgbClr val="10182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3" name="Text 3"/>
          <p:cNvSpPr/>
          <p:nvPr/>
        </p:nvSpPr>
        <p:spPr>
          <a:xfrm>
            <a:off x="850320" y="1563480"/>
            <a:ext cx="5751360" cy="2989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20" strike="noStrike" u="none">
                <a:solidFill>
                  <a:srgbClr val="e6edf3"/>
                </a:solidFill>
                <a:effectLst/>
                <a:uFillTx/>
                <a:latin typeface="Courier New"/>
                <a:ea typeface="Courier New"/>
              </a:rPr>
              <a:t>sqoop import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--connect jdbc:mysql://db:3306/sales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--username etl_user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--password-file /secure/mysql.pwd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--table orders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--target-dir /data/raw/orders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-m 4</a:t>
            </a:r>
            <a:endParaRPr b="0" lang="en-US" sz="1020" strike="noStrike" u="none">
              <a:solidFill>
                <a:srgbClr val="000000"/>
              </a:solidFill>
              <a:effectLst/>
              <a:uFillTx/>
              <a:latin typeface="Arial"/>
            </a:endParaRPr>
          </a:p>
        </p:txBody>
      </p:sp>
      <p:sp>
        <p:nvSpPr>
          <p:cNvPr id="154" name="Shape 4"/>
          <p:cNvSpPr/>
          <p:nvPr/>
        </p:nvSpPr>
        <p:spPr>
          <a:xfrm>
            <a:off x="7086600" y="1417320"/>
            <a:ext cx="4388760" cy="529920"/>
          </a:xfrm>
          <a:prstGeom prst="roundRect">
            <a:avLst>
              <a:gd name="adj" fmla="val 16667"/>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Text 5"/>
          <p:cNvSpPr/>
          <p:nvPr/>
        </p:nvSpPr>
        <p:spPr>
          <a:xfrm>
            <a:off x="7242120" y="1545480"/>
            <a:ext cx="11883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1e88e5"/>
                </a:solidFill>
                <a:effectLst/>
                <a:uFillTx/>
                <a:latin typeface="Courier New"/>
                <a:ea typeface="Courier New"/>
              </a:rPr>
              <a:t>--connect</a:t>
            </a:r>
            <a:endParaRPr b="0" lang="en-US" sz="1050" strike="noStrike" u="none">
              <a:solidFill>
                <a:srgbClr val="000000"/>
              </a:solidFill>
              <a:effectLst/>
              <a:uFillTx/>
              <a:latin typeface="Arial"/>
            </a:endParaRPr>
          </a:p>
        </p:txBody>
      </p:sp>
      <p:sp>
        <p:nvSpPr>
          <p:cNvPr id="156" name="Text 6"/>
          <p:cNvSpPr/>
          <p:nvPr/>
        </p:nvSpPr>
        <p:spPr>
          <a:xfrm>
            <a:off x="8394120" y="1508760"/>
            <a:ext cx="28800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1f2937"/>
                </a:solidFill>
                <a:effectLst/>
                <a:uFillTx/>
                <a:latin typeface="Arial"/>
              </a:rPr>
              <a:t>Địa chỉ JDBC tới CSDL nguồn</a:t>
            </a:r>
            <a:endParaRPr b="0" lang="en-US" sz="1050" strike="noStrike" u="none">
              <a:solidFill>
                <a:srgbClr val="000000"/>
              </a:solidFill>
              <a:effectLst/>
              <a:uFillTx/>
              <a:latin typeface="Arial"/>
            </a:endParaRPr>
          </a:p>
        </p:txBody>
      </p:sp>
      <p:sp>
        <p:nvSpPr>
          <p:cNvPr id="157" name="Shape 7"/>
          <p:cNvSpPr/>
          <p:nvPr/>
        </p:nvSpPr>
        <p:spPr>
          <a:xfrm>
            <a:off x="7086600" y="2103120"/>
            <a:ext cx="4388760" cy="529920"/>
          </a:xfrm>
          <a:prstGeom prst="roundRect">
            <a:avLst>
              <a:gd name="adj" fmla="val 16667"/>
            </a:avLst>
          </a:prstGeom>
          <a:solidFill>
            <a:srgbClr val="f2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8" name="Text 8"/>
          <p:cNvSpPr/>
          <p:nvPr/>
        </p:nvSpPr>
        <p:spPr>
          <a:xfrm>
            <a:off x="7242120" y="2231280"/>
            <a:ext cx="11883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1e88e5"/>
                </a:solidFill>
                <a:effectLst/>
                <a:uFillTx/>
                <a:latin typeface="Courier New"/>
                <a:ea typeface="Courier New"/>
              </a:rPr>
              <a:t>--table</a:t>
            </a:r>
            <a:endParaRPr b="0" lang="en-US" sz="1050" strike="noStrike" u="none">
              <a:solidFill>
                <a:srgbClr val="000000"/>
              </a:solidFill>
              <a:effectLst/>
              <a:uFillTx/>
              <a:latin typeface="Arial"/>
            </a:endParaRPr>
          </a:p>
        </p:txBody>
      </p:sp>
      <p:sp>
        <p:nvSpPr>
          <p:cNvPr id="159" name="Text 9"/>
          <p:cNvSpPr/>
          <p:nvPr/>
        </p:nvSpPr>
        <p:spPr>
          <a:xfrm>
            <a:off x="8394120" y="2194560"/>
            <a:ext cx="28800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1f2937"/>
                </a:solidFill>
                <a:effectLst/>
                <a:uFillTx/>
                <a:latin typeface="Arial"/>
              </a:rPr>
              <a:t>Bảng cần import</a:t>
            </a:r>
            <a:endParaRPr b="0" lang="en-US" sz="1050" strike="noStrike" u="none">
              <a:solidFill>
                <a:srgbClr val="000000"/>
              </a:solidFill>
              <a:effectLst/>
              <a:uFillTx/>
              <a:latin typeface="Arial"/>
            </a:endParaRPr>
          </a:p>
        </p:txBody>
      </p:sp>
      <p:sp>
        <p:nvSpPr>
          <p:cNvPr id="160" name="Shape 10"/>
          <p:cNvSpPr/>
          <p:nvPr/>
        </p:nvSpPr>
        <p:spPr>
          <a:xfrm>
            <a:off x="7086600" y="2788920"/>
            <a:ext cx="4388760" cy="529920"/>
          </a:xfrm>
          <a:prstGeom prst="roundRect">
            <a:avLst>
              <a:gd name="adj" fmla="val 16667"/>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1" name="Text 11"/>
          <p:cNvSpPr/>
          <p:nvPr/>
        </p:nvSpPr>
        <p:spPr>
          <a:xfrm>
            <a:off x="7242120" y="2917080"/>
            <a:ext cx="11883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1e88e5"/>
                </a:solidFill>
                <a:effectLst/>
                <a:uFillTx/>
                <a:latin typeface="Courier New"/>
                <a:ea typeface="Courier New"/>
              </a:rPr>
              <a:t>--target-dir</a:t>
            </a:r>
            <a:endParaRPr b="0" lang="en-US" sz="1050" strike="noStrike" u="none">
              <a:solidFill>
                <a:srgbClr val="000000"/>
              </a:solidFill>
              <a:effectLst/>
              <a:uFillTx/>
              <a:latin typeface="Arial"/>
            </a:endParaRPr>
          </a:p>
        </p:txBody>
      </p:sp>
      <p:sp>
        <p:nvSpPr>
          <p:cNvPr id="162" name="Text 12"/>
          <p:cNvSpPr/>
          <p:nvPr/>
        </p:nvSpPr>
        <p:spPr>
          <a:xfrm>
            <a:off x="8394120" y="2880360"/>
            <a:ext cx="28800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1f2937"/>
                </a:solidFill>
                <a:effectLst/>
                <a:uFillTx/>
                <a:latin typeface="Arial"/>
              </a:rPr>
              <a:t>Thư mục đích trên HDFS</a:t>
            </a:r>
            <a:endParaRPr b="0" lang="en-US" sz="1050" strike="noStrike" u="none">
              <a:solidFill>
                <a:srgbClr val="000000"/>
              </a:solidFill>
              <a:effectLst/>
              <a:uFillTx/>
              <a:latin typeface="Arial"/>
            </a:endParaRPr>
          </a:p>
        </p:txBody>
      </p:sp>
      <p:sp>
        <p:nvSpPr>
          <p:cNvPr id="163" name="Shape 13"/>
          <p:cNvSpPr/>
          <p:nvPr/>
        </p:nvSpPr>
        <p:spPr>
          <a:xfrm>
            <a:off x="7086600" y="3474720"/>
            <a:ext cx="4388760" cy="529920"/>
          </a:xfrm>
          <a:prstGeom prst="roundRect">
            <a:avLst>
              <a:gd name="adj" fmla="val 16667"/>
            </a:avLst>
          </a:prstGeom>
          <a:solidFill>
            <a:srgbClr val="f2f6fa"/>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4" name="Text 14"/>
          <p:cNvSpPr/>
          <p:nvPr/>
        </p:nvSpPr>
        <p:spPr>
          <a:xfrm>
            <a:off x="7242120" y="3602880"/>
            <a:ext cx="11883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1e88e5"/>
                </a:solidFill>
                <a:effectLst/>
                <a:uFillTx/>
                <a:latin typeface="Courier New"/>
                <a:ea typeface="Courier New"/>
              </a:rPr>
              <a:t>-m 4</a:t>
            </a:r>
            <a:endParaRPr b="0" lang="en-US" sz="1050" strike="noStrike" u="none">
              <a:solidFill>
                <a:srgbClr val="000000"/>
              </a:solidFill>
              <a:effectLst/>
              <a:uFillTx/>
              <a:latin typeface="Arial"/>
            </a:endParaRPr>
          </a:p>
        </p:txBody>
      </p:sp>
      <p:sp>
        <p:nvSpPr>
          <p:cNvPr id="165" name="Text 15"/>
          <p:cNvSpPr/>
          <p:nvPr/>
        </p:nvSpPr>
        <p:spPr>
          <a:xfrm>
            <a:off x="8394120" y="3566160"/>
            <a:ext cx="2880000" cy="2739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50" strike="noStrike" u="none">
                <a:solidFill>
                  <a:srgbClr val="1f2937"/>
                </a:solidFill>
                <a:effectLst/>
                <a:uFillTx/>
                <a:latin typeface="Arial"/>
              </a:rPr>
              <a:t>Số mapper chạy song song; tăng song song nhưng gây tải DB</a:t>
            </a:r>
            <a:endParaRPr b="0" lang="en-US" sz="1050" strike="noStrike" u="none">
              <a:solidFill>
                <a:srgbClr val="000000"/>
              </a:solidFill>
              <a:effectLst/>
              <a:uFillTx/>
              <a:latin typeface="Arial"/>
            </a:endParaRPr>
          </a:p>
        </p:txBody>
      </p:sp>
      <p:sp>
        <p:nvSpPr>
          <p:cNvPr id="166" name="Shape 16"/>
          <p:cNvSpPr/>
          <p:nvPr/>
        </p:nvSpPr>
        <p:spPr>
          <a:xfrm>
            <a:off x="7086600" y="4160520"/>
            <a:ext cx="4388760" cy="529920"/>
          </a:xfrm>
          <a:prstGeom prst="roundRect">
            <a:avLst>
              <a:gd name="adj" fmla="val 16667"/>
            </a:avLst>
          </a:prstGeom>
          <a:solidFill>
            <a:srgbClr val="ffffff"/>
          </a:solidFill>
          <a:ln w="12700">
            <a:solidFill>
              <a:srgbClr val="dd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7" name="Text 17"/>
          <p:cNvSpPr/>
          <p:nvPr/>
        </p:nvSpPr>
        <p:spPr>
          <a:xfrm>
            <a:off x="7242120" y="4288680"/>
            <a:ext cx="11883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trike="noStrike" u="none">
                <a:solidFill>
                  <a:srgbClr val="1e88e5"/>
                </a:solidFill>
                <a:effectLst/>
                <a:uFillTx/>
                <a:latin typeface="Courier New"/>
                <a:ea typeface="Courier New"/>
              </a:rPr>
              <a:t>--password-file</a:t>
            </a:r>
            <a:endParaRPr b="0" lang="en-US" sz="1050" strike="noStrike" u="none">
              <a:solidFill>
                <a:srgbClr val="000000"/>
              </a:solidFill>
              <a:effectLst/>
              <a:uFillTx/>
              <a:latin typeface="Arial"/>
            </a:endParaRPr>
          </a:p>
        </p:txBody>
      </p:sp>
      <p:sp>
        <p:nvSpPr>
          <p:cNvPr id="168" name="Text 18"/>
          <p:cNvSpPr/>
          <p:nvPr/>
        </p:nvSpPr>
        <p:spPr>
          <a:xfrm>
            <a:off x="8394120" y="4251960"/>
            <a:ext cx="2880000" cy="2739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50" strike="noStrike" u="none">
                <a:solidFill>
                  <a:srgbClr val="1f2937"/>
                </a:solidFill>
                <a:effectLst/>
                <a:uFillTx/>
                <a:latin typeface="Arial"/>
              </a:rPr>
              <a:t>An toàn hơn ghi password trực tiếp trên command line</a:t>
            </a:r>
            <a:endParaRPr b="0" lang="en-US" sz="1050" strike="noStrike" u="none">
              <a:solidFill>
                <a:srgbClr val="000000"/>
              </a:solidFill>
              <a:effectLst/>
              <a:uFillTx/>
              <a:latin typeface="Arial"/>
            </a:endParaRPr>
          </a:p>
        </p:txBody>
      </p:sp>
      <p:sp>
        <p:nvSpPr>
          <p:cNvPr id="169" name="Shape 19"/>
          <p:cNvSpPr/>
          <p:nvPr/>
        </p:nvSpPr>
        <p:spPr>
          <a:xfrm>
            <a:off x="567000" y="507492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0" name="Text 20"/>
          <p:cNvSpPr/>
          <p:nvPr/>
        </p:nvSpPr>
        <p:spPr>
          <a:xfrm>
            <a:off x="749880" y="523044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171" name="Text 21"/>
          <p:cNvSpPr/>
          <p:nvPr/>
        </p:nvSpPr>
        <p:spPr>
          <a:xfrm>
            <a:off x="1609200" y="519372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Ý tưởng quan trọng: công cụ ingestion phải biết nguồn, đích, cách chia tải song song và cách xử lý credential. Đây cũng là tư duy chung khi chuyển sang Spark JDBC hoặc Kafka Connect.</a:t>
            </a:r>
            <a:endParaRPr b="0" lang="en-US" sz="1120" strike="noStrike" u="none">
              <a:solidFill>
                <a:srgbClr val="000000"/>
              </a:solidFill>
              <a:effectLst/>
              <a:uFillTx/>
              <a:latin typeface="Arial"/>
            </a:endParaRPr>
          </a:p>
        </p:txBody>
      </p:sp>
      <p:sp>
        <p:nvSpPr>
          <p:cNvPr id="172" name="PlaceHolder 1"/>
          <p:cNvSpPr>
            <a:spLocks noGrp="1"/>
          </p:cNvSpPr>
          <p:nvPr>
            <p:ph type="sldNum" idx="9"/>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439CFC21-7513-4058-9F68-C2D781E94BCB}" type="slidenum">
              <a:rPr b="0" lang="en-US" sz="800" strike="noStrike" u="none">
                <a:solidFill>
                  <a:srgbClr val="7a8797"/>
                </a:solidFill>
                <a:effectLst/>
                <a:uFillTx/>
                <a:latin typeface="Arial"/>
                <a:ea typeface="Arial"/>
              </a:rPr>
              <a:t>5</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5. Apache Flume — thu thập log và event</a:t>
            </a:r>
            <a:endParaRPr b="0" lang="en-US" sz="2700" strike="noStrike" u="none">
              <a:solidFill>
                <a:srgbClr val="000000"/>
              </a:solidFill>
              <a:effectLst/>
              <a:uFillTx/>
              <a:latin typeface="Arial"/>
            </a:endParaRPr>
          </a:p>
        </p:txBody>
      </p:sp>
      <p:sp>
        <p:nvSpPr>
          <p:cNvPr id="174"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Flume phù hợp với luồng log/event liên tục từ nhiều máy chủ về một nơi lưu trữ tập trung.</a:t>
            </a:r>
            <a:endParaRPr b="0" lang="en-US" sz="1250" strike="noStrike" u="none">
              <a:solidFill>
                <a:srgbClr val="000000"/>
              </a:solidFill>
              <a:effectLst/>
              <a:uFillTx/>
              <a:latin typeface="Arial"/>
            </a:endParaRPr>
          </a:p>
        </p:txBody>
      </p:sp>
      <p:sp>
        <p:nvSpPr>
          <p:cNvPr id="175" name="Shape 2"/>
          <p:cNvSpPr/>
          <p:nvPr/>
        </p:nvSpPr>
        <p:spPr>
          <a:xfrm>
            <a:off x="685800" y="1417320"/>
            <a:ext cx="3200040" cy="1874160"/>
          </a:xfrm>
          <a:prstGeom prst="roundRect">
            <a:avLst>
              <a:gd name="adj" fmla="val 292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6" name="Shape 3"/>
          <p:cNvSpPr/>
          <p:nvPr/>
        </p:nvSpPr>
        <p:spPr>
          <a:xfrm>
            <a:off x="685800" y="1417320"/>
            <a:ext cx="72720" cy="187416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7" name="Text 4"/>
          <p:cNvSpPr/>
          <p:nvPr/>
        </p:nvSpPr>
        <p:spPr>
          <a:xfrm>
            <a:off x="868680" y="156348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Bài toán</a:t>
            </a:r>
            <a:endParaRPr b="0" lang="en-US" sz="1600" strike="noStrike" u="none">
              <a:solidFill>
                <a:srgbClr val="000000"/>
              </a:solidFill>
              <a:effectLst/>
              <a:uFillTx/>
              <a:latin typeface="Arial"/>
            </a:endParaRPr>
          </a:p>
        </p:txBody>
      </p:sp>
      <p:sp>
        <p:nvSpPr>
          <p:cNvPr id="178" name="Text 5"/>
          <p:cNvSpPr/>
          <p:nvPr/>
        </p:nvSpPr>
        <p:spPr>
          <a:xfrm>
            <a:off x="868680" y="1947600"/>
            <a:ext cx="2889000" cy="12157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50" strike="noStrike" u="none">
                <a:solidFill>
                  <a:srgbClr val="1f2937"/>
                </a:solidFill>
                <a:effectLst/>
                <a:uFillTx/>
                <a:latin typeface="Arial"/>
              </a:rPr>
              <a:t>Hàng chục/hàng trăm web server liên tục sinh log. Ta cần gom dữ liệu ổn định, chịu lỗi và đẩy về HDFS/HBase.</a:t>
            </a:r>
            <a:endParaRPr b="0" lang="en-US" sz="1250" strike="noStrike" u="none">
              <a:solidFill>
                <a:srgbClr val="000000"/>
              </a:solidFill>
              <a:effectLst/>
              <a:uFillTx/>
              <a:latin typeface="Arial"/>
            </a:endParaRPr>
          </a:p>
        </p:txBody>
      </p:sp>
      <p:sp>
        <p:nvSpPr>
          <p:cNvPr id="179" name="Shape 6"/>
          <p:cNvSpPr/>
          <p:nvPr/>
        </p:nvSpPr>
        <p:spPr>
          <a:xfrm>
            <a:off x="4343400" y="1417320"/>
            <a:ext cx="3200040" cy="1874160"/>
          </a:xfrm>
          <a:prstGeom prst="roundRect">
            <a:avLst>
              <a:gd name="adj" fmla="val 292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0" name="Shape 7"/>
          <p:cNvSpPr/>
          <p:nvPr/>
        </p:nvSpPr>
        <p:spPr>
          <a:xfrm>
            <a:off x="4343400" y="1417320"/>
            <a:ext cx="72720" cy="187416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1" name="Text 8"/>
          <p:cNvSpPr/>
          <p:nvPr/>
        </p:nvSpPr>
        <p:spPr>
          <a:xfrm>
            <a:off x="4526280" y="156348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Vai trò của Flume</a:t>
            </a:r>
            <a:endParaRPr b="0" lang="en-US" sz="1600" strike="noStrike" u="none">
              <a:solidFill>
                <a:srgbClr val="000000"/>
              </a:solidFill>
              <a:effectLst/>
              <a:uFillTx/>
              <a:latin typeface="Arial"/>
            </a:endParaRPr>
          </a:p>
        </p:txBody>
      </p:sp>
      <p:sp>
        <p:nvSpPr>
          <p:cNvPr id="182" name="Text 9"/>
          <p:cNvSpPr/>
          <p:nvPr/>
        </p:nvSpPr>
        <p:spPr>
          <a:xfrm>
            <a:off x="4526280" y="1947600"/>
            <a:ext cx="2889000" cy="12157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50" strike="noStrike" u="none">
                <a:solidFill>
                  <a:srgbClr val="1f2937"/>
                </a:solidFill>
                <a:effectLst/>
                <a:uFillTx/>
                <a:latin typeface="Arial"/>
              </a:rPr>
              <a:t>Chạy các agent gần nguồn dữ liệu, tiếp nhận event, đệm qua channel rồi chuyển sang sink.</a:t>
            </a:r>
            <a:endParaRPr b="0" lang="en-US" sz="1250" strike="noStrike" u="none">
              <a:solidFill>
                <a:srgbClr val="000000"/>
              </a:solidFill>
              <a:effectLst/>
              <a:uFillTx/>
              <a:latin typeface="Arial"/>
            </a:endParaRPr>
          </a:p>
        </p:txBody>
      </p:sp>
      <p:sp>
        <p:nvSpPr>
          <p:cNvPr id="183" name="Shape 10"/>
          <p:cNvSpPr/>
          <p:nvPr/>
        </p:nvSpPr>
        <p:spPr>
          <a:xfrm>
            <a:off x="8001000" y="1417320"/>
            <a:ext cx="3200040" cy="1874160"/>
          </a:xfrm>
          <a:prstGeom prst="roundRect">
            <a:avLst>
              <a:gd name="adj" fmla="val 292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4" name="Shape 11"/>
          <p:cNvSpPr/>
          <p:nvPr/>
        </p:nvSpPr>
        <p:spPr>
          <a:xfrm>
            <a:off x="8001000" y="1417320"/>
            <a:ext cx="72720" cy="187416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5" name="Text 12"/>
          <p:cNvSpPr/>
          <p:nvPr/>
        </p:nvSpPr>
        <p:spPr>
          <a:xfrm>
            <a:off x="8183880" y="156348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Điểm mạnh</a:t>
            </a:r>
            <a:endParaRPr b="0" lang="en-US" sz="1600" strike="noStrike" u="none">
              <a:solidFill>
                <a:srgbClr val="000000"/>
              </a:solidFill>
              <a:effectLst/>
              <a:uFillTx/>
              <a:latin typeface="Arial"/>
            </a:endParaRPr>
          </a:p>
        </p:txBody>
      </p:sp>
      <p:sp>
        <p:nvSpPr>
          <p:cNvPr id="186" name="Text 13"/>
          <p:cNvSpPr/>
          <p:nvPr/>
        </p:nvSpPr>
        <p:spPr>
          <a:xfrm>
            <a:off x="8183880" y="1947600"/>
            <a:ext cx="2889000" cy="12157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20" strike="noStrike" u="none">
                <a:solidFill>
                  <a:srgbClr val="1f2937"/>
                </a:solidFill>
                <a:effectLst/>
                <a:uFillTx/>
                <a:latin typeface="Arial"/>
              </a:rPr>
              <a:t>Distributed • reliable • scalable. Channel giúp tách tốc độ “nhận” và “ghi”, hỗ trợ chống mất dữ liệu tùy cấu hình.</a:t>
            </a:r>
            <a:endParaRPr b="0" lang="en-US" sz="1220" strike="noStrike" u="none">
              <a:solidFill>
                <a:srgbClr val="000000"/>
              </a:solidFill>
              <a:effectLst/>
              <a:uFillTx/>
              <a:latin typeface="Arial"/>
            </a:endParaRPr>
          </a:p>
        </p:txBody>
      </p:sp>
      <p:sp>
        <p:nvSpPr>
          <p:cNvPr id="187" name="Shape 14"/>
          <p:cNvSpPr/>
          <p:nvPr/>
        </p:nvSpPr>
        <p:spPr>
          <a:xfrm>
            <a:off x="1188720" y="3977640"/>
            <a:ext cx="2285640" cy="84096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8" name="Text 15"/>
          <p:cNvSpPr/>
          <p:nvPr/>
        </p:nvSpPr>
        <p:spPr>
          <a:xfrm>
            <a:off x="1298520" y="4251960"/>
            <a:ext cx="206604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Web / App Logs</a:t>
            </a:r>
            <a:endParaRPr b="0" lang="en-US" sz="1400" strike="noStrike" u="none">
              <a:solidFill>
                <a:srgbClr val="000000"/>
              </a:solidFill>
              <a:effectLst/>
              <a:uFillTx/>
              <a:latin typeface="Arial"/>
            </a:endParaRPr>
          </a:p>
        </p:txBody>
      </p:sp>
      <p:sp>
        <p:nvSpPr>
          <p:cNvPr id="189" name="Shape 16"/>
          <p:cNvSpPr/>
          <p:nvPr/>
        </p:nvSpPr>
        <p:spPr>
          <a:xfrm>
            <a:off x="3474720" y="4398120"/>
            <a:ext cx="150876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0" name="Shape 17"/>
          <p:cNvSpPr/>
          <p:nvPr/>
        </p:nvSpPr>
        <p:spPr>
          <a:xfrm>
            <a:off x="4983480" y="3977640"/>
            <a:ext cx="2285640" cy="84096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1" name="Text 18"/>
          <p:cNvSpPr/>
          <p:nvPr/>
        </p:nvSpPr>
        <p:spPr>
          <a:xfrm>
            <a:off x="5093280" y="4251960"/>
            <a:ext cx="206604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Flume Agent</a:t>
            </a:r>
            <a:endParaRPr b="0" lang="en-US" sz="1400" strike="noStrike" u="none">
              <a:solidFill>
                <a:srgbClr val="000000"/>
              </a:solidFill>
              <a:effectLst/>
              <a:uFillTx/>
              <a:latin typeface="Arial"/>
            </a:endParaRPr>
          </a:p>
        </p:txBody>
      </p:sp>
      <p:sp>
        <p:nvSpPr>
          <p:cNvPr id="192" name="Shape 19"/>
          <p:cNvSpPr/>
          <p:nvPr/>
        </p:nvSpPr>
        <p:spPr>
          <a:xfrm>
            <a:off x="7269480" y="4398120"/>
            <a:ext cx="150876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3" name="Shape 20"/>
          <p:cNvSpPr/>
          <p:nvPr/>
        </p:nvSpPr>
        <p:spPr>
          <a:xfrm>
            <a:off x="8778240" y="3977640"/>
            <a:ext cx="2285640" cy="840960"/>
          </a:xfrm>
          <a:prstGeom prst="roundRect">
            <a:avLst>
              <a:gd name="adj" fmla="val 16667"/>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4" name="Text 21"/>
          <p:cNvSpPr/>
          <p:nvPr/>
        </p:nvSpPr>
        <p:spPr>
          <a:xfrm>
            <a:off x="8888040" y="4251960"/>
            <a:ext cx="206604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HDFS / HBase</a:t>
            </a:r>
            <a:endParaRPr b="0" lang="en-US" sz="1400" strike="noStrike" u="none">
              <a:solidFill>
                <a:srgbClr val="000000"/>
              </a:solidFill>
              <a:effectLst/>
              <a:uFillTx/>
              <a:latin typeface="Arial"/>
            </a:endParaRPr>
          </a:p>
        </p:txBody>
      </p:sp>
      <p:sp>
        <p:nvSpPr>
          <p:cNvPr id="195" name="Shape 22"/>
          <p:cNvSpPr/>
          <p:nvPr/>
        </p:nvSpPr>
        <p:spPr>
          <a:xfrm>
            <a:off x="567000" y="523044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6" name="Text 23"/>
          <p:cNvSpPr/>
          <p:nvPr/>
        </p:nvSpPr>
        <p:spPr>
          <a:xfrm>
            <a:off x="749880" y="538596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197" name="Text 24"/>
          <p:cNvSpPr/>
          <p:nvPr/>
        </p:nvSpPr>
        <p:spPr>
          <a:xfrm>
            <a:off x="1609200" y="5349240"/>
            <a:ext cx="97106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b4d1d"/>
                </a:solidFill>
                <a:effectLst/>
                <a:uFillTx/>
                <a:latin typeface="Arial"/>
              </a:rPr>
              <a:t>Flume không phải công cụ xử lý dữ liệu. Nó chủ yếu “thu gom và vận chuyển” event/log đến nơi lưu trữ hoặc hệ thống kế tiếp trong pipeline.</a:t>
            </a:r>
            <a:endParaRPr b="0" lang="en-US" sz="1120" strike="noStrike" u="none">
              <a:solidFill>
                <a:srgbClr val="000000"/>
              </a:solidFill>
              <a:effectLst/>
              <a:uFillTx/>
              <a:latin typeface="Arial"/>
            </a:endParaRPr>
          </a:p>
        </p:txBody>
      </p:sp>
      <p:sp>
        <p:nvSpPr>
          <p:cNvPr id="198" name="Text 25"/>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tài liệu gốc slide 4–6; Apache Flume User Guide.</a:t>
            </a:r>
            <a:endParaRPr b="0" lang="en-US" sz="720" strike="noStrike" u="none">
              <a:solidFill>
                <a:srgbClr val="000000"/>
              </a:solidFill>
              <a:effectLst/>
              <a:uFillTx/>
              <a:latin typeface="Arial"/>
            </a:endParaRPr>
          </a:p>
        </p:txBody>
      </p:sp>
      <p:sp>
        <p:nvSpPr>
          <p:cNvPr id="199" name="PlaceHolder 1"/>
          <p:cNvSpPr>
            <a:spLocks noGrp="1"/>
          </p:cNvSpPr>
          <p:nvPr>
            <p:ph type="sldNum" idx="10"/>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DD66A0BD-B7E7-48F1-AB0E-27E46EC4DA45}" type="slidenum">
              <a:rPr b="0" lang="en-US" sz="800" strike="noStrike" u="none">
                <a:solidFill>
                  <a:srgbClr val="7a8797"/>
                </a:solidFill>
                <a:effectLst/>
                <a:uFillTx/>
                <a:latin typeface="Arial"/>
                <a:ea typeface="Arial"/>
              </a:rPr>
              <a:t>6</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6. Flume Agent hoạt động như thế nào?</a:t>
            </a:r>
            <a:endParaRPr b="0" lang="en-US" sz="2700" strike="noStrike" u="none">
              <a:solidFill>
                <a:srgbClr val="000000"/>
              </a:solidFill>
              <a:effectLst/>
              <a:uFillTx/>
              <a:latin typeface="Arial"/>
            </a:endParaRPr>
          </a:p>
        </p:txBody>
      </p:sp>
      <p:sp>
        <p:nvSpPr>
          <p:cNvPr id="201"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Một agent gồm 3 thành phần cốt lõi: Source → Channel → Sink.</a:t>
            </a:r>
            <a:endParaRPr b="0" lang="en-US" sz="1250" strike="noStrike" u="none">
              <a:solidFill>
                <a:srgbClr val="000000"/>
              </a:solidFill>
              <a:effectLst/>
              <a:uFillTx/>
              <a:latin typeface="Arial"/>
            </a:endParaRPr>
          </a:p>
        </p:txBody>
      </p:sp>
      <p:sp>
        <p:nvSpPr>
          <p:cNvPr id="202" name="Shape 2"/>
          <p:cNvSpPr/>
          <p:nvPr/>
        </p:nvSpPr>
        <p:spPr>
          <a:xfrm>
            <a:off x="822960" y="1645920"/>
            <a:ext cx="2788560" cy="146268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3" name="Text 3"/>
          <p:cNvSpPr/>
          <p:nvPr/>
        </p:nvSpPr>
        <p:spPr>
          <a:xfrm>
            <a:off x="914400" y="1901880"/>
            <a:ext cx="26056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Arial"/>
              </a:rPr>
              <a:t>SOURCE</a:t>
            </a:r>
            <a:endParaRPr b="0" lang="en-US" sz="1800" strike="noStrike" u="none">
              <a:solidFill>
                <a:srgbClr val="000000"/>
              </a:solidFill>
              <a:effectLst/>
              <a:uFillTx/>
              <a:latin typeface="Arial"/>
            </a:endParaRPr>
          </a:p>
        </p:txBody>
      </p:sp>
      <p:sp>
        <p:nvSpPr>
          <p:cNvPr id="204" name="Text 4"/>
          <p:cNvSpPr/>
          <p:nvPr/>
        </p:nvSpPr>
        <p:spPr>
          <a:xfrm>
            <a:off x="987480" y="2286000"/>
            <a:ext cx="246852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f4f7fb"/>
                </a:solidFill>
                <a:effectLst/>
                <a:uFillTx/>
                <a:latin typeface="Arial"/>
              </a:rPr>
              <a:t>Nhận event từ nguồn</a:t>
            </a:r>
            <a:endParaRPr b="0" lang="en-US" sz="1100" strike="noStrike" u="none">
              <a:solidFill>
                <a:srgbClr val="000000"/>
              </a:solidFill>
              <a:effectLst/>
              <a:uFillTx/>
              <a:latin typeface="Arial"/>
            </a:endParaRPr>
          </a:p>
          <a:p>
            <a:pPr algn="ctr" defTabSz="914400">
              <a:lnSpc>
                <a:spcPct val="100000"/>
              </a:lnSpc>
              <a:tabLst>
                <a:tab algn="l" pos="0"/>
              </a:tabLst>
            </a:pPr>
            <a:r>
              <a:rPr b="0" lang="en-US" sz="1100" strike="noStrike" u="none">
                <a:solidFill>
                  <a:srgbClr val="f4f7fb"/>
                </a:solidFill>
                <a:effectLst/>
                <a:uFillTx/>
                <a:latin typeface="Arial"/>
              </a:rPr>
              <a:t>(exec, spooldir, netcat, Kafka...)</a:t>
            </a:r>
            <a:endParaRPr b="0" lang="en-US" sz="1100" strike="noStrike" u="none">
              <a:solidFill>
                <a:srgbClr val="000000"/>
              </a:solidFill>
              <a:effectLst/>
              <a:uFillTx/>
              <a:latin typeface="Arial"/>
            </a:endParaRPr>
          </a:p>
        </p:txBody>
      </p:sp>
      <p:sp>
        <p:nvSpPr>
          <p:cNvPr id="205" name="Shape 5"/>
          <p:cNvSpPr/>
          <p:nvPr/>
        </p:nvSpPr>
        <p:spPr>
          <a:xfrm>
            <a:off x="3611880" y="2377440"/>
            <a:ext cx="640080" cy="360"/>
          </a:xfrm>
          <a:prstGeom prst="line">
            <a:avLst/>
          </a:prstGeom>
          <a:ln w="25400">
            <a:solidFill>
              <a:srgbClr val="8da0b6"/>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06" name="Shape 6"/>
          <p:cNvSpPr/>
          <p:nvPr/>
        </p:nvSpPr>
        <p:spPr>
          <a:xfrm>
            <a:off x="4251960" y="1645920"/>
            <a:ext cx="2788560" cy="1462680"/>
          </a:xfrm>
          <a:prstGeom prst="roundRect">
            <a:avLst>
              <a:gd name="adj" fmla="val 16667"/>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7" name="Text 7"/>
          <p:cNvSpPr/>
          <p:nvPr/>
        </p:nvSpPr>
        <p:spPr>
          <a:xfrm>
            <a:off x="4343400" y="1901880"/>
            <a:ext cx="26056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Arial"/>
              </a:rPr>
              <a:t>CHANNEL</a:t>
            </a:r>
            <a:endParaRPr b="0" lang="en-US" sz="1800" strike="noStrike" u="none">
              <a:solidFill>
                <a:srgbClr val="000000"/>
              </a:solidFill>
              <a:effectLst/>
              <a:uFillTx/>
              <a:latin typeface="Arial"/>
            </a:endParaRPr>
          </a:p>
        </p:txBody>
      </p:sp>
      <p:sp>
        <p:nvSpPr>
          <p:cNvPr id="208" name="Text 8"/>
          <p:cNvSpPr/>
          <p:nvPr/>
        </p:nvSpPr>
        <p:spPr>
          <a:xfrm>
            <a:off x="4416480" y="2286000"/>
            <a:ext cx="246852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f4f7fb"/>
                </a:solidFill>
                <a:effectLst/>
                <a:uFillTx/>
                <a:latin typeface="Arial"/>
              </a:rPr>
              <a:t>Bộ đệm trung gian</a:t>
            </a:r>
            <a:endParaRPr b="0" lang="en-US" sz="1100" strike="noStrike" u="none">
              <a:solidFill>
                <a:srgbClr val="000000"/>
              </a:solidFill>
              <a:effectLst/>
              <a:uFillTx/>
              <a:latin typeface="Arial"/>
            </a:endParaRPr>
          </a:p>
          <a:p>
            <a:pPr algn="ctr" defTabSz="914400">
              <a:lnSpc>
                <a:spcPct val="100000"/>
              </a:lnSpc>
              <a:tabLst>
                <a:tab algn="l" pos="0"/>
              </a:tabLst>
            </a:pPr>
            <a:r>
              <a:rPr b="0" lang="en-US" sz="1100" strike="noStrike" u="none">
                <a:solidFill>
                  <a:srgbClr val="f4f7fb"/>
                </a:solidFill>
                <a:effectLst/>
                <a:uFillTx/>
                <a:latin typeface="Arial"/>
              </a:rPr>
              <a:t>Memory Channel hoặc File Channel</a:t>
            </a:r>
            <a:endParaRPr b="0" lang="en-US" sz="1100" strike="noStrike" u="none">
              <a:solidFill>
                <a:srgbClr val="000000"/>
              </a:solidFill>
              <a:effectLst/>
              <a:uFillTx/>
              <a:latin typeface="Arial"/>
            </a:endParaRPr>
          </a:p>
        </p:txBody>
      </p:sp>
      <p:sp>
        <p:nvSpPr>
          <p:cNvPr id="209" name="Shape 9"/>
          <p:cNvSpPr/>
          <p:nvPr/>
        </p:nvSpPr>
        <p:spPr>
          <a:xfrm>
            <a:off x="7040880" y="2377440"/>
            <a:ext cx="640080" cy="360"/>
          </a:xfrm>
          <a:prstGeom prst="line">
            <a:avLst/>
          </a:prstGeom>
          <a:ln w="25400">
            <a:solidFill>
              <a:srgbClr val="8da0b6"/>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10" name="Shape 10"/>
          <p:cNvSpPr/>
          <p:nvPr/>
        </p:nvSpPr>
        <p:spPr>
          <a:xfrm>
            <a:off x="7680960" y="1645920"/>
            <a:ext cx="2788560" cy="146268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1" name="Text 11"/>
          <p:cNvSpPr/>
          <p:nvPr/>
        </p:nvSpPr>
        <p:spPr>
          <a:xfrm>
            <a:off x="7772400" y="1901880"/>
            <a:ext cx="26056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Arial"/>
              </a:rPr>
              <a:t>SINK</a:t>
            </a:r>
            <a:endParaRPr b="0" lang="en-US" sz="1800" strike="noStrike" u="none">
              <a:solidFill>
                <a:srgbClr val="000000"/>
              </a:solidFill>
              <a:effectLst/>
              <a:uFillTx/>
              <a:latin typeface="Arial"/>
            </a:endParaRPr>
          </a:p>
        </p:txBody>
      </p:sp>
      <p:sp>
        <p:nvSpPr>
          <p:cNvPr id="212" name="Text 12"/>
          <p:cNvSpPr/>
          <p:nvPr/>
        </p:nvSpPr>
        <p:spPr>
          <a:xfrm>
            <a:off x="7845480" y="2286000"/>
            <a:ext cx="2468520" cy="5299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f4f7fb"/>
                </a:solidFill>
                <a:effectLst/>
                <a:uFillTx/>
                <a:latin typeface="Arial"/>
              </a:rPr>
              <a:t>Đọc event từ channel</a:t>
            </a:r>
            <a:endParaRPr b="0" lang="en-US" sz="1100" strike="noStrike" u="none">
              <a:solidFill>
                <a:srgbClr val="000000"/>
              </a:solidFill>
              <a:effectLst/>
              <a:uFillTx/>
              <a:latin typeface="Arial"/>
            </a:endParaRPr>
          </a:p>
          <a:p>
            <a:pPr algn="ctr" defTabSz="914400">
              <a:lnSpc>
                <a:spcPct val="100000"/>
              </a:lnSpc>
              <a:tabLst>
                <a:tab algn="l" pos="0"/>
              </a:tabLst>
            </a:pPr>
            <a:r>
              <a:rPr b="0" lang="en-US" sz="1100" strike="noStrike" u="none">
                <a:solidFill>
                  <a:srgbClr val="f4f7fb"/>
                </a:solidFill>
                <a:effectLst/>
                <a:uFillTx/>
                <a:latin typeface="Arial"/>
              </a:rPr>
              <a:t>và ghi ra HDFS/HBase/Kafka</a:t>
            </a:r>
            <a:endParaRPr b="0" lang="en-US" sz="1100" strike="noStrike" u="none">
              <a:solidFill>
                <a:srgbClr val="000000"/>
              </a:solidFill>
              <a:effectLst/>
              <a:uFillTx/>
              <a:latin typeface="Arial"/>
            </a:endParaRPr>
          </a:p>
        </p:txBody>
      </p:sp>
      <p:sp>
        <p:nvSpPr>
          <p:cNvPr id="213" name="Shape 13"/>
          <p:cNvSpPr/>
          <p:nvPr/>
        </p:nvSpPr>
        <p:spPr>
          <a:xfrm>
            <a:off x="868680" y="3703320"/>
            <a:ext cx="3245760" cy="1325520"/>
          </a:xfrm>
          <a:prstGeom prst="roundRect">
            <a:avLst>
              <a:gd name="adj" fmla="val 4138"/>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4" name="Shape 14"/>
          <p:cNvSpPr/>
          <p:nvPr/>
        </p:nvSpPr>
        <p:spPr>
          <a:xfrm>
            <a:off x="868680" y="3703320"/>
            <a:ext cx="72720" cy="132552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5" name="Text 15"/>
          <p:cNvSpPr/>
          <p:nvPr/>
        </p:nvSpPr>
        <p:spPr>
          <a:xfrm>
            <a:off x="1051560" y="3849480"/>
            <a:ext cx="29530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Transaction 1</a:t>
            </a:r>
            <a:endParaRPr b="0" lang="en-US" sz="1600" strike="noStrike" u="none">
              <a:solidFill>
                <a:srgbClr val="000000"/>
              </a:solidFill>
              <a:effectLst/>
              <a:uFillTx/>
              <a:latin typeface="Arial"/>
            </a:endParaRPr>
          </a:p>
        </p:txBody>
      </p:sp>
      <p:sp>
        <p:nvSpPr>
          <p:cNvPr id="216" name="Text 16"/>
          <p:cNvSpPr/>
          <p:nvPr/>
        </p:nvSpPr>
        <p:spPr>
          <a:xfrm>
            <a:off x="1051560" y="4233600"/>
            <a:ext cx="2934720" cy="667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60" strike="noStrike" u="none">
                <a:solidFill>
                  <a:srgbClr val="1f2937"/>
                </a:solidFill>
                <a:effectLst/>
                <a:uFillTx/>
                <a:latin typeface="Arial"/>
              </a:rPr>
              <a:t>Source ghi event vào Channel theo transaction. Chỉ commit khi ghi thành công.</a:t>
            </a:r>
            <a:endParaRPr b="0" lang="en-US" sz="1160" strike="noStrike" u="none">
              <a:solidFill>
                <a:srgbClr val="000000"/>
              </a:solidFill>
              <a:effectLst/>
              <a:uFillTx/>
              <a:latin typeface="Arial"/>
            </a:endParaRPr>
          </a:p>
        </p:txBody>
      </p:sp>
      <p:sp>
        <p:nvSpPr>
          <p:cNvPr id="217" name="Shape 17"/>
          <p:cNvSpPr/>
          <p:nvPr/>
        </p:nvSpPr>
        <p:spPr>
          <a:xfrm>
            <a:off x="4480560" y="3703320"/>
            <a:ext cx="3245760" cy="1325520"/>
          </a:xfrm>
          <a:prstGeom prst="roundRect">
            <a:avLst>
              <a:gd name="adj" fmla="val 4138"/>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8" name="Shape 18"/>
          <p:cNvSpPr/>
          <p:nvPr/>
        </p:nvSpPr>
        <p:spPr>
          <a:xfrm>
            <a:off x="4480560" y="3703320"/>
            <a:ext cx="72720" cy="132552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9" name="Text 19"/>
          <p:cNvSpPr/>
          <p:nvPr/>
        </p:nvSpPr>
        <p:spPr>
          <a:xfrm>
            <a:off x="4663440" y="3849480"/>
            <a:ext cx="29530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Transaction 2</a:t>
            </a:r>
            <a:endParaRPr b="0" lang="en-US" sz="1600" strike="noStrike" u="none">
              <a:solidFill>
                <a:srgbClr val="000000"/>
              </a:solidFill>
              <a:effectLst/>
              <a:uFillTx/>
              <a:latin typeface="Arial"/>
            </a:endParaRPr>
          </a:p>
        </p:txBody>
      </p:sp>
      <p:sp>
        <p:nvSpPr>
          <p:cNvPr id="220" name="Text 20"/>
          <p:cNvSpPr/>
          <p:nvPr/>
        </p:nvSpPr>
        <p:spPr>
          <a:xfrm>
            <a:off x="4663440" y="4233600"/>
            <a:ext cx="2934720" cy="667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60" strike="noStrike" u="none">
                <a:solidFill>
                  <a:srgbClr val="1f2937"/>
                </a:solidFill>
                <a:effectLst/>
                <a:uFillTx/>
                <a:latin typeface="Arial"/>
              </a:rPr>
              <a:t>Sink lấy event từ Channel và ghi đến đích. Chỉ xóa event sau khi commit.</a:t>
            </a:r>
            <a:endParaRPr b="0" lang="en-US" sz="1160" strike="noStrike" u="none">
              <a:solidFill>
                <a:srgbClr val="000000"/>
              </a:solidFill>
              <a:effectLst/>
              <a:uFillTx/>
              <a:latin typeface="Arial"/>
            </a:endParaRPr>
          </a:p>
        </p:txBody>
      </p:sp>
      <p:sp>
        <p:nvSpPr>
          <p:cNvPr id="221" name="Shape 21"/>
          <p:cNvSpPr/>
          <p:nvPr/>
        </p:nvSpPr>
        <p:spPr>
          <a:xfrm>
            <a:off x="8092440" y="3703320"/>
            <a:ext cx="3245760" cy="1325520"/>
          </a:xfrm>
          <a:prstGeom prst="roundRect">
            <a:avLst>
              <a:gd name="adj" fmla="val 4138"/>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2" name="Shape 22"/>
          <p:cNvSpPr/>
          <p:nvPr/>
        </p:nvSpPr>
        <p:spPr>
          <a:xfrm>
            <a:off x="8092440" y="3703320"/>
            <a:ext cx="72720" cy="132552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3" name="Text 23"/>
          <p:cNvSpPr/>
          <p:nvPr/>
        </p:nvSpPr>
        <p:spPr>
          <a:xfrm>
            <a:off x="8275320" y="3849480"/>
            <a:ext cx="29530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Ý nghĩa</a:t>
            </a:r>
            <a:endParaRPr b="0" lang="en-US" sz="1600" strike="noStrike" u="none">
              <a:solidFill>
                <a:srgbClr val="000000"/>
              </a:solidFill>
              <a:effectLst/>
              <a:uFillTx/>
              <a:latin typeface="Arial"/>
            </a:endParaRPr>
          </a:p>
        </p:txBody>
      </p:sp>
      <p:sp>
        <p:nvSpPr>
          <p:cNvPr id="224" name="Text 24"/>
          <p:cNvSpPr/>
          <p:nvPr/>
        </p:nvSpPr>
        <p:spPr>
          <a:xfrm>
            <a:off x="8275320" y="4233600"/>
            <a:ext cx="2934720" cy="667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60" strike="noStrike" u="none">
                <a:solidFill>
                  <a:srgbClr val="1f2937"/>
                </a:solidFill>
                <a:effectLst/>
                <a:uFillTx/>
                <a:latin typeface="Arial"/>
              </a:rPr>
              <a:t>Nếu sink tạm lỗi, event có thể vẫn nằm trong Channel và được retry.</a:t>
            </a:r>
            <a:endParaRPr b="0" lang="en-US" sz="1160" strike="noStrike" u="none">
              <a:solidFill>
                <a:srgbClr val="000000"/>
              </a:solidFill>
              <a:effectLst/>
              <a:uFillTx/>
              <a:latin typeface="Arial"/>
            </a:endParaRPr>
          </a:p>
        </p:txBody>
      </p:sp>
      <p:sp>
        <p:nvSpPr>
          <p:cNvPr id="225" name="Shape 25"/>
          <p:cNvSpPr/>
          <p:nvPr/>
        </p:nvSpPr>
        <p:spPr>
          <a:xfrm>
            <a:off x="567000" y="525780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6" name="Text 26"/>
          <p:cNvSpPr/>
          <p:nvPr/>
        </p:nvSpPr>
        <p:spPr>
          <a:xfrm>
            <a:off x="749880" y="541332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227" name="Text 27"/>
          <p:cNvSpPr/>
          <p:nvPr/>
        </p:nvSpPr>
        <p:spPr>
          <a:xfrm>
            <a:off x="1609200" y="5376600"/>
            <a:ext cx="97106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b4d1d"/>
                </a:solidFill>
                <a:effectLst/>
                <a:uFillTx/>
                <a:latin typeface="Arial"/>
              </a:rPr>
              <a:t>Channel là điểm then chốt của Flume: Memory Channel nhanh hơn nhưng kém bền vững; File Channel chậm hơn nhưng ưu tiên độ tin cậy.</a:t>
            </a:r>
            <a:endParaRPr b="0" lang="en-US" sz="1120" strike="noStrike" u="none">
              <a:solidFill>
                <a:srgbClr val="000000"/>
              </a:solidFill>
              <a:effectLst/>
              <a:uFillTx/>
              <a:latin typeface="Arial"/>
            </a:endParaRPr>
          </a:p>
        </p:txBody>
      </p:sp>
      <p:sp>
        <p:nvSpPr>
          <p:cNvPr id="228" name="PlaceHolder 1"/>
          <p:cNvSpPr>
            <a:spLocks noGrp="1"/>
          </p:cNvSpPr>
          <p:nvPr>
            <p:ph type="sldNum" idx="11"/>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A3D1F51A-2ED0-417D-93AC-7A0D90282B2E}" type="slidenum">
              <a:rPr b="0" lang="en-US" sz="800" strike="noStrike" u="none">
                <a:solidFill>
                  <a:srgbClr val="7a8797"/>
                </a:solidFill>
                <a:effectLst/>
                <a:uFillTx/>
                <a:latin typeface="Arial"/>
                <a:ea typeface="Arial"/>
              </a:rPr>
              <a:t>7</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7. Kafka — nền tảng event streaming cho ingestion hiện đại</a:t>
            </a:r>
            <a:endParaRPr b="0" lang="en-US" sz="2700" strike="noStrike" u="none">
              <a:solidFill>
                <a:srgbClr val="000000"/>
              </a:solidFill>
              <a:effectLst/>
              <a:uFillTx/>
              <a:latin typeface="Arial"/>
            </a:endParaRPr>
          </a:p>
        </p:txBody>
      </p:sp>
      <p:sp>
        <p:nvSpPr>
          <p:cNvPr id="230"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Kafka cho phép ghi, lưu và đọc luồng sự kiện phân tán với throughput cao.</a:t>
            </a:r>
            <a:endParaRPr b="0" lang="en-US" sz="1250" strike="noStrike" u="none">
              <a:solidFill>
                <a:srgbClr val="000000"/>
              </a:solidFill>
              <a:effectLst/>
              <a:uFillTx/>
              <a:latin typeface="Arial"/>
            </a:endParaRPr>
          </a:p>
        </p:txBody>
      </p:sp>
      <p:sp>
        <p:nvSpPr>
          <p:cNvPr id="231" name="Shape 2"/>
          <p:cNvSpPr/>
          <p:nvPr/>
        </p:nvSpPr>
        <p:spPr>
          <a:xfrm>
            <a:off x="731520" y="1920240"/>
            <a:ext cx="1874160" cy="91404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2" name="Text 3"/>
          <p:cNvSpPr/>
          <p:nvPr/>
        </p:nvSpPr>
        <p:spPr>
          <a:xfrm>
            <a:off x="868680" y="2130480"/>
            <a:ext cx="159984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PRODUCERS</a:t>
            </a:r>
            <a:endParaRPr b="0" lang="en-US"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ffffff"/>
                </a:solidFill>
                <a:effectLst/>
                <a:uFillTx/>
                <a:latin typeface="Arial"/>
              </a:rPr>
              <a:t>App • IoT • Logs</a:t>
            </a:r>
            <a:endParaRPr b="0" lang="en-US" sz="1300" strike="noStrike" u="none">
              <a:solidFill>
                <a:srgbClr val="000000"/>
              </a:solidFill>
              <a:effectLst/>
              <a:uFillTx/>
              <a:latin typeface="Arial"/>
            </a:endParaRPr>
          </a:p>
        </p:txBody>
      </p:sp>
      <p:sp>
        <p:nvSpPr>
          <p:cNvPr id="233" name="Shape 4"/>
          <p:cNvSpPr/>
          <p:nvPr/>
        </p:nvSpPr>
        <p:spPr>
          <a:xfrm>
            <a:off x="4160520" y="1417320"/>
            <a:ext cx="3794400" cy="1965600"/>
          </a:xfrm>
          <a:prstGeom prst="roundRect">
            <a:avLst>
              <a:gd name="adj" fmla="val 16667"/>
            </a:avLst>
          </a:prstGeom>
          <a:solidFill>
            <a:srgbClr val="ffffff"/>
          </a:solidFill>
          <a:ln w="19050">
            <a:solidFill>
              <a:srgbClr val="c9d7e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4" name="Text 5"/>
          <p:cNvSpPr/>
          <p:nvPr/>
        </p:nvSpPr>
        <p:spPr>
          <a:xfrm>
            <a:off x="4892040" y="1627560"/>
            <a:ext cx="22856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trike="noStrike" u="none">
                <a:solidFill>
                  <a:srgbClr val="16324f"/>
                </a:solidFill>
                <a:effectLst/>
                <a:uFillTx/>
                <a:latin typeface="Arial"/>
              </a:rPr>
              <a:t>KAFKA CLUSTER</a:t>
            </a:r>
            <a:endParaRPr b="0" lang="en-US" sz="1700" strike="noStrike" u="none">
              <a:solidFill>
                <a:srgbClr val="000000"/>
              </a:solidFill>
              <a:effectLst/>
              <a:uFillTx/>
              <a:latin typeface="Arial"/>
            </a:endParaRPr>
          </a:p>
        </p:txBody>
      </p:sp>
      <p:sp>
        <p:nvSpPr>
          <p:cNvPr id="235" name="Shape 6"/>
          <p:cNvSpPr/>
          <p:nvPr/>
        </p:nvSpPr>
        <p:spPr>
          <a:xfrm>
            <a:off x="4526280" y="2148840"/>
            <a:ext cx="749520" cy="59400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6" name="Text 7"/>
          <p:cNvSpPr/>
          <p:nvPr/>
        </p:nvSpPr>
        <p:spPr>
          <a:xfrm>
            <a:off x="4572000" y="2340720"/>
            <a:ext cx="658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Arial"/>
              </a:rPr>
              <a:t>P0</a:t>
            </a:r>
            <a:endParaRPr b="0" lang="en-US" sz="1200" strike="noStrike" u="none">
              <a:solidFill>
                <a:srgbClr val="000000"/>
              </a:solidFill>
              <a:effectLst/>
              <a:uFillTx/>
              <a:latin typeface="Arial"/>
            </a:endParaRPr>
          </a:p>
        </p:txBody>
      </p:sp>
      <p:sp>
        <p:nvSpPr>
          <p:cNvPr id="237" name="Shape 8"/>
          <p:cNvSpPr/>
          <p:nvPr/>
        </p:nvSpPr>
        <p:spPr>
          <a:xfrm>
            <a:off x="5486400" y="2148840"/>
            <a:ext cx="749520" cy="59400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8" name="Text 9"/>
          <p:cNvSpPr/>
          <p:nvPr/>
        </p:nvSpPr>
        <p:spPr>
          <a:xfrm>
            <a:off x="5532120" y="2340720"/>
            <a:ext cx="658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Arial"/>
              </a:rPr>
              <a:t>P1</a:t>
            </a:r>
            <a:endParaRPr b="0" lang="en-US" sz="1200" strike="noStrike" u="none">
              <a:solidFill>
                <a:srgbClr val="000000"/>
              </a:solidFill>
              <a:effectLst/>
              <a:uFillTx/>
              <a:latin typeface="Arial"/>
            </a:endParaRPr>
          </a:p>
        </p:txBody>
      </p:sp>
      <p:sp>
        <p:nvSpPr>
          <p:cNvPr id="239" name="Shape 10"/>
          <p:cNvSpPr/>
          <p:nvPr/>
        </p:nvSpPr>
        <p:spPr>
          <a:xfrm>
            <a:off x="6446520" y="2148840"/>
            <a:ext cx="749520" cy="59400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0" name="Text 11"/>
          <p:cNvSpPr/>
          <p:nvPr/>
        </p:nvSpPr>
        <p:spPr>
          <a:xfrm>
            <a:off x="6492240" y="2340720"/>
            <a:ext cx="658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Arial"/>
              </a:rPr>
              <a:t>P2</a:t>
            </a:r>
            <a:endParaRPr b="0" lang="en-US" sz="1200" strike="noStrike" u="none">
              <a:solidFill>
                <a:srgbClr val="000000"/>
              </a:solidFill>
              <a:effectLst/>
              <a:uFillTx/>
              <a:latin typeface="Arial"/>
            </a:endParaRPr>
          </a:p>
        </p:txBody>
      </p:sp>
      <p:sp>
        <p:nvSpPr>
          <p:cNvPr id="241" name="Text 12"/>
          <p:cNvSpPr/>
          <p:nvPr/>
        </p:nvSpPr>
        <p:spPr>
          <a:xfrm>
            <a:off x="4873680" y="2898720"/>
            <a:ext cx="228564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5f6b7a"/>
                </a:solidFill>
                <a:effectLst/>
                <a:uFillTx/>
                <a:latin typeface="Arial"/>
              </a:rPr>
              <a:t>Topic: orders</a:t>
            </a:r>
            <a:endParaRPr b="0" lang="en-US" sz="1100" strike="noStrike" u="none">
              <a:solidFill>
                <a:srgbClr val="000000"/>
              </a:solidFill>
              <a:effectLst/>
              <a:uFillTx/>
              <a:latin typeface="Arial"/>
            </a:endParaRPr>
          </a:p>
        </p:txBody>
      </p:sp>
      <p:sp>
        <p:nvSpPr>
          <p:cNvPr id="242" name="Shape 13"/>
          <p:cNvSpPr/>
          <p:nvPr/>
        </p:nvSpPr>
        <p:spPr>
          <a:xfrm>
            <a:off x="9464040" y="1920240"/>
            <a:ext cx="1874160" cy="914040"/>
          </a:xfrm>
          <a:prstGeom prst="roundRect">
            <a:avLst>
              <a:gd name="adj" fmla="val 16667"/>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3" name="Text 14"/>
          <p:cNvSpPr/>
          <p:nvPr/>
        </p:nvSpPr>
        <p:spPr>
          <a:xfrm>
            <a:off x="9601200" y="2130480"/>
            <a:ext cx="159984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CONSUMERS</a:t>
            </a:r>
            <a:endParaRPr b="0" lang="en-US" sz="1300" strike="noStrike" u="none">
              <a:solidFill>
                <a:srgbClr val="000000"/>
              </a:solidFill>
              <a:effectLst/>
              <a:uFillTx/>
              <a:latin typeface="Arial"/>
            </a:endParaRPr>
          </a:p>
          <a:p>
            <a:pPr algn="ctr" defTabSz="914400">
              <a:lnSpc>
                <a:spcPct val="100000"/>
              </a:lnSpc>
              <a:tabLst>
                <a:tab algn="l" pos="0"/>
              </a:tabLst>
            </a:pPr>
            <a:r>
              <a:rPr b="1" lang="en-US" sz="1300" strike="noStrike" u="none">
                <a:solidFill>
                  <a:srgbClr val="ffffff"/>
                </a:solidFill>
                <a:effectLst/>
                <a:uFillTx/>
                <a:latin typeface="Arial"/>
              </a:rPr>
              <a:t>Spark • DB • Services</a:t>
            </a:r>
            <a:endParaRPr b="0" lang="en-US" sz="1300" strike="noStrike" u="none">
              <a:solidFill>
                <a:srgbClr val="000000"/>
              </a:solidFill>
              <a:effectLst/>
              <a:uFillTx/>
              <a:latin typeface="Arial"/>
            </a:endParaRPr>
          </a:p>
        </p:txBody>
      </p:sp>
      <p:sp>
        <p:nvSpPr>
          <p:cNvPr id="244" name="Shape 15"/>
          <p:cNvSpPr/>
          <p:nvPr/>
        </p:nvSpPr>
        <p:spPr>
          <a:xfrm>
            <a:off x="2606040" y="2377440"/>
            <a:ext cx="1554480" cy="360"/>
          </a:xfrm>
          <a:prstGeom prst="line">
            <a:avLst/>
          </a:prstGeom>
          <a:ln w="25400">
            <a:solidFill>
              <a:srgbClr val="00a6a6"/>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45" name="Shape 16"/>
          <p:cNvSpPr/>
          <p:nvPr/>
        </p:nvSpPr>
        <p:spPr>
          <a:xfrm>
            <a:off x="7955280" y="2377440"/>
            <a:ext cx="1508760" cy="360"/>
          </a:xfrm>
          <a:prstGeom prst="line">
            <a:avLst/>
          </a:prstGeom>
          <a:ln w="25400">
            <a:solidFill>
              <a:srgbClr val="2e7d3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46" name="Shape 17"/>
          <p:cNvSpPr/>
          <p:nvPr/>
        </p:nvSpPr>
        <p:spPr>
          <a:xfrm>
            <a:off x="731520" y="3886200"/>
            <a:ext cx="3245760" cy="1279800"/>
          </a:xfrm>
          <a:prstGeom prst="roundRect">
            <a:avLst>
              <a:gd name="adj" fmla="val 4286"/>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7" name="Shape 18"/>
          <p:cNvSpPr/>
          <p:nvPr/>
        </p:nvSpPr>
        <p:spPr>
          <a:xfrm>
            <a:off x="731520" y="3886200"/>
            <a:ext cx="72720" cy="127980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8" name="Text 19"/>
          <p:cNvSpPr/>
          <p:nvPr/>
        </p:nvSpPr>
        <p:spPr>
          <a:xfrm>
            <a:off x="914400" y="4032360"/>
            <a:ext cx="29530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Topic</a:t>
            </a:r>
            <a:endParaRPr b="0" lang="en-US" sz="1600" strike="noStrike" u="none">
              <a:solidFill>
                <a:srgbClr val="000000"/>
              </a:solidFill>
              <a:effectLst/>
              <a:uFillTx/>
              <a:latin typeface="Arial"/>
            </a:endParaRPr>
          </a:p>
        </p:txBody>
      </p:sp>
      <p:sp>
        <p:nvSpPr>
          <p:cNvPr id="249" name="Text 20"/>
          <p:cNvSpPr/>
          <p:nvPr/>
        </p:nvSpPr>
        <p:spPr>
          <a:xfrm>
            <a:off x="914400" y="4416480"/>
            <a:ext cx="2934720" cy="62136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60" strike="noStrike" u="none">
                <a:solidFill>
                  <a:srgbClr val="1f2937"/>
                </a:solidFill>
                <a:effectLst/>
                <a:uFillTx/>
                <a:latin typeface="Arial"/>
              </a:rPr>
              <a:t>Luồng sự kiện theo chủ đề, ví dụ orders, clicks, payments.</a:t>
            </a:r>
            <a:endParaRPr b="0" lang="en-US" sz="1160" strike="noStrike" u="none">
              <a:solidFill>
                <a:srgbClr val="000000"/>
              </a:solidFill>
              <a:effectLst/>
              <a:uFillTx/>
              <a:latin typeface="Arial"/>
            </a:endParaRPr>
          </a:p>
        </p:txBody>
      </p:sp>
      <p:sp>
        <p:nvSpPr>
          <p:cNvPr id="250" name="Shape 21"/>
          <p:cNvSpPr/>
          <p:nvPr/>
        </p:nvSpPr>
        <p:spPr>
          <a:xfrm>
            <a:off x="4480560" y="3886200"/>
            <a:ext cx="3245760" cy="1279800"/>
          </a:xfrm>
          <a:prstGeom prst="roundRect">
            <a:avLst>
              <a:gd name="adj" fmla="val 4286"/>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1" name="Shape 22"/>
          <p:cNvSpPr/>
          <p:nvPr/>
        </p:nvSpPr>
        <p:spPr>
          <a:xfrm>
            <a:off x="4480560" y="3886200"/>
            <a:ext cx="72720" cy="12798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2" name="Text 23"/>
          <p:cNvSpPr/>
          <p:nvPr/>
        </p:nvSpPr>
        <p:spPr>
          <a:xfrm>
            <a:off x="4663440" y="4032360"/>
            <a:ext cx="29530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Partition</a:t>
            </a:r>
            <a:endParaRPr b="0" lang="en-US" sz="1600" strike="noStrike" u="none">
              <a:solidFill>
                <a:srgbClr val="000000"/>
              </a:solidFill>
              <a:effectLst/>
              <a:uFillTx/>
              <a:latin typeface="Arial"/>
            </a:endParaRPr>
          </a:p>
        </p:txBody>
      </p:sp>
      <p:sp>
        <p:nvSpPr>
          <p:cNvPr id="253" name="Text 24"/>
          <p:cNvSpPr/>
          <p:nvPr/>
        </p:nvSpPr>
        <p:spPr>
          <a:xfrm>
            <a:off x="4663440" y="4416480"/>
            <a:ext cx="2934720" cy="62136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60" strike="noStrike" u="none">
                <a:solidFill>
                  <a:srgbClr val="1f2937"/>
                </a:solidFill>
                <a:effectLst/>
                <a:uFillTx/>
                <a:latin typeface="Arial"/>
              </a:rPr>
              <a:t>Chia topic để xử lý song song và tăng throughput.</a:t>
            </a:r>
            <a:endParaRPr b="0" lang="en-US" sz="1160" strike="noStrike" u="none">
              <a:solidFill>
                <a:srgbClr val="000000"/>
              </a:solidFill>
              <a:effectLst/>
              <a:uFillTx/>
              <a:latin typeface="Arial"/>
            </a:endParaRPr>
          </a:p>
        </p:txBody>
      </p:sp>
      <p:sp>
        <p:nvSpPr>
          <p:cNvPr id="254" name="Shape 25"/>
          <p:cNvSpPr/>
          <p:nvPr/>
        </p:nvSpPr>
        <p:spPr>
          <a:xfrm>
            <a:off x="8229600" y="3886200"/>
            <a:ext cx="3108600" cy="1279800"/>
          </a:xfrm>
          <a:prstGeom prst="roundRect">
            <a:avLst>
              <a:gd name="adj" fmla="val 4286"/>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5" name="Shape 26"/>
          <p:cNvSpPr/>
          <p:nvPr/>
        </p:nvSpPr>
        <p:spPr>
          <a:xfrm>
            <a:off x="8229600" y="3886200"/>
            <a:ext cx="72720" cy="127980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6" name="Text 27"/>
          <p:cNvSpPr/>
          <p:nvPr/>
        </p:nvSpPr>
        <p:spPr>
          <a:xfrm>
            <a:off x="8412480" y="4032360"/>
            <a:ext cx="28159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Consumer Group</a:t>
            </a:r>
            <a:endParaRPr b="0" lang="en-US" sz="1600" strike="noStrike" u="none">
              <a:solidFill>
                <a:srgbClr val="000000"/>
              </a:solidFill>
              <a:effectLst/>
              <a:uFillTx/>
              <a:latin typeface="Arial"/>
            </a:endParaRPr>
          </a:p>
        </p:txBody>
      </p:sp>
      <p:sp>
        <p:nvSpPr>
          <p:cNvPr id="257" name="Text 28"/>
          <p:cNvSpPr/>
          <p:nvPr/>
        </p:nvSpPr>
        <p:spPr>
          <a:xfrm>
            <a:off x="8412480" y="4416480"/>
            <a:ext cx="2797560" cy="62136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60" strike="noStrike" u="none">
                <a:solidFill>
                  <a:srgbClr val="1f2937"/>
                </a:solidFill>
                <a:effectLst/>
                <a:uFillTx/>
                <a:latin typeface="Arial"/>
              </a:rPr>
              <a:t>Nhiều consumer cùng nhóm chia nhau đọc các partition.</a:t>
            </a:r>
            <a:endParaRPr b="0" lang="en-US" sz="1160" strike="noStrike" u="none">
              <a:solidFill>
                <a:srgbClr val="000000"/>
              </a:solidFill>
              <a:effectLst/>
              <a:uFillTx/>
              <a:latin typeface="Arial"/>
            </a:endParaRPr>
          </a:p>
        </p:txBody>
      </p:sp>
      <p:sp>
        <p:nvSpPr>
          <p:cNvPr id="258" name="Shape 29"/>
          <p:cNvSpPr/>
          <p:nvPr/>
        </p:nvSpPr>
        <p:spPr>
          <a:xfrm>
            <a:off x="567000" y="533088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9" name="Text 30"/>
          <p:cNvSpPr/>
          <p:nvPr/>
        </p:nvSpPr>
        <p:spPr>
          <a:xfrm>
            <a:off x="749880" y="548640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260" name="Text 31"/>
          <p:cNvSpPr/>
          <p:nvPr/>
        </p:nvSpPr>
        <p:spPr>
          <a:xfrm>
            <a:off x="1609200" y="544968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Khác Flume, Kafka còn lưu event như một distributed log và cho nhiều nhóm consumer đọc độc lập. Vì vậy Kafka thường là “xương sống” của pipeline realtime.</a:t>
            </a:r>
            <a:endParaRPr b="0" lang="en-US" sz="1120" strike="noStrike" u="none">
              <a:solidFill>
                <a:srgbClr val="000000"/>
              </a:solidFill>
              <a:effectLst/>
              <a:uFillTx/>
              <a:latin typeface="Arial"/>
            </a:endParaRPr>
          </a:p>
        </p:txBody>
      </p:sp>
      <p:sp>
        <p:nvSpPr>
          <p:cNvPr id="261" name="Text 32"/>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bổ sung: Apache Kafka Introduction (official).</a:t>
            </a:r>
            <a:endParaRPr b="0" lang="en-US" sz="720" strike="noStrike" u="none">
              <a:solidFill>
                <a:srgbClr val="000000"/>
              </a:solidFill>
              <a:effectLst/>
              <a:uFillTx/>
              <a:latin typeface="Arial"/>
            </a:endParaRPr>
          </a:p>
        </p:txBody>
      </p:sp>
      <p:sp>
        <p:nvSpPr>
          <p:cNvPr id="262" name="PlaceHolder 1"/>
          <p:cNvSpPr>
            <a:spLocks noGrp="1"/>
          </p:cNvSpPr>
          <p:nvPr>
            <p:ph type="sldNum" idx="12"/>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89D5F138-0EF2-4EFE-813C-471B9036F147}" type="slidenum">
              <a:rPr b="0" lang="en-US" sz="800" strike="noStrike" u="none">
                <a:solidFill>
                  <a:srgbClr val="7a8797"/>
                </a:solidFill>
                <a:effectLst/>
                <a:uFillTx/>
                <a:latin typeface="Arial"/>
                <a:ea typeface="Arial"/>
              </a:rPr>
              <a:t>8</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8. Khi nào dùng Sqoop, Flume hay Kafka?</a:t>
            </a:r>
            <a:endParaRPr b="0" lang="en-US" sz="2700" strike="noStrike" u="none">
              <a:solidFill>
                <a:srgbClr val="000000"/>
              </a:solidFill>
              <a:effectLst/>
              <a:uFillTx/>
              <a:latin typeface="Arial"/>
            </a:endParaRPr>
          </a:p>
        </p:txBody>
      </p:sp>
      <p:sp>
        <p:nvSpPr>
          <p:cNvPr id="264"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Không có công cụ “tốt nhất” cho mọi trường hợp — hãy chọn theo loại nguồn và yêu cầu độ trễ.</a:t>
            </a:r>
            <a:endParaRPr b="0" lang="en-US" sz="1250" strike="noStrike" u="none">
              <a:solidFill>
                <a:srgbClr val="000000"/>
              </a:solidFill>
              <a:effectLst/>
              <a:uFillTx/>
              <a:latin typeface="Arial"/>
            </a:endParaRPr>
          </a:p>
        </p:txBody>
      </p:sp>
      <p:sp>
        <p:nvSpPr>
          <p:cNvPr id="265" name="Shape 2"/>
          <p:cNvSpPr/>
          <p:nvPr/>
        </p:nvSpPr>
        <p:spPr>
          <a:xfrm>
            <a:off x="594360" y="1508760"/>
            <a:ext cx="141696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6" name="Text 3"/>
          <p:cNvSpPr/>
          <p:nvPr/>
        </p:nvSpPr>
        <p:spPr>
          <a:xfrm>
            <a:off x="649080" y="1664280"/>
            <a:ext cx="130716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20" strike="noStrike" u="none">
                <a:solidFill>
                  <a:srgbClr val="ffffff"/>
                </a:solidFill>
                <a:effectLst/>
                <a:uFillTx/>
                <a:latin typeface="Arial"/>
              </a:rPr>
              <a:t>Công cụ</a:t>
            </a:r>
            <a:endParaRPr b="0" lang="en-US" sz="1120" strike="noStrike" u="none">
              <a:solidFill>
                <a:srgbClr val="000000"/>
              </a:solidFill>
              <a:effectLst/>
              <a:uFillTx/>
              <a:latin typeface="Arial"/>
            </a:endParaRPr>
          </a:p>
        </p:txBody>
      </p:sp>
      <p:sp>
        <p:nvSpPr>
          <p:cNvPr id="267" name="Shape 4"/>
          <p:cNvSpPr/>
          <p:nvPr/>
        </p:nvSpPr>
        <p:spPr>
          <a:xfrm>
            <a:off x="2057400" y="1508760"/>
            <a:ext cx="237708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8" name="Text 5"/>
          <p:cNvSpPr/>
          <p:nvPr/>
        </p:nvSpPr>
        <p:spPr>
          <a:xfrm>
            <a:off x="2112120" y="1664280"/>
            <a:ext cx="2267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20" strike="noStrike" u="none">
                <a:solidFill>
                  <a:srgbClr val="ffffff"/>
                </a:solidFill>
                <a:effectLst/>
                <a:uFillTx/>
                <a:latin typeface="Arial"/>
              </a:rPr>
              <a:t>Nguồn phù hợp</a:t>
            </a:r>
            <a:endParaRPr b="0" lang="en-US" sz="1120" strike="noStrike" u="none">
              <a:solidFill>
                <a:srgbClr val="000000"/>
              </a:solidFill>
              <a:effectLst/>
              <a:uFillTx/>
              <a:latin typeface="Arial"/>
            </a:endParaRPr>
          </a:p>
        </p:txBody>
      </p:sp>
      <p:sp>
        <p:nvSpPr>
          <p:cNvPr id="269" name="Shape 6"/>
          <p:cNvSpPr/>
          <p:nvPr/>
        </p:nvSpPr>
        <p:spPr>
          <a:xfrm>
            <a:off x="4526280" y="1508760"/>
            <a:ext cx="178272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0" name="Text 7"/>
          <p:cNvSpPr/>
          <p:nvPr/>
        </p:nvSpPr>
        <p:spPr>
          <a:xfrm>
            <a:off x="4581000" y="1664280"/>
            <a:ext cx="16729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20" strike="noStrike" u="none">
                <a:solidFill>
                  <a:srgbClr val="ffffff"/>
                </a:solidFill>
                <a:effectLst/>
                <a:uFillTx/>
                <a:latin typeface="Arial"/>
              </a:rPr>
              <a:t>Kiểu ingest</a:t>
            </a:r>
            <a:endParaRPr b="0" lang="en-US" sz="1120" strike="noStrike" u="none">
              <a:solidFill>
                <a:srgbClr val="000000"/>
              </a:solidFill>
              <a:effectLst/>
              <a:uFillTx/>
              <a:latin typeface="Arial"/>
            </a:endParaRPr>
          </a:p>
        </p:txBody>
      </p:sp>
      <p:sp>
        <p:nvSpPr>
          <p:cNvPr id="271" name="Shape 8"/>
          <p:cNvSpPr/>
          <p:nvPr/>
        </p:nvSpPr>
        <p:spPr>
          <a:xfrm>
            <a:off x="6400800" y="1508760"/>
            <a:ext cx="223992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2" name="Text 9"/>
          <p:cNvSpPr/>
          <p:nvPr/>
        </p:nvSpPr>
        <p:spPr>
          <a:xfrm>
            <a:off x="6455520" y="1664280"/>
            <a:ext cx="21301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20" strike="noStrike" u="none">
                <a:solidFill>
                  <a:srgbClr val="ffffff"/>
                </a:solidFill>
                <a:effectLst/>
                <a:uFillTx/>
                <a:latin typeface="Arial"/>
              </a:rPr>
              <a:t>Điểm mạnh</a:t>
            </a:r>
            <a:endParaRPr b="0" lang="en-US" sz="1120" strike="noStrike" u="none">
              <a:solidFill>
                <a:srgbClr val="000000"/>
              </a:solidFill>
              <a:effectLst/>
              <a:uFillTx/>
              <a:latin typeface="Arial"/>
            </a:endParaRPr>
          </a:p>
        </p:txBody>
      </p:sp>
      <p:sp>
        <p:nvSpPr>
          <p:cNvPr id="273" name="Shape 10"/>
          <p:cNvSpPr/>
          <p:nvPr/>
        </p:nvSpPr>
        <p:spPr>
          <a:xfrm>
            <a:off x="8732520" y="1508760"/>
            <a:ext cx="2880000" cy="502560"/>
          </a:xfrm>
          <a:prstGeom prst="rect">
            <a:avLst/>
          </a:prstGeom>
          <a:solidFill>
            <a:srgbClr val="16324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4" name="Text 11"/>
          <p:cNvSpPr/>
          <p:nvPr/>
        </p:nvSpPr>
        <p:spPr>
          <a:xfrm>
            <a:off x="8787240" y="1664280"/>
            <a:ext cx="27702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20" strike="noStrike" u="none">
                <a:solidFill>
                  <a:srgbClr val="ffffff"/>
                </a:solidFill>
                <a:effectLst/>
                <a:uFillTx/>
                <a:latin typeface="Arial"/>
              </a:rPr>
              <a:t>Lưu ý</a:t>
            </a:r>
            <a:endParaRPr b="0" lang="en-US" sz="1120" strike="noStrike" u="none">
              <a:solidFill>
                <a:srgbClr val="000000"/>
              </a:solidFill>
              <a:effectLst/>
              <a:uFillTx/>
              <a:latin typeface="Arial"/>
            </a:endParaRPr>
          </a:p>
        </p:txBody>
      </p:sp>
      <p:sp>
        <p:nvSpPr>
          <p:cNvPr id="275" name="Shape 12"/>
          <p:cNvSpPr/>
          <p:nvPr/>
        </p:nvSpPr>
        <p:spPr>
          <a:xfrm>
            <a:off x="594360" y="2011680"/>
            <a:ext cx="1416960" cy="950760"/>
          </a:xfrm>
          <a:prstGeom prst="rect">
            <a:avLst/>
          </a:prstGeom>
          <a:solidFill>
            <a:srgbClr val="eaf2fb"/>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6" name="Text 13"/>
          <p:cNvSpPr/>
          <p:nvPr/>
        </p:nvSpPr>
        <p:spPr>
          <a:xfrm>
            <a:off x="667440" y="2240280"/>
            <a:ext cx="1270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30" strike="noStrike" u="none">
                <a:solidFill>
                  <a:srgbClr val="16324f"/>
                </a:solidFill>
                <a:effectLst/>
                <a:uFillTx/>
                <a:latin typeface="Arial"/>
              </a:rPr>
              <a:t>Sqoop</a:t>
            </a:r>
            <a:endParaRPr b="0" lang="en-US" sz="1130" strike="noStrike" u="none">
              <a:solidFill>
                <a:srgbClr val="000000"/>
              </a:solidFill>
              <a:effectLst/>
              <a:uFillTx/>
              <a:latin typeface="Arial"/>
            </a:endParaRPr>
          </a:p>
        </p:txBody>
      </p:sp>
      <p:sp>
        <p:nvSpPr>
          <p:cNvPr id="277" name="Shape 14"/>
          <p:cNvSpPr/>
          <p:nvPr/>
        </p:nvSpPr>
        <p:spPr>
          <a:xfrm>
            <a:off x="2057400" y="2011680"/>
            <a:ext cx="2377080" cy="950760"/>
          </a:xfrm>
          <a:prstGeom prst="rect">
            <a:avLst/>
          </a:prstGeom>
          <a:solidFill>
            <a:srgbClr val="eaf2fb"/>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8" name="Text 15"/>
          <p:cNvSpPr/>
          <p:nvPr/>
        </p:nvSpPr>
        <p:spPr>
          <a:xfrm>
            <a:off x="2130480" y="2240280"/>
            <a:ext cx="2230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RDBMS</a:t>
            </a:r>
            <a:endParaRPr b="0" lang="en-US" sz="1130" strike="noStrike" u="none">
              <a:solidFill>
                <a:srgbClr val="000000"/>
              </a:solidFill>
              <a:effectLst/>
              <a:uFillTx/>
              <a:latin typeface="Arial"/>
            </a:endParaRPr>
          </a:p>
        </p:txBody>
      </p:sp>
      <p:sp>
        <p:nvSpPr>
          <p:cNvPr id="279" name="Shape 16"/>
          <p:cNvSpPr/>
          <p:nvPr/>
        </p:nvSpPr>
        <p:spPr>
          <a:xfrm>
            <a:off x="4526280" y="2011680"/>
            <a:ext cx="1782720" cy="950760"/>
          </a:xfrm>
          <a:prstGeom prst="rect">
            <a:avLst/>
          </a:prstGeom>
          <a:solidFill>
            <a:srgbClr val="eaf2fb"/>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0" name="Text 17"/>
          <p:cNvSpPr/>
          <p:nvPr/>
        </p:nvSpPr>
        <p:spPr>
          <a:xfrm>
            <a:off x="4599360" y="2240280"/>
            <a:ext cx="163656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Batch</a:t>
            </a:r>
            <a:endParaRPr b="0" lang="en-US" sz="1130" strike="noStrike" u="none">
              <a:solidFill>
                <a:srgbClr val="000000"/>
              </a:solidFill>
              <a:effectLst/>
              <a:uFillTx/>
              <a:latin typeface="Arial"/>
            </a:endParaRPr>
          </a:p>
        </p:txBody>
      </p:sp>
      <p:sp>
        <p:nvSpPr>
          <p:cNvPr id="281" name="Shape 18"/>
          <p:cNvSpPr/>
          <p:nvPr/>
        </p:nvSpPr>
        <p:spPr>
          <a:xfrm>
            <a:off x="6400800" y="2011680"/>
            <a:ext cx="2239920" cy="950760"/>
          </a:xfrm>
          <a:prstGeom prst="rect">
            <a:avLst/>
          </a:prstGeom>
          <a:solidFill>
            <a:srgbClr val="eaf2fb"/>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2" name="Text 19"/>
          <p:cNvSpPr/>
          <p:nvPr/>
        </p:nvSpPr>
        <p:spPr>
          <a:xfrm>
            <a:off x="6473880" y="2240280"/>
            <a:ext cx="209376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Import/export bảng lớn</a:t>
            </a:r>
            <a:endParaRPr b="0" lang="en-US" sz="1130" strike="noStrike" u="none">
              <a:solidFill>
                <a:srgbClr val="000000"/>
              </a:solidFill>
              <a:effectLst/>
              <a:uFillTx/>
              <a:latin typeface="Arial"/>
            </a:endParaRPr>
          </a:p>
        </p:txBody>
      </p:sp>
      <p:sp>
        <p:nvSpPr>
          <p:cNvPr id="283" name="Shape 20"/>
          <p:cNvSpPr/>
          <p:nvPr/>
        </p:nvSpPr>
        <p:spPr>
          <a:xfrm>
            <a:off x="8732520" y="2011680"/>
            <a:ext cx="2880000" cy="950760"/>
          </a:xfrm>
          <a:prstGeom prst="rect">
            <a:avLst/>
          </a:prstGeom>
          <a:solidFill>
            <a:srgbClr val="eaf2fb"/>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4" name="Text 21"/>
          <p:cNvSpPr/>
          <p:nvPr/>
        </p:nvSpPr>
        <p:spPr>
          <a:xfrm>
            <a:off x="8805600" y="2240280"/>
            <a:ext cx="273384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Legacy/retired; học để hiểu mô hình</a:t>
            </a:r>
            <a:endParaRPr b="0" lang="en-US" sz="1130" strike="noStrike" u="none">
              <a:solidFill>
                <a:srgbClr val="000000"/>
              </a:solidFill>
              <a:effectLst/>
              <a:uFillTx/>
              <a:latin typeface="Arial"/>
            </a:endParaRPr>
          </a:p>
        </p:txBody>
      </p:sp>
      <p:sp>
        <p:nvSpPr>
          <p:cNvPr id="285" name="Shape 22"/>
          <p:cNvSpPr/>
          <p:nvPr/>
        </p:nvSpPr>
        <p:spPr>
          <a:xfrm>
            <a:off x="594360" y="2962800"/>
            <a:ext cx="1416960" cy="950760"/>
          </a:xfrm>
          <a:prstGeom prst="rect">
            <a:avLst/>
          </a:prstGeom>
          <a:solidFill>
            <a:srgbClr val="eaf7f6"/>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6" name="Text 23"/>
          <p:cNvSpPr/>
          <p:nvPr/>
        </p:nvSpPr>
        <p:spPr>
          <a:xfrm>
            <a:off x="667440" y="3191400"/>
            <a:ext cx="1270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30" strike="noStrike" u="none">
                <a:solidFill>
                  <a:srgbClr val="16324f"/>
                </a:solidFill>
                <a:effectLst/>
                <a:uFillTx/>
                <a:latin typeface="Arial"/>
              </a:rPr>
              <a:t>Flume</a:t>
            </a:r>
            <a:endParaRPr b="0" lang="en-US" sz="1130" strike="noStrike" u="none">
              <a:solidFill>
                <a:srgbClr val="000000"/>
              </a:solidFill>
              <a:effectLst/>
              <a:uFillTx/>
              <a:latin typeface="Arial"/>
            </a:endParaRPr>
          </a:p>
        </p:txBody>
      </p:sp>
      <p:sp>
        <p:nvSpPr>
          <p:cNvPr id="287" name="Shape 24"/>
          <p:cNvSpPr/>
          <p:nvPr/>
        </p:nvSpPr>
        <p:spPr>
          <a:xfrm>
            <a:off x="2057400" y="2962800"/>
            <a:ext cx="2377080" cy="950760"/>
          </a:xfrm>
          <a:prstGeom prst="rect">
            <a:avLst/>
          </a:prstGeom>
          <a:solidFill>
            <a:srgbClr val="eaf7f6"/>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8" name="Text 25"/>
          <p:cNvSpPr/>
          <p:nvPr/>
        </p:nvSpPr>
        <p:spPr>
          <a:xfrm>
            <a:off x="2130480" y="3191400"/>
            <a:ext cx="2230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Logs / events</a:t>
            </a:r>
            <a:endParaRPr b="0" lang="en-US" sz="1130" strike="noStrike" u="none">
              <a:solidFill>
                <a:srgbClr val="000000"/>
              </a:solidFill>
              <a:effectLst/>
              <a:uFillTx/>
              <a:latin typeface="Arial"/>
            </a:endParaRPr>
          </a:p>
        </p:txBody>
      </p:sp>
      <p:sp>
        <p:nvSpPr>
          <p:cNvPr id="289" name="Shape 26"/>
          <p:cNvSpPr/>
          <p:nvPr/>
        </p:nvSpPr>
        <p:spPr>
          <a:xfrm>
            <a:off x="4526280" y="2962800"/>
            <a:ext cx="1782720" cy="950760"/>
          </a:xfrm>
          <a:prstGeom prst="rect">
            <a:avLst/>
          </a:prstGeom>
          <a:solidFill>
            <a:srgbClr val="eaf7f6"/>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0" name="Text 27"/>
          <p:cNvSpPr/>
          <p:nvPr/>
        </p:nvSpPr>
        <p:spPr>
          <a:xfrm>
            <a:off x="4599360" y="3191400"/>
            <a:ext cx="163656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Streaming</a:t>
            </a:r>
            <a:endParaRPr b="0" lang="en-US" sz="1130" strike="noStrike" u="none">
              <a:solidFill>
                <a:srgbClr val="000000"/>
              </a:solidFill>
              <a:effectLst/>
              <a:uFillTx/>
              <a:latin typeface="Arial"/>
            </a:endParaRPr>
          </a:p>
        </p:txBody>
      </p:sp>
      <p:sp>
        <p:nvSpPr>
          <p:cNvPr id="291" name="Shape 28"/>
          <p:cNvSpPr/>
          <p:nvPr/>
        </p:nvSpPr>
        <p:spPr>
          <a:xfrm>
            <a:off x="6400800" y="2962800"/>
            <a:ext cx="2239920" cy="950760"/>
          </a:xfrm>
          <a:prstGeom prst="rect">
            <a:avLst/>
          </a:prstGeom>
          <a:solidFill>
            <a:srgbClr val="eaf7f6"/>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2" name="Text 29"/>
          <p:cNvSpPr/>
          <p:nvPr/>
        </p:nvSpPr>
        <p:spPr>
          <a:xfrm>
            <a:off x="6473880" y="3191400"/>
            <a:ext cx="209376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Source–Channel–Sink; HDFS</a:t>
            </a:r>
            <a:endParaRPr b="0" lang="en-US" sz="1130" strike="noStrike" u="none">
              <a:solidFill>
                <a:srgbClr val="000000"/>
              </a:solidFill>
              <a:effectLst/>
              <a:uFillTx/>
              <a:latin typeface="Arial"/>
            </a:endParaRPr>
          </a:p>
        </p:txBody>
      </p:sp>
      <p:sp>
        <p:nvSpPr>
          <p:cNvPr id="293" name="Shape 30"/>
          <p:cNvSpPr/>
          <p:nvPr/>
        </p:nvSpPr>
        <p:spPr>
          <a:xfrm>
            <a:off x="8732520" y="2962800"/>
            <a:ext cx="2880000" cy="950760"/>
          </a:xfrm>
          <a:prstGeom prst="rect">
            <a:avLst/>
          </a:prstGeom>
          <a:solidFill>
            <a:srgbClr val="eaf7f6"/>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4" name="Text 31"/>
          <p:cNvSpPr/>
          <p:nvPr/>
        </p:nvSpPr>
        <p:spPr>
          <a:xfrm>
            <a:off x="8805600" y="3191400"/>
            <a:ext cx="273384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Tập trung vào log ingestion</a:t>
            </a:r>
            <a:endParaRPr b="0" lang="en-US" sz="1130" strike="noStrike" u="none">
              <a:solidFill>
                <a:srgbClr val="000000"/>
              </a:solidFill>
              <a:effectLst/>
              <a:uFillTx/>
              <a:latin typeface="Arial"/>
            </a:endParaRPr>
          </a:p>
        </p:txBody>
      </p:sp>
      <p:sp>
        <p:nvSpPr>
          <p:cNvPr id="295" name="Shape 32"/>
          <p:cNvSpPr/>
          <p:nvPr/>
        </p:nvSpPr>
        <p:spPr>
          <a:xfrm>
            <a:off x="594360" y="3913560"/>
            <a:ext cx="1416960" cy="950760"/>
          </a:xfrm>
          <a:prstGeom prst="rect">
            <a:avLst/>
          </a:prstGeom>
          <a:solidFill>
            <a:srgbClr val="f2f0ff"/>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6" name="Text 33"/>
          <p:cNvSpPr/>
          <p:nvPr/>
        </p:nvSpPr>
        <p:spPr>
          <a:xfrm>
            <a:off x="667440" y="4142160"/>
            <a:ext cx="127080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30" strike="noStrike" u="none">
                <a:solidFill>
                  <a:srgbClr val="16324f"/>
                </a:solidFill>
                <a:effectLst/>
                <a:uFillTx/>
                <a:latin typeface="Arial"/>
              </a:rPr>
              <a:t>Kafka</a:t>
            </a:r>
            <a:endParaRPr b="0" lang="en-US" sz="1130" strike="noStrike" u="none">
              <a:solidFill>
                <a:srgbClr val="000000"/>
              </a:solidFill>
              <a:effectLst/>
              <a:uFillTx/>
              <a:latin typeface="Arial"/>
            </a:endParaRPr>
          </a:p>
        </p:txBody>
      </p:sp>
      <p:sp>
        <p:nvSpPr>
          <p:cNvPr id="297" name="Shape 34"/>
          <p:cNvSpPr/>
          <p:nvPr/>
        </p:nvSpPr>
        <p:spPr>
          <a:xfrm>
            <a:off x="2057400" y="3913560"/>
            <a:ext cx="2377080" cy="950760"/>
          </a:xfrm>
          <a:prstGeom prst="rect">
            <a:avLst/>
          </a:prstGeom>
          <a:solidFill>
            <a:srgbClr val="f2f0ff"/>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8" name="Text 35"/>
          <p:cNvSpPr/>
          <p:nvPr/>
        </p:nvSpPr>
        <p:spPr>
          <a:xfrm>
            <a:off x="2130480" y="4142160"/>
            <a:ext cx="223092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Event streams</a:t>
            </a:r>
            <a:endParaRPr b="0" lang="en-US" sz="1130" strike="noStrike" u="none">
              <a:solidFill>
                <a:srgbClr val="000000"/>
              </a:solidFill>
              <a:effectLst/>
              <a:uFillTx/>
              <a:latin typeface="Arial"/>
            </a:endParaRPr>
          </a:p>
        </p:txBody>
      </p:sp>
      <p:sp>
        <p:nvSpPr>
          <p:cNvPr id="299" name="Shape 36"/>
          <p:cNvSpPr/>
          <p:nvPr/>
        </p:nvSpPr>
        <p:spPr>
          <a:xfrm>
            <a:off x="4526280" y="3913560"/>
            <a:ext cx="1782720" cy="950760"/>
          </a:xfrm>
          <a:prstGeom prst="rect">
            <a:avLst/>
          </a:prstGeom>
          <a:solidFill>
            <a:srgbClr val="f2f0ff"/>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0" name="Text 37"/>
          <p:cNvSpPr/>
          <p:nvPr/>
        </p:nvSpPr>
        <p:spPr>
          <a:xfrm>
            <a:off x="4599360" y="4142160"/>
            <a:ext cx="163656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Streaming</a:t>
            </a:r>
            <a:endParaRPr b="0" lang="en-US" sz="1130" strike="noStrike" u="none">
              <a:solidFill>
                <a:srgbClr val="000000"/>
              </a:solidFill>
              <a:effectLst/>
              <a:uFillTx/>
              <a:latin typeface="Arial"/>
            </a:endParaRPr>
          </a:p>
        </p:txBody>
      </p:sp>
      <p:sp>
        <p:nvSpPr>
          <p:cNvPr id="301" name="Shape 38"/>
          <p:cNvSpPr/>
          <p:nvPr/>
        </p:nvSpPr>
        <p:spPr>
          <a:xfrm>
            <a:off x="6400800" y="3913560"/>
            <a:ext cx="2239920" cy="950760"/>
          </a:xfrm>
          <a:prstGeom prst="rect">
            <a:avLst/>
          </a:prstGeom>
          <a:solidFill>
            <a:srgbClr val="f2f0ff"/>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2" name="Text 39"/>
          <p:cNvSpPr/>
          <p:nvPr/>
        </p:nvSpPr>
        <p:spPr>
          <a:xfrm>
            <a:off x="6473880" y="4142160"/>
            <a:ext cx="209376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Distributed log; nhiều consumers</a:t>
            </a:r>
            <a:endParaRPr b="0" lang="en-US" sz="1130" strike="noStrike" u="none">
              <a:solidFill>
                <a:srgbClr val="000000"/>
              </a:solidFill>
              <a:effectLst/>
              <a:uFillTx/>
              <a:latin typeface="Arial"/>
            </a:endParaRPr>
          </a:p>
        </p:txBody>
      </p:sp>
      <p:sp>
        <p:nvSpPr>
          <p:cNvPr id="303" name="Shape 40"/>
          <p:cNvSpPr/>
          <p:nvPr/>
        </p:nvSpPr>
        <p:spPr>
          <a:xfrm>
            <a:off x="8732520" y="3913560"/>
            <a:ext cx="2880000" cy="950760"/>
          </a:xfrm>
          <a:prstGeom prst="rect">
            <a:avLst/>
          </a:prstGeom>
          <a:solidFill>
            <a:srgbClr val="f2f0ff"/>
          </a:solidFill>
          <a:ln w="12700">
            <a:solidFill>
              <a:srgbClr val="dce4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4" name="Text 41"/>
          <p:cNvSpPr/>
          <p:nvPr/>
        </p:nvSpPr>
        <p:spPr>
          <a:xfrm>
            <a:off x="8805600" y="4142160"/>
            <a:ext cx="2733840" cy="438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30" strike="noStrike" u="none">
                <a:solidFill>
                  <a:srgbClr val="1f2937"/>
                </a:solidFill>
                <a:effectLst/>
                <a:uFillTx/>
                <a:latin typeface="Arial"/>
              </a:rPr>
              <a:t>Cần vận hành cluster và thiết kế partition</a:t>
            </a:r>
            <a:endParaRPr b="0" lang="en-US" sz="1130" strike="noStrike" u="none">
              <a:solidFill>
                <a:srgbClr val="000000"/>
              </a:solidFill>
              <a:effectLst/>
              <a:uFillTx/>
              <a:latin typeface="Arial"/>
            </a:endParaRPr>
          </a:p>
        </p:txBody>
      </p:sp>
      <p:sp>
        <p:nvSpPr>
          <p:cNvPr id="305" name="Shape 42"/>
          <p:cNvSpPr/>
          <p:nvPr/>
        </p:nvSpPr>
        <p:spPr>
          <a:xfrm>
            <a:off x="567000" y="514800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6" name="Text 43"/>
          <p:cNvSpPr/>
          <p:nvPr/>
        </p:nvSpPr>
        <p:spPr>
          <a:xfrm>
            <a:off x="749880" y="530352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307" name="Text 44"/>
          <p:cNvSpPr/>
          <p:nvPr/>
        </p:nvSpPr>
        <p:spPr>
          <a:xfrm>
            <a:off x="1609200" y="526680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Ví dụ lựa chọn: bảng giao dịch MySQL chạy ETL mỗi đêm → batch; log click website → Kafka/Flume; CDC từ DB theo thời gian thực → thường dùng Kafka Connect/Debezium hơn Sqoop.</a:t>
            </a:r>
            <a:endParaRPr b="0" lang="en-US" sz="1120" strike="noStrike" u="none">
              <a:solidFill>
                <a:srgbClr val="000000"/>
              </a:solidFill>
              <a:effectLst/>
              <a:uFillTx/>
              <a:latin typeface="Arial"/>
            </a:endParaRPr>
          </a:p>
        </p:txBody>
      </p:sp>
      <p:sp>
        <p:nvSpPr>
          <p:cNvPr id="308" name="PlaceHolder 1"/>
          <p:cNvSpPr>
            <a:spLocks noGrp="1"/>
          </p:cNvSpPr>
          <p:nvPr>
            <p:ph type="sldNum" idx="13"/>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F44CA182-B66E-4644-AD77-BBDEE64E76DC}" type="slidenum">
              <a:rPr b="0" lang="en-US" sz="800" strike="noStrike" u="none">
                <a:solidFill>
                  <a:srgbClr val="7a8797"/>
                </a:solidFill>
                <a:effectLst/>
                <a:uFillTx/>
                <a:latin typeface="Arial"/>
                <a:ea typeface="Arial"/>
              </a:rPr>
              <a:t>9</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9. Big Data Pipeline với Hadoop/Spark</a:t>
            </a:r>
            <a:endParaRPr b="0" lang="en-US" sz="2700" strike="noStrike" u="none">
              <a:solidFill>
                <a:srgbClr val="000000"/>
              </a:solidFill>
              <a:effectLst/>
              <a:uFillTx/>
              <a:latin typeface="Arial"/>
            </a:endParaRPr>
          </a:p>
        </p:txBody>
      </p:sp>
      <p:sp>
        <p:nvSpPr>
          <p:cNvPr id="310"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Một pipeline hoàn chỉnh thường gồm ingestion → storage → processing → serving/analytics.</a:t>
            </a:r>
            <a:endParaRPr b="0" lang="en-US" sz="1250" strike="noStrike" u="none">
              <a:solidFill>
                <a:srgbClr val="000000"/>
              </a:solidFill>
              <a:effectLst/>
              <a:uFillTx/>
              <a:latin typeface="Arial"/>
            </a:endParaRPr>
          </a:p>
        </p:txBody>
      </p:sp>
      <p:sp>
        <p:nvSpPr>
          <p:cNvPr id="311" name="Shape 2"/>
          <p:cNvSpPr/>
          <p:nvPr/>
        </p:nvSpPr>
        <p:spPr>
          <a:xfrm>
            <a:off x="502920" y="1828800"/>
            <a:ext cx="1919880" cy="114264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2" name="Text 3"/>
          <p:cNvSpPr/>
          <p:nvPr/>
        </p:nvSpPr>
        <p:spPr>
          <a:xfrm>
            <a:off x="576000" y="2057400"/>
            <a:ext cx="17737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SOURCES</a:t>
            </a:r>
            <a:endParaRPr b="0" lang="en-US" sz="1400" strike="noStrike" u="none">
              <a:solidFill>
                <a:srgbClr val="000000"/>
              </a:solidFill>
              <a:effectLst/>
              <a:uFillTx/>
              <a:latin typeface="Arial"/>
            </a:endParaRPr>
          </a:p>
        </p:txBody>
      </p:sp>
      <p:sp>
        <p:nvSpPr>
          <p:cNvPr id="313" name="Text 4"/>
          <p:cNvSpPr/>
          <p:nvPr/>
        </p:nvSpPr>
        <p:spPr>
          <a:xfrm>
            <a:off x="612720" y="2468880"/>
            <a:ext cx="17002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edf3fa"/>
                </a:solidFill>
                <a:effectLst/>
                <a:uFillTx/>
                <a:latin typeface="Arial"/>
              </a:rPr>
              <a:t>DB • files • logs • IoT</a:t>
            </a:r>
            <a:endParaRPr b="0" lang="en-US" sz="930" strike="noStrike" u="none">
              <a:solidFill>
                <a:srgbClr val="000000"/>
              </a:solidFill>
              <a:effectLst/>
              <a:uFillTx/>
              <a:latin typeface="Arial"/>
            </a:endParaRPr>
          </a:p>
        </p:txBody>
      </p:sp>
      <p:sp>
        <p:nvSpPr>
          <p:cNvPr id="314" name="Shape 5"/>
          <p:cNvSpPr/>
          <p:nvPr/>
        </p:nvSpPr>
        <p:spPr>
          <a:xfrm>
            <a:off x="2423160" y="2395440"/>
            <a:ext cx="27432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15" name="Shape 6"/>
          <p:cNvSpPr/>
          <p:nvPr/>
        </p:nvSpPr>
        <p:spPr>
          <a:xfrm>
            <a:off x="2697480" y="1828800"/>
            <a:ext cx="1919880" cy="114264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6" name="Text 7"/>
          <p:cNvSpPr/>
          <p:nvPr/>
        </p:nvSpPr>
        <p:spPr>
          <a:xfrm>
            <a:off x="2770560" y="2057400"/>
            <a:ext cx="17737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INGESTION</a:t>
            </a:r>
            <a:endParaRPr b="0" lang="en-US" sz="1400" strike="noStrike" u="none">
              <a:solidFill>
                <a:srgbClr val="000000"/>
              </a:solidFill>
              <a:effectLst/>
              <a:uFillTx/>
              <a:latin typeface="Arial"/>
            </a:endParaRPr>
          </a:p>
        </p:txBody>
      </p:sp>
      <p:sp>
        <p:nvSpPr>
          <p:cNvPr id="317" name="Text 8"/>
          <p:cNvSpPr/>
          <p:nvPr/>
        </p:nvSpPr>
        <p:spPr>
          <a:xfrm>
            <a:off x="2807280" y="2468880"/>
            <a:ext cx="17002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edf3fa"/>
                </a:solidFill>
                <a:effectLst/>
                <a:uFillTx/>
                <a:latin typeface="Arial"/>
              </a:rPr>
              <a:t>Kafka • Flume • NiFi</a:t>
            </a:r>
            <a:endParaRPr b="0" lang="en-US" sz="930" strike="noStrike" u="none">
              <a:solidFill>
                <a:srgbClr val="000000"/>
              </a:solidFill>
              <a:effectLst/>
              <a:uFillTx/>
              <a:latin typeface="Arial"/>
            </a:endParaRPr>
          </a:p>
        </p:txBody>
      </p:sp>
      <p:sp>
        <p:nvSpPr>
          <p:cNvPr id="318" name="Shape 9"/>
          <p:cNvSpPr/>
          <p:nvPr/>
        </p:nvSpPr>
        <p:spPr>
          <a:xfrm>
            <a:off x="4617720" y="2395440"/>
            <a:ext cx="27432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19" name="Shape 10"/>
          <p:cNvSpPr/>
          <p:nvPr/>
        </p:nvSpPr>
        <p:spPr>
          <a:xfrm>
            <a:off x="4892040" y="1828800"/>
            <a:ext cx="1919880" cy="1142640"/>
          </a:xfrm>
          <a:prstGeom prst="roundRect">
            <a:avLst>
              <a:gd name="adj" fmla="val 16667"/>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0" name="Text 11"/>
          <p:cNvSpPr/>
          <p:nvPr/>
        </p:nvSpPr>
        <p:spPr>
          <a:xfrm>
            <a:off x="4965120" y="2057400"/>
            <a:ext cx="17737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STORAGE</a:t>
            </a:r>
            <a:endParaRPr b="0" lang="en-US" sz="1400" strike="noStrike" u="none">
              <a:solidFill>
                <a:srgbClr val="000000"/>
              </a:solidFill>
              <a:effectLst/>
              <a:uFillTx/>
              <a:latin typeface="Arial"/>
            </a:endParaRPr>
          </a:p>
        </p:txBody>
      </p:sp>
      <p:sp>
        <p:nvSpPr>
          <p:cNvPr id="321" name="Text 12"/>
          <p:cNvSpPr/>
          <p:nvPr/>
        </p:nvSpPr>
        <p:spPr>
          <a:xfrm>
            <a:off x="5001840" y="2468880"/>
            <a:ext cx="17002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edf3fa"/>
                </a:solidFill>
                <a:effectLst/>
                <a:uFillTx/>
                <a:latin typeface="Arial"/>
              </a:rPr>
              <a:t>HDFS • HBase • Object Store</a:t>
            </a:r>
            <a:endParaRPr b="0" lang="en-US" sz="930" strike="noStrike" u="none">
              <a:solidFill>
                <a:srgbClr val="000000"/>
              </a:solidFill>
              <a:effectLst/>
              <a:uFillTx/>
              <a:latin typeface="Arial"/>
            </a:endParaRPr>
          </a:p>
        </p:txBody>
      </p:sp>
      <p:sp>
        <p:nvSpPr>
          <p:cNvPr id="322" name="Shape 13"/>
          <p:cNvSpPr/>
          <p:nvPr/>
        </p:nvSpPr>
        <p:spPr>
          <a:xfrm>
            <a:off x="6812280" y="2395440"/>
            <a:ext cx="27432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23" name="Shape 14"/>
          <p:cNvSpPr/>
          <p:nvPr/>
        </p:nvSpPr>
        <p:spPr>
          <a:xfrm>
            <a:off x="7086600" y="1828800"/>
            <a:ext cx="1919880" cy="1142640"/>
          </a:xfrm>
          <a:prstGeom prst="roundRect">
            <a:avLst>
              <a:gd name="adj" fmla="val 16667"/>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4" name="Text 15"/>
          <p:cNvSpPr/>
          <p:nvPr/>
        </p:nvSpPr>
        <p:spPr>
          <a:xfrm>
            <a:off x="7159680" y="2057400"/>
            <a:ext cx="17737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PROCESS</a:t>
            </a:r>
            <a:endParaRPr b="0" lang="en-US" sz="1400" strike="noStrike" u="none">
              <a:solidFill>
                <a:srgbClr val="000000"/>
              </a:solidFill>
              <a:effectLst/>
              <a:uFillTx/>
              <a:latin typeface="Arial"/>
            </a:endParaRPr>
          </a:p>
        </p:txBody>
      </p:sp>
      <p:sp>
        <p:nvSpPr>
          <p:cNvPr id="325" name="Text 16"/>
          <p:cNvSpPr/>
          <p:nvPr/>
        </p:nvSpPr>
        <p:spPr>
          <a:xfrm>
            <a:off x="7196400" y="2468880"/>
            <a:ext cx="17002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edf3fa"/>
                </a:solidFill>
                <a:effectLst/>
                <a:uFillTx/>
                <a:latin typeface="Arial"/>
              </a:rPr>
              <a:t>Spark Batch / Streaming</a:t>
            </a:r>
            <a:endParaRPr b="0" lang="en-US" sz="930" strike="noStrike" u="none">
              <a:solidFill>
                <a:srgbClr val="000000"/>
              </a:solidFill>
              <a:effectLst/>
              <a:uFillTx/>
              <a:latin typeface="Arial"/>
            </a:endParaRPr>
          </a:p>
        </p:txBody>
      </p:sp>
      <p:sp>
        <p:nvSpPr>
          <p:cNvPr id="326" name="Shape 17"/>
          <p:cNvSpPr/>
          <p:nvPr/>
        </p:nvSpPr>
        <p:spPr>
          <a:xfrm>
            <a:off x="9006840" y="2395440"/>
            <a:ext cx="27432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27" name="Shape 18"/>
          <p:cNvSpPr/>
          <p:nvPr/>
        </p:nvSpPr>
        <p:spPr>
          <a:xfrm>
            <a:off x="9281160" y="1828800"/>
            <a:ext cx="1919880" cy="1142640"/>
          </a:xfrm>
          <a:prstGeom prst="roundRect">
            <a:avLst>
              <a:gd name="adj" fmla="val 16667"/>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8" name="Text 19"/>
          <p:cNvSpPr/>
          <p:nvPr/>
        </p:nvSpPr>
        <p:spPr>
          <a:xfrm>
            <a:off x="9354240" y="2057400"/>
            <a:ext cx="177372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SERVING</a:t>
            </a:r>
            <a:endParaRPr b="0" lang="en-US" sz="1400" strike="noStrike" u="none">
              <a:solidFill>
                <a:srgbClr val="000000"/>
              </a:solidFill>
              <a:effectLst/>
              <a:uFillTx/>
              <a:latin typeface="Arial"/>
            </a:endParaRPr>
          </a:p>
        </p:txBody>
      </p:sp>
      <p:sp>
        <p:nvSpPr>
          <p:cNvPr id="329" name="Text 20"/>
          <p:cNvSpPr/>
          <p:nvPr/>
        </p:nvSpPr>
        <p:spPr>
          <a:xfrm>
            <a:off x="9390960" y="2468880"/>
            <a:ext cx="17002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edf3fa"/>
                </a:solidFill>
                <a:effectLst/>
                <a:uFillTx/>
                <a:latin typeface="Arial"/>
              </a:rPr>
              <a:t>Hive/SQL • BI • ML</a:t>
            </a:r>
            <a:endParaRPr b="0" lang="en-US" sz="930" strike="noStrike" u="none">
              <a:solidFill>
                <a:srgbClr val="000000"/>
              </a:solidFill>
              <a:effectLst/>
              <a:uFillTx/>
              <a:latin typeface="Arial"/>
            </a:endParaRPr>
          </a:p>
        </p:txBody>
      </p:sp>
      <p:sp>
        <p:nvSpPr>
          <p:cNvPr id="330" name="Shape 21"/>
          <p:cNvSpPr/>
          <p:nvPr/>
        </p:nvSpPr>
        <p:spPr>
          <a:xfrm>
            <a:off x="1051560" y="3703320"/>
            <a:ext cx="10058040" cy="776880"/>
          </a:xfrm>
          <a:prstGeom prst="roundRect">
            <a:avLst>
              <a:gd name="adj" fmla="val 16667"/>
            </a:avLst>
          </a:prstGeom>
          <a:solidFill>
            <a:srgbClr val="fff6e1"/>
          </a:solidFill>
          <a:ln w="1397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1" name="Text 22"/>
          <p:cNvSpPr/>
          <p:nvPr/>
        </p:nvSpPr>
        <p:spPr>
          <a:xfrm>
            <a:off x="3749040" y="3931920"/>
            <a:ext cx="438876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a15c00"/>
                </a:solidFill>
                <a:effectLst/>
                <a:uFillTx/>
                <a:latin typeface="Arial"/>
              </a:rPr>
              <a:t>ORCHESTRATION — AIRFLOW</a:t>
            </a:r>
            <a:endParaRPr b="0" lang="en-US" sz="1600" strike="noStrike" u="none">
              <a:solidFill>
                <a:srgbClr val="000000"/>
              </a:solidFill>
              <a:effectLst/>
              <a:uFillTx/>
              <a:latin typeface="Arial"/>
            </a:endParaRPr>
          </a:p>
        </p:txBody>
      </p:sp>
      <p:sp>
        <p:nvSpPr>
          <p:cNvPr id="332" name="Text 23"/>
          <p:cNvSpPr/>
          <p:nvPr/>
        </p:nvSpPr>
        <p:spPr>
          <a:xfrm>
            <a:off x="3154680" y="4224600"/>
            <a:ext cx="557748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trike="noStrike" u="none">
                <a:solidFill>
                  <a:srgbClr val="6b4d1d"/>
                </a:solidFill>
                <a:effectLst/>
                <a:uFillTx/>
                <a:latin typeface="Arial"/>
              </a:rPr>
              <a:t>Lên lịch • phụ thuộc task • retry • logging • giám sát</a:t>
            </a:r>
            <a:endParaRPr b="0" lang="en-US" sz="1050" strike="noStrike" u="none">
              <a:solidFill>
                <a:srgbClr val="000000"/>
              </a:solidFill>
              <a:effectLst/>
              <a:uFillTx/>
              <a:latin typeface="Arial"/>
            </a:endParaRPr>
          </a:p>
        </p:txBody>
      </p:sp>
      <p:sp>
        <p:nvSpPr>
          <p:cNvPr id="333" name="Shape 24"/>
          <p:cNvSpPr/>
          <p:nvPr/>
        </p:nvSpPr>
        <p:spPr>
          <a:xfrm>
            <a:off x="1188720" y="4892040"/>
            <a:ext cx="2834280" cy="822600"/>
          </a:xfrm>
          <a:prstGeom prst="roundRect">
            <a:avLst>
              <a:gd name="adj" fmla="val 666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4" name="Shape 25"/>
          <p:cNvSpPr/>
          <p:nvPr/>
        </p:nvSpPr>
        <p:spPr>
          <a:xfrm>
            <a:off x="1188720" y="4892040"/>
            <a:ext cx="72720" cy="82260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5" name="Text 26"/>
          <p:cNvSpPr/>
          <p:nvPr/>
        </p:nvSpPr>
        <p:spPr>
          <a:xfrm>
            <a:off x="1371600" y="503820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Batch path</a:t>
            </a:r>
            <a:endParaRPr b="0" lang="en-US" sz="1600" strike="noStrike" u="none">
              <a:solidFill>
                <a:srgbClr val="000000"/>
              </a:solidFill>
              <a:effectLst/>
              <a:uFillTx/>
              <a:latin typeface="Arial"/>
            </a:endParaRPr>
          </a:p>
        </p:txBody>
      </p:sp>
      <p:sp>
        <p:nvSpPr>
          <p:cNvPr id="336" name="Text 27"/>
          <p:cNvSpPr/>
          <p:nvPr/>
        </p:nvSpPr>
        <p:spPr>
          <a:xfrm>
            <a:off x="1371600" y="5422320"/>
            <a:ext cx="2523240" cy="16416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80" strike="noStrike" u="none">
                <a:solidFill>
                  <a:srgbClr val="1f2937"/>
                </a:solidFill>
                <a:effectLst/>
                <a:uFillTx/>
                <a:latin typeface="Arial"/>
              </a:rPr>
              <a:t>DB → HDFS → Spark → BI</a:t>
            </a:r>
            <a:endParaRPr b="0" lang="en-US" sz="1080" strike="noStrike" u="none">
              <a:solidFill>
                <a:srgbClr val="000000"/>
              </a:solidFill>
              <a:effectLst/>
              <a:uFillTx/>
              <a:latin typeface="Arial"/>
            </a:endParaRPr>
          </a:p>
        </p:txBody>
      </p:sp>
      <p:sp>
        <p:nvSpPr>
          <p:cNvPr id="337" name="Shape 28"/>
          <p:cNvSpPr/>
          <p:nvPr/>
        </p:nvSpPr>
        <p:spPr>
          <a:xfrm>
            <a:off x="4663440" y="4892040"/>
            <a:ext cx="2834280" cy="822600"/>
          </a:xfrm>
          <a:prstGeom prst="roundRect">
            <a:avLst>
              <a:gd name="adj" fmla="val 666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8" name="Shape 29"/>
          <p:cNvSpPr/>
          <p:nvPr/>
        </p:nvSpPr>
        <p:spPr>
          <a:xfrm>
            <a:off x="4663440" y="4892040"/>
            <a:ext cx="72720" cy="82260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9" name="Text 30"/>
          <p:cNvSpPr/>
          <p:nvPr/>
        </p:nvSpPr>
        <p:spPr>
          <a:xfrm>
            <a:off x="4846320" y="503820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Streaming path</a:t>
            </a:r>
            <a:endParaRPr b="0" lang="en-US" sz="1600" strike="noStrike" u="none">
              <a:solidFill>
                <a:srgbClr val="000000"/>
              </a:solidFill>
              <a:effectLst/>
              <a:uFillTx/>
              <a:latin typeface="Arial"/>
            </a:endParaRPr>
          </a:p>
        </p:txBody>
      </p:sp>
      <p:sp>
        <p:nvSpPr>
          <p:cNvPr id="340" name="Text 31"/>
          <p:cNvSpPr/>
          <p:nvPr/>
        </p:nvSpPr>
        <p:spPr>
          <a:xfrm>
            <a:off x="4846320" y="5422320"/>
            <a:ext cx="2523240" cy="16416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80" strike="noStrike" u="none">
                <a:solidFill>
                  <a:srgbClr val="1f2937"/>
                </a:solidFill>
                <a:effectLst/>
                <a:uFillTx/>
                <a:latin typeface="Arial"/>
              </a:rPr>
              <a:t>App → Kafka → Spark Streaming</a:t>
            </a:r>
            <a:endParaRPr b="0" lang="en-US" sz="1080" strike="noStrike" u="none">
              <a:solidFill>
                <a:srgbClr val="000000"/>
              </a:solidFill>
              <a:effectLst/>
              <a:uFillTx/>
              <a:latin typeface="Arial"/>
            </a:endParaRPr>
          </a:p>
        </p:txBody>
      </p:sp>
      <p:sp>
        <p:nvSpPr>
          <p:cNvPr id="341" name="Shape 32"/>
          <p:cNvSpPr/>
          <p:nvPr/>
        </p:nvSpPr>
        <p:spPr>
          <a:xfrm>
            <a:off x="8138160" y="4892040"/>
            <a:ext cx="2834280" cy="822600"/>
          </a:xfrm>
          <a:prstGeom prst="roundRect">
            <a:avLst>
              <a:gd name="adj" fmla="val 666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2" name="Shape 33"/>
          <p:cNvSpPr/>
          <p:nvPr/>
        </p:nvSpPr>
        <p:spPr>
          <a:xfrm>
            <a:off x="8138160" y="4892040"/>
            <a:ext cx="72720" cy="8226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3" name="Text 34"/>
          <p:cNvSpPr/>
          <p:nvPr/>
        </p:nvSpPr>
        <p:spPr>
          <a:xfrm>
            <a:off x="8321040" y="503820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Airflow</a:t>
            </a:r>
            <a:endParaRPr b="0" lang="en-US" sz="1600" strike="noStrike" u="none">
              <a:solidFill>
                <a:srgbClr val="000000"/>
              </a:solidFill>
              <a:effectLst/>
              <a:uFillTx/>
              <a:latin typeface="Arial"/>
            </a:endParaRPr>
          </a:p>
        </p:txBody>
      </p:sp>
      <p:sp>
        <p:nvSpPr>
          <p:cNvPr id="344" name="Text 35"/>
          <p:cNvSpPr/>
          <p:nvPr/>
        </p:nvSpPr>
        <p:spPr>
          <a:xfrm>
            <a:off x="8321040" y="5422320"/>
            <a:ext cx="2523240" cy="16416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80" strike="noStrike" u="none">
                <a:solidFill>
                  <a:srgbClr val="1f2937"/>
                </a:solidFill>
                <a:effectLst/>
                <a:uFillTx/>
                <a:latin typeface="Arial"/>
              </a:rPr>
              <a:t>Điều phối job, không thay Kafka/Spark</a:t>
            </a:r>
            <a:endParaRPr b="0" lang="en-US" sz="1080" strike="noStrike" u="none">
              <a:solidFill>
                <a:srgbClr val="000000"/>
              </a:solidFill>
              <a:effectLst/>
              <a:uFillTx/>
              <a:latin typeface="Arial"/>
            </a:endParaRPr>
          </a:p>
        </p:txBody>
      </p:sp>
      <p:sp>
        <p:nvSpPr>
          <p:cNvPr id="345" name="Text 36"/>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Sơ đồ revise từ slide 7 của tài liệu gốc.</a:t>
            </a:r>
            <a:endParaRPr b="0" lang="en-US" sz="720" strike="noStrike" u="none">
              <a:solidFill>
                <a:srgbClr val="000000"/>
              </a:solidFill>
              <a:effectLst/>
              <a:uFillTx/>
              <a:latin typeface="Arial"/>
            </a:endParaRPr>
          </a:p>
        </p:txBody>
      </p:sp>
      <p:sp>
        <p:nvSpPr>
          <p:cNvPr id="346" name="PlaceHolder 1"/>
          <p:cNvSpPr>
            <a:spLocks noGrp="1"/>
          </p:cNvSpPr>
          <p:nvPr>
            <p:ph type="sldNum" idx="14"/>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A289D3E9-DFBF-4445-92F5-F755A04AF76E}" type="slidenum">
              <a:rPr b="0" lang="en-US" sz="800" strike="noStrike" u="none">
                <a:solidFill>
                  <a:srgbClr val="7a8797"/>
                </a:solidFill>
                <a:effectLst/>
                <a:uFillTx/>
                <a:latin typeface="Arial"/>
                <a:ea typeface="Arial"/>
              </a:rPr>
              <a:t>10</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10. Bản đồ công nghệ theo từng lớp pipeline</a:t>
            </a:r>
            <a:endParaRPr b="0" lang="en-US" sz="2700" strike="noStrike" u="none">
              <a:solidFill>
                <a:srgbClr val="000000"/>
              </a:solidFill>
              <a:effectLst/>
              <a:uFillTx/>
              <a:latin typeface="Arial"/>
            </a:endParaRPr>
          </a:p>
        </p:txBody>
      </p:sp>
      <p:sp>
        <p:nvSpPr>
          <p:cNvPr id="348"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Đặt công nghệ đúng lớp giúp tránh thiết kế “một công cụ làm tất cả”.</a:t>
            </a:r>
            <a:endParaRPr b="0" lang="en-US" sz="1250" strike="noStrike" u="none">
              <a:solidFill>
                <a:srgbClr val="000000"/>
              </a:solidFill>
              <a:effectLst/>
              <a:uFillTx/>
              <a:latin typeface="Arial"/>
            </a:endParaRPr>
          </a:p>
        </p:txBody>
      </p:sp>
      <p:sp>
        <p:nvSpPr>
          <p:cNvPr id="349" name="Shape 2"/>
          <p:cNvSpPr/>
          <p:nvPr/>
        </p:nvSpPr>
        <p:spPr>
          <a:xfrm>
            <a:off x="685800" y="1325880"/>
            <a:ext cx="1919880" cy="52992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0" name="Text 3"/>
          <p:cNvSpPr/>
          <p:nvPr/>
        </p:nvSpPr>
        <p:spPr>
          <a:xfrm>
            <a:off x="795600" y="1481400"/>
            <a:ext cx="1700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20" strike="noStrike" u="none">
                <a:solidFill>
                  <a:srgbClr val="ffffff"/>
                </a:solidFill>
                <a:effectLst/>
                <a:uFillTx/>
                <a:latin typeface="Arial"/>
              </a:rPr>
              <a:t>Ingestion</a:t>
            </a:r>
            <a:endParaRPr b="0" lang="en-US" sz="1220" strike="noStrike" u="none">
              <a:solidFill>
                <a:srgbClr val="000000"/>
              </a:solidFill>
              <a:effectLst/>
              <a:uFillTx/>
              <a:latin typeface="Arial"/>
            </a:endParaRPr>
          </a:p>
        </p:txBody>
      </p:sp>
      <p:sp>
        <p:nvSpPr>
          <p:cNvPr id="351" name="Text 4"/>
          <p:cNvSpPr/>
          <p:nvPr/>
        </p:nvSpPr>
        <p:spPr>
          <a:xfrm>
            <a:off x="2880360" y="1398960"/>
            <a:ext cx="39315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40" strike="noStrike" u="none">
                <a:solidFill>
                  <a:srgbClr val="16324f"/>
                </a:solidFill>
                <a:effectLst/>
                <a:uFillTx/>
                <a:latin typeface="Arial"/>
              </a:rPr>
              <a:t>Kafka • Flume • NiFi • Spark JDBC</a:t>
            </a:r>
            <a:endParaRPr b="0" lang="en-US" sz="1140" strike="noStrike" u="none">
              <a:solidFill>
                <a:srgbClr val="000000"/>
              </a:solidFill>
              <a:effectLst/>
              <a:uFillTx/>
              <a:latin typeface="Arial"/>
            </a:endParaRPr>
          </a:p>
        </p:txBody>
      </p:sp>
      <p:sp>
        <p:nvSpPr>
          <p:cNvPr id="352" name="Text 5"/>
          <p:cNvSpPr/>
          <p:nvPr/>
        </p:nvSpPr>
        <p:spPr>
          <a:xfrm>
            <a:off x="6903720" y="1398960"/>
            <a:ext cx="4160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5f6b7a"/>
                </a:solidFill>
                <a:effectLst/>
                <a:uFillTx/>
                <a:latin typeface="Arial"/>
              </a:rPr>
              <a:t>Thu nhận dữ liệu từ nguồn</a:t>
            </a:r>
            <a:endParaRPr b="0" lang="en-US" sz="1080" strike="noStrike" u="none">
              <a:solidFill>
                <a:srgbClr val="000000"/>
              </a:solidFill>
              <a:effectLst/>
              <a:uFillTx/>
              <a:latin typeface="Arial"/>
            </a:endParaRPr>
          </a:p>
        </p:txBody>
      </p:sp>
      <p:sp>
        <p:nvSpPr>
          <p:cNvPr id="353" name="Shape 6"/>
          <p:cNvSpPr/>
          <p:nvPr/>
        </p:nvSpPr>
        <p:spPr>
          <a:xfrm>
            <a:off x="685800" y="2075760"/>
            <a:ext cx="1919880" cy="529920"/>
          </a:xfrm>
          <a:prstGeom prst="roundRect">
            <a:avLst>
              <a:gd name="adj" fmla="val 16667"/>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4" name="Text 7"/>
          <p:cNvSpPr/>
          <p:nvPr/>
        </p:nvSpPr>
        <p:spPr>
          <a:xfrm>
            <a:off x="795600" y="2231280"/>
            <a:ext cx="1700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20" strike="noStrike" u="none">
                <a:solidFill>
                  <a:srgbClr val="ffffff"/>
                </a:solidFill>
                <a:effectLst/>
                <a:uFillTx/>
                <a:latin typeface="Arial"/>
              </a:rPr>
              <a:t>Storage</a:t>
            </a:r>
            <a:endParaRPr b="0" lang="en-US" sz="1220" strike="noStrike" u="none">
              <a:solidFill>
                <a:srgbClr val="000000"/>
              </a:solidFill>
              <a:effectLst/>
              <a:uFillTx/>
              <a:latin typeface="Arial"/>
            </a:endParaRPr>
          </a:p>
        </p:txBody>
      </p:sp>
      <p:sp>
        <p:nvSpPr>
          <p:cNvPr id="355" name="Text 8"/>
          <p:cNvSpPr/>
          <p:nvPr/>
        </p:nvSpPr>
        <p:spPr>
          <a:xfrm>
            <a:off x="2880360" y="2148840"/>
            <a:ext cx="39315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40" strike="noStrike" u="none">
                <a:solidFill>
                  <a:srgbClr val="16324f"/>
                </a:solidFill>
                <a:effectLst/>
                <a:uFillTx/>
                <a:latin typeface="Arial"/>
              </a:rPr>
              <a:t>HDFS • HBase • Object Storage • Kafka retention</a:t>
            </a:r>
            <a:endParaRPr b="0" lang="en-US" sz="1140" strike="noStrike" u="none">
              <a:solidFill>
                <a:srgbClr val="000000"/>
              </a:solidFill>
              <a:effectLst/>
              <a:uFillTx/>
              <a:latin typeface="Arial"/>
            </a:endParaRPr>
          </a:p>
        </p:txBody>
      </p:sp>
      <p:sp>
        <p:nvSpPr>
          <p:cNvPr id="356" name="Text 9"/>
          <p:cNvSpPr/>
          <p:nvPr/>
        </p:nvSpPr>
        <p:spPr>
          <a:xfrm>
            <a:off x="6903720" y="2148840"/>
            <a:ext cx="4160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5f6b7a"/>
                </a:solidFill>
                <a:effectLst/>
                <a:uFillTx/>
                <a:latin typeface="Arial"/>
              </a:rPr>
              <a:t>Lưu raw/curated/event log</a:t>
            </a:r>
            <a:endParaRPr b="0" lang="en-US" sz="1080" strike="noStrike" u="none">
              <a:solidFill>
                <a:srgbClr val="000000"/>
              </a:solidFill>
              <a:effectLst/>
              <a:uFillTx/>
              <a:latin typeface="Arial"/>
            </a:endParaRPr>
          </a:p>
        </p:txBody>
      </p:sp>
      <p:sp>
        <p:nvSpPr>
          <p:cNvPr id="357" name="Shape 10"/>
          <p:cNvSpPr/>
          <p:nvPr/>
        </p:nvSpPr>
        <p:spPr>
          <a:xfrm>
            <a:off x="685800" y="2825640"/>
            <a:ext cx="1919880" cy="529920"/>
          </a:xfrm>
          <a:prstGeom prst="roundRect">
            <a:avLst>
              <a:gd name="adj" fmla="val 16667"/>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8" name="Text 11"/>
          <p:cNvSpPr/>
          <p:nvPr/>
        </p:nvSpPr>
        <p:spPr>
          <a:xfrm>
            <a:off x="795600" y="2980800"/>
            <a:ext cx="1700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20" strike="noStrike" u="none">
                <a:solidFill>
                  <a:srgbClr val="ffffff"/>
                </a:solidFill>
                <a:effectLst/>
                <a:uFillTx/>
                <a:latin typeface="Arial"/>
              </a:rPr>
              <a:t>Processing</a:t>
            </a:r>
            <a:endParaRPr b="0" lang="en-US" sz="1220" strike="noStrike" u="none">
              <a:solidFill>
                <a:srgbClr val="000000"/>
              </a:solidFill>
              <a:effectLst/>
              <a:uFillTx/>
              <a:latin typeface="Arial"/>
            </a:endParaRPr>
          </a:p>
        </p:txBody>
      </p:sp>
      <p:sp>
        <p:nvSpPr>
          <p:cNvPr id="359" name="Text 12"/>
          <p:cNvSpPr/>
          <p:nvPr/>
        </p:nvSpPr>
        <p:spPr>
          <a:xfrm>
            <a:off x="2880360" y="2898720"/>
            <a:ext cx="39315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40" strike="noStrike" u="none">
                <a:solidFill>
                  <a:srgbClr val="16324f"/>
                </a:solidFill>
                <a:effectLst/>
                <a:uFillTx/>
                <a:latin typeface="Arial"/>
              </a:rPr>
              <a:t>Spark • Flink</a:t>
            </a:r>
            <a:endParaRPr b="0" lang="en-US" sz="1140" strike="noStrike" u="none">
              <a:solidFill>
                <a:srgbClr val="000000"/>
              </a:solidFill>
              <a:effectLst/>
              <a:uFillTx/>
              <a:latin typeface="Arial"/>
            </a:endParaRPr>
          </a:p>
        </p:txBody>
      </p:sp>
      <p:sp>
        <p:nvSpPr>
          <p:cNvPr id="360" name="Text 13"/>
          <p:cNvSpPr/>
          <p:nvPr/>
        </p:nvSpPr>
        <p:spPr>
          <a:xfrm>
            <a:off x="6903720" y="2898720"/>
            <a:ext cx="4160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5f6b7a"/>
                </a:solidFill>
                <a:effectLst/>
                <a:uFillTx/>
                <a:latin typeface="Arial"/>
              </a:rPr>
              <a:t>ETL, aggregation, streaming</a:t>
            </a:r>
            <a:endParaRPr b="0" lang="en-US" sz="1080" strike="noStrike" u="none">
              <a:solidFill>
                <a:srgbClr val="000000"/>
              </a:solidFill>
              <a:effectLst/>
              <a:uFillTx/>
              <a:latin typeface="Arial"/>
            </a:endParaRPr>
          </a:p>
        </p:txBody>
      </p:sp>
      <p:sp>
        <p:nvSpPr>
          <p:cNvPr id="361" name="Shape 14"/>
          <p:cNvSpPr/>
          <p:nvPr/>
        </p:nvSpPr>
        <p:spPr>
          <a:xfrm>
            <a:off x="685800" y="3575160"/>
            <a:ext cx="1919880" cy="52992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2" name="Text 15"/>
          <p:cNvSpPr/>
          <p:nvPr/>
        </p:nvSpPr>
        <p:spPr>
          <a:xfrm>
            <a:off x="795600" y="3730680"/>
            <a:ext cx="1700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20" strike="noStrike" u="none">
                <a:solidFill>
                  <a:srgbClr val="ffffff"/>
                </a:solidFill>
                <a:effectLst/>
                <a:uFillTx/>
                <a:latin typeface="Arial"/>
              </a:rPr>
              <a:t>Query / Serving</a:t>
            </a:r>
            <a:endParaRPr b="0" lang="en-US" sz="1220" strike="noStrike" u="none">
              <a:solidFill>
                <a:srgbClr val="000000"/>
              </a:solidFill>
              <a:effectLst/>
              <a:uFillTx/>
              <a:latin typeface="Arial"/>
            </a:endParaRPr>
          </a:p>
        </p:txBody>
      </p:sp>
      <p:sp>
        <p:nvSpPr>
          <p:cNvPr id="363" name="Text 16"/>
          <p:cNvSpPr/>
          <p:nvPr/>
        </p:nvSpPr>
        <p:spPr>
          <a:xfrm>
            <a:off x="2880360" y="3648600"/>
            <a:ext cx="39315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40" strike="noStrike" u="none">
                <a:solidFill>
                  <a:srgbClr val="16324f"/>
                </a:solidFill>
                <a:effectLst/>
                <a:uFillTx/>
                <a:latin typeface="Arial"/>
              </a:rPr>
              <a:t>Hive • Trino/Presto • Spark SQL</a:t>
            </a:r>
            <a:endParaRPr b="0" lang="en-US" sz="1140" strike="noStrike" u="none">
              <a:solidFill>
                <a:srgbClr val="000000"/>
              </a:solidFill>
              <a:effectLst/>
              <a:uFillTx/>
              <a:latin typeface="Arial"/>
            </a:endParaRPr>
          </a:p>
        </p:txBody>
      </p:sp>
      <p:sp>
        <p:nvSpPr>
          <p:cNvPr id="364" name="Text 17"/>
          <p:cNvSpPr/>
          <p:nvPr/>
        </p:nvSpPr>
        <p:spPr>
          <a:xfrm>
            <a:off x="6903720" y="3648600"/>
            <a:ext cx="4160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5f6b7a"/>
                </a:solidFill>
                <a:effectLst/>
                <a:uFillTx/>
                <a:latin typeface="Arial"/>
              </a:rPr>
              <a:t>Truy vấn và phục vụ dữ liệu</a:t>
            </a:r>
            <a:endParaRPr b="0" lang="en-US" sz="1080" strike="noStrike" u="none">
              <a:solidFill>
                <a:srgbClr val="000000"/>
              </a:solidFill>
              <a:effectLst/>
              <a:uFillTx/>
              <a:latin typeface="Arial"/>
            </a:endParaRPr>
          </a:p>
        </p:txBody>
      </p:sp>
      <p:sp>
        <p:nvSpPr>
          <p:cNvPr id="365" name="Shape 18"/>
          <p:cNvSpPr/>
          <p:nvPr/>
        </p:nvSpPr>
        <p:spPr>
          <a:xfrm>
            <a:off x="685800" y="4325040"/>
            <a:ext cx="1919880" cy="529920"/>
          </a:xfrm>
          <a:prstGeom prst="roundRect">
            <a:avLst>
              <a:gd name="adj" fmla="val 16667"/>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6" name="Text 19"/>
          <p:cNvSpPr/>
          <p:nvPr/>
        </p:nvSpPr>
        <p:spPr>
          <a:xfrm>
            <a:off x="795600" y="4480560"/>
            <a:ext cx="1700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20" strike="noStrike" u="none">
                <a:solidFill>
                  <a:srgbClr val="ffffff"/>
                </a:solidFill>
                <a:effectLst/>
                <a:uFillTx/>
                <a:latin typeface="Arial"/>
              </a:rPr>
              <a:t>BI / ML</a:t>
            </a:r>
            <a:endParaRPr b="0" lang="en-US" sz="1220" strike="noStrike" u="none">
              <a:solidFill>
                <a:srgbClr val="000000"/>
              </a:solidFill>
              <a:effectLst/>
              <a:uFillTx/>
              <a:latin typeface="Arial"/>
            </a:endParaRPr>
          </a:p>
        </p:txBody>
      </p:sp>
      <p:sp>
        <p:nvSpPr>
          <p:cNvPr id="367" name="Text 20"/>
          <p:cNvSpPr/>
          <p:nvPr/>
        </p:nvSpPr>
        <p:spPr>
          <a:xfrm>
            <a:off x="2880360" y="4398120"/>
            <a:ext cx="39315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40" strike="noStrike" u="none">
                <a:solidFill>
                  <a:srgbClr val="16324f"/>
                </a:solidFill>
                <a:effectLst/>
                <a:uFillTx/>
                <a:latin typeface="Arial"/>
              </a:rPr>
              <a:t>Power BI • Tableau • Spark ML • Python</a:t>
            </a:r>
            <a:endParaRPr b="0" lang="en-US" sz="1140" strike="noStrike" u="none">
              <a:solidFill>
                <a:srgbClr val="000000"/>
              </a:solidFill>
              <a:effectLst/>
              <a:uFillTx/>
              <a:latin typeface="Arial"/>
            </a:endParaRPr>
          </a:p>
        </p:txBody>
      </p:sp>
      <p:sp>
        <p:nvSpPr>
          <p:cNvPr id="368" name="Text 21"/>
          <p:cNvSpPr/>
          <p:nvPr/>
        </p:nvSpPr>
        <p:spPr>
          <a:xfrm>
            <a:off x="6903720" y="4398120"/>
            <a:ext cx="4160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5f6b7a"/>
                </a:solidFill>
                <a:effectLst/>
                <a:uFillTx/>
                <a:latin typeface="Arial"/>
              </a:rPr>
              <a:t>Báo cáo, dự báo, mô hình</a:t>
            </a:r>
            <a:endParaRPr b="0" lang="en-US" sz="1080" strike="noStrike" u="none">
              <a:solidFill>
                <a:srgbClr val="000000"/>
              </a:solidFill>
              <a:effectLst/>
              <a:uFillTx/>
              <a:latin typeface="Arial"/>
            </a:endParaRPr>
          </a:p>
        </p:txBody>
      </p:sp>
      <p:sp>
        <p:nvSpPr>
          <p:cNvPr id="369" name="Shape 22"/>
          <p:cNvSpPr/>
          <p:nvPr/>
        </p:nvSpPr>
        <p:spPr>
          <a:xfrm>
            <a:off x="685800" y="5074920"/>
            <a:ext cx="1919880" cy="529920"/>
          </a:xfrm>
          <a:prstGeom prst="roundRect">
            <a:avLst>
              <a:gd name="adj" fmla="val 16667"/>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0" name="Text 23"/>
          <p:cNvSpPr/>
          <p:nvPr/>
        </p:nvSpPr>
        <p:spPr>
          <a:xfrm>
            <a:off x="795600" y="5230440"/>
            <a:ext cx="17002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20" strike="noStrike" u="none">
                <a:solidFill>
                  <a:srgbClr val="ffffff"/>
                </a:solidFill>
                <a:effectLst/>
                <a:uFillTx/>
                <a:latin typeface="Arial"/>
              </a:rPr>
              <a:t>Orchestration</a:t>
            </a:r>
            <a:endParaRPr b="0" lang="en-US" sz="1220" strike="noStrike" u="none">
              <a:solidFill>
                <a:srgbClr val="000000"/>
              </a:solidFill>
              <a:effectLst/>
              <a:uFillTx/>
              <a:latin typeface="Arial"/>
            </a:endParaRPr>
          </a:p>
        </p:txBody>
      </p:sp>
      <p:sp>
        <p:nvSpPr>
          <p:cNvPr id="371" name="Text 24"/>
          <p:cNvSpPr/>
          <p:nvPr/>
        </p:nvSpPr>
        <p:spPr>
          <a:xfrm>
            <a:off x="2880360" y="5148000"/>
            <a:ext cx="39315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40" strike="noStrike" u="none">
                <a:solidFill>
                  <a:srgbClr val="16324f"/>
                </a:solidFill>
                <a:effectLst/>
                <a:uFillTx/>
                <a:latin typeface="Arial"/>
              </a:rPr>
              <a:t>Airflow</a:t>
            </a:r>
            <a:endParaRPr b="0" lang="en-US" sz="1140" strike="noStrike" u="none">
              <a:solidFill>
                <a:srgbClr val="000000"/>
              </a:solidFill>
              <a:effectLst/>
              <a:uFillTx/>
              <a:latin typeface="Arial"/>
            </a:endParaRPr>
          </a:p>
        </p:txBody>
      </p:sp>
      <p:sp>
        <p:nvSpPr>
          <p:cNvPr id="372" name="Text 25"/>
          <p:cNvSpPr/>
          <p:nvPr/>
        </p:nvSpPr>
        <p:spPr>
          <a:xfrm>
            <a:off x="6903720" y="5148000"/>
            <a:ext cx="4160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5f6b7a"/>
                </a:solidFill>
                <a:effectLst/>
                <a:uFillTx/>
                <a:latin typeface="Arial"/>
              </a:rPr>
              <a:t>Lịch chạy, dependencies, retry, monitoring</a:t>
            </a:r>
            <a:endParaRPr b="0" lang="en-US" sz="1080" strike="noStrike" u="none">
              <a:solidFill>
                <a:srgbClr val="000000"/>
              </a:solidFill>
              <a:effectLst/>
              <a:uFillTx/>
              <a:latin typeface="Arial"/>
            </a:endParaRPr>
          </a:p>
        </p:txBody>
      </p:sp>
      <p:sp>
        <p:nvSpPr>
          <p:cNvPr id="373" name="Shape 26"/>
          <p:cNvSpPr/>
          <p:nvPr/>
        </p:nvSpPr>
        <p:spPr>
          <a:xfrm>
            <a:off x="567000" y="582480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4" name="Text 27"/>
          <p:cNvSpPr/>
          <p:nvPr/>
        </p:nvSpPr>
        <p:spPr>
          <a:xfrm>
            <a:off x="749880" y="598032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375" name="Text 28"/>
          <p:cNvSpPr/>
          <p:nvPr/>
        </p:nvSpPr>
        <p:spPr>
          <a:xfrm>
            <a:off x="1609200" y="594360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Một công nghệ có thể xuất hiện ở nhiều lớp (ví dụ Kafka vừa ingest vừa lưu event theo retention), nhưng nên xác định “vai trò chính” của nó trong kiến trúc cụ thể.</a:t>
            </a:r>
            <a:endParaRPr b="0" lang="en-US" sz="1120" strike="noStrike" u="none">
              <a:solidFill>
                <a:srgbClr val="000000"/>
              </a:solidFill>
              <a:effectLst/>
              <a:uFillTx/>
              <a:latin typeface="Arial"/>
            </a:endParaRPr>
          </a:p>
        </p:txBody>
      </p:sp>
      <p:sp>
        <p:nvSpPr>
          <p:cNvPr id="376" name="PlaceHolder 1"/>
          <p:cNvSpPr>
            <a:spLocks noGrp="1"/>
          </p:cNvSpPr>
          <p:nvPr>
            <p:ph type="sldNum" idx="15"/>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ECE0CEE2-B931-4641-9685-D4E37F9ECF3B}" type="slidenum">
              <a:rPr b="0" lang="en-US" sz="800" strike="noStrike" u="none">
                <a:solidFill>
                  <a:srgbClr val="7a8797"/>
                </a:solidFill>
                <a:effectLst/>
                <a:uFillTx/>
                <a:latin typeface="Arial"/>
                <a:ea typeface="Arial"/>
              </a:rPr>
              <a:t>11</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11. Ingestion, Processing và Orchestration</a:t>
            </a:r>
            <a:endParaRPr b="0" lang="en-US" sz="2700" strike="noStrike" u="none">
              <a:solidFill>
                <a:srgbClr val="000000"/>
              </a:solidFill>
              <a:effectLst/>
              <a:uFillTx/>
              <a:latin typeface="Arial"/>
            </a:endParaRPr>
          </a:p>
        </p:txBody>
      </p:sp>
      <p:sp>
        <p:nvSpPr>
          <p:cNvPr id="378" name="Shape 2"/>
          <p:cNvSpPr/>
          <p:nvPr/>
        </p:nvSpPr>
        <p:spPr>
          <a:xfrm>
            <a:off x="731520" y="1554480"/>
            <a:ext cx="3337200" cy="3154320"/>
          </a:xfrm>
          <a:prstGeom prst="roundRect">
            <a:avLst>
              <a:gd name="adj" fmla="val 173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9" name="Shape 3"/>
          <p:cNvSpPr/>
          <p:nvPr/>
        </p:nvSpPr>
        <p:spPr>
          <a:xfrm>
            <a:off x="731520" y="1554480"/>
            <a:ext cx="72720" cy="315432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0" name="Text 4"/>
          <p:cNvSpPr/>
          <p:nvPr/>
        </p:nvSpPr>
        <p:spPr>
          <a:xfrm>
            <a:off x="914400" y="1700640"/>
            <a:ext cx="30445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INGESTION</a:t>
            </a:r>
            <a:endParaRPr b="0" lang="en-US" sz="1600" strike="noStrike" u="none">
              <a:solidFill>
                <a:srgbClr val="000000"/>
              </a:solidFill>
              <a:effectLst/>
              <a:uFillTx/>
              <a:latin typeface="Arial"/>
            </a:endParaRPr>
          </a:p>
        </p:txBody>
      </p:sp>
      <p:sp>
        <p:nvSpPr>
          <p:cNvPr id="381" name="Text 5"/>
          <p:cNvSpPr/>
          <p:nvPr/>
        </p:nvSpPr>
        <p:spPr>
          <a:xfrm>
            <a:off x="914400" y="2084760"/>
            <a:ext cx="3026160" cy="2495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300" strike="noStrike" u="none">
                <a:solidFill>
                  <a:srgbClr val="1f2937"/>
                </a:solidFill>
                <a:effectLst/>
                <a:uFillTx/>
                <a:latin typeface="Arial"/>
              </a:rPr>
              <a:t>Câu hỏi: “Làm sao đưa dữ liệu vào?”</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Kafka/Flume nhận event</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JDBC/Sqoop đọc bảng DB</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Có thể batch hoặc streaming</a:t>
            </a:r>
            <a:endParaRPr b="0" lang="en-US" sz="1300" strike="noStrike" u="none">
              <a:solidFill>
                <a:srgbClr val="000000"/>
              </a:solidFill>
              <a:effectLst/>
              <a:uFillTx/>
              <a:latin typeface="Arial"/>
            </a:endParaRPr>
          </a:p>
        </p:txBody>
      </p:sp>
      <p:sp>
        <p:nvSpPr>
          <p:cNvPr id="382" name="Shape 6"/>
          <p:cNvSpPr/>
          <p:nvPr/>
        </p:nvSpPr>
        <p:spPr>
          <a:xfrm>
            <a:off x="4434840" y="1554480"/>
            <a:ext cx="3337200" cy="3154320"/>
          </a:xfrm>
          <a:prstGeom prst="roundRect">
            <a:avLst>
              <a:gd name="adj" fmla="val 173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3" name="Shape 7"/>
          <p:cNvSpPr/>
          <p:nvPr/>
        </p:nvSpPr>
        <p:spPr>
          <a:xfrm>
            <a:off x="4434840" y="1554480"/>
            <a:ext cx="72720" cy="315432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4" name="Text 8"/>
          <p:cNvSpPr/>
          <p:nvPr/>
        </p:nvSpPr>
        <p:spPr>
          <a:xfrm>
            <a:off x="4617720" y="1700640"/>
            <a:ext cx="30445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PROCESSING</a:t>
            </a:r>
            <a:endParaRPr b="0" lang="en-US" sz="1600" strike="noStrike" u="none">
              <a:solidFill>
                <a:srgbClr val="000000"/>
              </a:solidFill>
              <a:effectLst/>
              <a:uFillTx/>
              <a:latin typeface="Arial"/>
            </a:endParaRPr>
          </a:p>
        </p:txBody>
      </p:sp>
      <p:sp>
        <p:nvSpPr>
          <p:cNvPr id="385" name="Text 9"/>
          <p:cNvSpPr/>
          <p:nvPr/>
        </p:nvSpPr>
        <p:spPr>
          <a:xfrm>
            <a:off x="4617720" y="2084760"/>
            <a:ext cx="3026160" cy="2495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300" strike="noStrike" u="none">
                <a:solidFill>
                  <a:srgbClr val="1f2937"/>
                </a:solidFill>
                <a:effectLst/>
                <a:uFillTx/>
                <a:latin typeface="Arial"/>
              </a:rPr>
              <a:t>Câu hỏi: “Làm gì với dữ liệu?”</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Spark/Flink transform</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Join, aggregate, window</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ML / feature engineering</a:t>
            </a:r>
            <a:endParaRPr b="0" lang="en-US" sz="1300" strike="noStrike" u="none">
              <a:solidFill>
                <a:srgbClr val="000000"/>
              </a:solidFill>
              <a:effectLst/>
              <a:uFillTx/>
              <a:latin typeface="Arial"/>
            </a:endParaRPr>
          </a:p>
        </p:txBody>
      </p:sp>
      <p:sp>
        <p:nvSpPr>
          <p:cNvPr id="386" name="Shape 10"/>
          <p:cNvSpPr/>
          <p:nvPr/>
        </p:nvSpPr>
        <p:spPr>
          <a:xfrm>
            <a:off x="8138160" y="1554480"/>
            <a:ext cx="3337200" cy="3154320"/>
          </a:xfrm>
          <a:prstGeom prst="roundRect">
            <a:avLst>
              <a:gd name="adj" fmla="val 173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7" name="Shape 11"/>
          <p:cNvSpPr/>
          <p:nvPr/>
        </p:nvSpPr>
        <p:spPr>
          <a:xfrm>
            <a:off x="8138160" y="1554480"/>
            <a:ext cx="72720" cy="315432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8" name="Text 12"/>
          <p:cNvSpPr/>
          <p:nvPr/>
        </p:nvSpPr>
        <p:spPr>
          <a:xfrm>
            <a:off x="8321040" y="1700640"/>
            <a:ext cx="30445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ORCHESTRATION</a:t>
            </a:r>
            <a:endParaRPr b="0" lang="en-US" sz="1600" strike="noStrike" u="none">
              <a:solidFill>
                <a:srgbClr val="000000"/>
              </a:solidFill>
              <a:effectLst/>
              <a:uFillTx/>
              <a:latin typeface="Arial"/>
            </a:endParaRPr>
          </a:p>
        </p:txBody>
      </p:sp>
      <p:sp>
        <p:nvSpPr>
          <p:cNvPr id="389" name="Text 13"/>
          <p:cNvSpPr/>
          <p:nvPr/>
        </p:nvSpPr>
        <p:spPr>
          <a:xfrm>
            <a:off x="8321040" y="2084760"/>
            <a:ext cx="3026160" cy="2495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300" strike="noStrike" u="none">
                <a:solidFill>
                  <a:srgbClr val="1f2937"/>
                </a:solidFill>
                <a:effectLst/>
                <a:uFillTx/>
                <a:latin typeface="Arial"/>
              </a:rPr>
              <a:t>Câu hỏi: “Khi nào và theo thứ tự nào?”</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Airflow chạy theo lịch</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Dependency / retry</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f2937"/>
                </a:solidFill>
                <a:effectLst/>
                <a:uFillTx/>
                <a:latin typeface="Arial"/>
              </a:rPr>
              <a:t>• Monitoring / alerting</a:t>
            </a:r>
            <a:endParaRPr b="0" lang="en-US" sz="1300" strike="noStrike" u="none">
              <a:solidFill>
                <a:srgbClr val="000000"/>
              </a:solidFill>
              <a:effectLst/>
              <a:uFillTx/>
              <a:latin typeface="Arial"/>
            </a:endParaRPr>
          </a:p>
        </p:txBody>
      </p:sp>
      <p:sp>
        <p:nvSpPr>
          <p:cNvPr id="390" name="Shape 14"/>
          <p:cNvSpPr/>
          <p:nvPr/>
        </p:nvSpPr>
        <p:spPr>
          <a:xfrm>
            <a:off x="567000" y="516636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1" name="Text 15"/>
          <p:cNvSpPr/>
          <p:nvPr/>
        </p:nvSpPr>
        <p:spPr>
          <a:xfrm>
            <a:off x="749880" y="532188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392" name="Text 16"/>
          <p:cNvSpPr/>
          <p:nvPr/>
        </p:nvSpPr>
        <p:spPr>
          <a:xfrm>
            <a:off x="1609200" y="5285160"/>
            <a:ext cx="97106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b4d1d"/>
                </a:solidFill>
                <a:effectLst/>
                <a:uFillTx/>
                <a:latin typeface="Arial"/>
              </a:rPr>
              <a:t>Ví dụ: Kafka nhận đơn hàng → Spark tính doanh thu → Airflow chạy job tổng hợp lúc 1:00 AM và kiểm tra task nào phải hoàn tất trước.</a:t>
            </a:r>
            <a:endParaRPr b="0" lang="en-US" sz="1120" strike="noStrike" u="none">
              <a:solidFill>
                <a:srgbClr val="000000"/>
              </a:solidFill>
              <a:effectLst/>
              <a:uFillTx/>
              <a:latin typeface="Arial"/>
            </a:endParaRPr>
          </a:p>
        </p:txBody>
      </p:sp>
      <p:sp>
        <p:nvSpPr>
          <p:cNvPr id="393" name="PlaceHolder 1"/>
          <p:cNvSpPr>
            <a:spLocks noGrp="1"/>
          </p:cNvSpPr>
          <p:nvPr>
            <p:ph type="sldNum" idx="16"/>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BBDC8D36-590B-4508-B761-CA75A00B2737}" type="slidenum">
              <a:rPr b="0" lang="en-US" sz="800" strike="noStrike" u="none">
                <a:solidFill>
                  <a:srgbClr val="7a8797"/>
                </a:solidFill>
                <a:effectLst/>
                <a:uFillTx/>
                <a:latin typeface="Arial"/>
                <a:ea typeface="Arial"/>
              </a:rPr>
              <a:t>12</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12. Apache Airflow — kiến trúc và vai trò</a:t>
            </a:r>
            <a:endParaRPr b="0" lang="en-US" sz="2700" strike="noStrike" u="none">
              <a:solidFill>
                <a:srgbClr val="000000"/>
              </a:solidFill>
              <a:effectLst/>
              <a:uFillTx/>
              <a:latin typeface="Arial"/>
            </a:endParaRPr>
          </a:p>
        </p:txBody>
      </p:sp>
      <p:sp>
        <p:nvSpPr>
          <p:cNvPr id="395"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Airflow biểu diễn workflow dưới dạng DAG: các task và quan hệ phụ thuộc giữa chúng.</a:t>
            </a:r>
            <a:endParaRPr b="0" lang="en-US" sz="1250" strike="noStrike" u="none">
              <a:solidFill>
                <a:srgbClr val="000000"/>
              </a:solidFill>
              <a:effectLst/>
              <a:uFillTx/>
              <a:latin typeface="Arial"/>
            </a:endParaRPr>
          </a:p>
        </p:txBody>
      </p:sp>
      <p:sp>
        <p:nvSpPr>
          <p:cNvPr id="396" name="Shape 2"/>
          <p:cNvSpPr/>
          <p:nvPr/>
        </p:nvSpPr>
        <p:spPr>
          <a:xfrm>
            <a:off x="777240" y="1828800"/>
            <a:ext cx="2239920" cy="95976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7" name="Text 3"/>
          <p:cNvSpPr/>
          <p:nvPr/>
        </p:nvSpPr>
        <p:spPr>
          <a:xfrm>
            <a:off x="850320" y="1993320"/>
            <a:ext cx="209376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Arial"/>
              </a:rPr>
              <a:t>DAG Files</a:t>
            </a:r>
            <a:endParaRPr b="0" lang="en-US" sz="1350" strike="noStrike" u="none">
              <a:solidFill>
                <a:srgbClr val="000000"/>
              </a:solidFill>
              <a:effectLst/>
              <a:uFillTx/>
              <a:latin typeface="Arial"/>
            </a:endParaRPr>
          </a:p>
        </p:txBody>
      </p:sp>
      <p:sp>
        <p:nvSpPr>
          <p:cNvPr id="398" name="Text 4"/>
          <p:cNvSpPr/>
          <p:nvPr/>
        </p:nvSpPr>
        <p:spPr>
          <a:xfrm>
            <a:off x="887040" y="234072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eef3f8"/>
                </a:solidFill>
                <a:effectLst/>
                <a:uFillTx/>
                <a:latin typeface="Arial"/>
              </a:rPr>
              <a:t>Định nghĩa workflow bằng Python</a:t>
            </a:r>
            <a:endParaRPr b="0" lang="en-US" sz="950" strike="noStrike" u="none">
              <a:solidFill>
                <a:srgbClr val="000000"/>
              </a:solidFill>
              <a:effectLst/>
              <a:uFillTx/>
              <a:latin typeface="Arial"/>
            </a:endParaRPr>
          </a:p>
        </p:txBody>
      </p:sp>
      <p:sp>
        <p:nvSpPr>
          <p:cNvPr id="399" name="Shape 5"/>
          <p:cNvSpPr/>
          <p:nvPr/>
        </p:nvSpPr>
        <p:spPr>
          <a:xfrm>
            <a:off x="3794760" y="1325880"/>
            <a:ext cx="2239920" cy="959760"/>
          </a:xfrm>
          <a:prstGeom prst="roundRect">
            <a:avLst>
              <a:gd name="adj" fmla="val 16667"/>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0" name="Text 6"/>
          <p:cNvSpPr/>
          <p:nvPr/>
        </p:nvSpPr>
        <p:spPr>
          <a:xfrm>
            <a:off x="3867840" y="1490400"/>
            <a:ext cx="209376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Arial"/>
              </a:rPr>
              <a:t>Scheduler</a:t>
            </a:r>
            <a:endParaRPr b="0" lang="en-US" sz="1350" strike="noStrike" u="none">
              <a:solidFill>
                <a:srgbClr val="000000"/>
              </a:solidFill>
              <a:effectLst/>
              <a:uFillTx/>
              <a:latin typeface="Arial"/>
            </a:endParaRPr>
          </a:p>
        </p:txBody>
      </p:sp>
      <p:sp>
        <p:nvSpPr>
          <p:cNvPr id="401" name="Text 7"/>
          <p:cNvSpPr/>
          <p:nvPr/>
        </p:nvSpPr>
        <p:spPr>
          <a:xfrm>
            <a:off x="3904560" y="183780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eef3f8"/>
                </a:solidFill>
                <a:effectLst/>
                <a:uFillTx/>
                <a:latin typeface="Arial"/>
              </a:rPr>
              <a:t>Xác định task nào sẵn sàng chạy</a:t>
            </a:r>
            <a:endParaRPr b="0" lang="en-US" sz="950" strike="noStrike" u="none">
              <a:solidFill>
                <a:srgbClr val="000000"/>
              </a:solidFill>
              <a:effectLst/>
              <a:uFillTx/>
              <a:latin typeface="Arial"/>
            </a:endParaRPr>
          </a:p>
        </p:txBody>
      </p:sp>
      <p:sp>
        <p:nvSpPr>
          <p:cNvPr id="402" name="Shape 8"/>
          <p:cNvSpPr/>
          <p:nvPr/>
        </p:nvSpPr>
        <p:spPr>
          <a:xfrm>
            <a:off x="6858000" y="1325880"/>
            <a:ext cx="2239920" cy="959760"/>
          </a:xfrm>
          <a:prstGeom prst="roundRect">
            <a:avLst>
              <a:gd name="adj" fmla="val 16667"/>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3" name="Text 9"/>
          <p:cNvSpPr/>
          <p:nvPr/>
        </p:nvSpPr>
        <p:spPr>
          <a:xfrm>
            <a:off x="6931080" y="1490400"/>
            <a:ext cx="209376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Arial"/>
              </a:rPr>
              <a:t>Executor / Workers</a:t>
            </a:r>
            <a:endParaRPr b="0" lang="en-US" sz="1350" strike="noStrike" u="none">
              <a:solidFill>
                <a:srgbClr val="000000"/>
              </a:solidFill>
              <a:effectLst/>
              <a:uFillTx/>
              <a:latin typeface="Arial"/>
            </a:endParaRPr>
          </a:p>
        </p:txBody>
      </p:sp>
      <p:sp>
        <p:nvSpPr>
          <p:cNvPr id="404" name="Text 10"/>
          <p:cNvSpPr/>
          <p:nvPr/>
        </p:nvSpPr>
        <p:spPr>
          <a:xfrm>
            <a:off x="6967800" y="183780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eef3f8"/>
                </a:solidFill>
                <a:effectLst/>
                <a:uFillTx/>
                <a:latin typeface="Arial"/>
              </a:rPr>
              <a:t>Thực thi task</a:t>
            </a:r>
            <a:endParaRPr b="0" lang="en-US" sz="950" strike="noStrike" u="none">
              <a:solidFill>
                <a:srgbClr val="000000"/>
              </a:solidFill>
              <a:effectLst/>
              <a:uFillTx/>
              <a:latin typeface="Arial"/>
            </a:endParaRPr>
          </a:p>
        </p:txBody>
      </p:sp>
      <p:sp>
        <p:nvSpPr>
          <p:cNvPr id="405" name="Shape 11"/>
          <p:cNvSpPr/>
          <p:nvPr/>
        </p:nvSpPr>
        <p:spPr>
          <a:xfrm>
            <a:off x="3794760" y="3108960"/>
            <a:ext cx="2239920" cy="959760"/>
          </a:xfrm>
          <a:prstGeom prst="roundRect">
            <a:avLst>
              <a:gd name="adj" fmla="val 16667"/>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6" name="Text 12"/>
          <p:cNvSpPr/>
          <p:nvPr/>
        </p:nvSpPr>
        <p:spPr>
          <a:xfrm>
            <a:off x="3867840" y="3273480"/>
            <a:ext cx="209376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Arial"/>
              </a:rPr>
              <a:t>Metadata DB</a:t>
            </a:r>
            <a:endParaRPr b="0" lang="en-US" sz="1350" strike="noStrike" u="none">
              <a:solidFill>
                <a:srgbClr val="000000"/>
              </a:solidFill>
              <a:effectLst/>
              <a:uFillTx/>
              <a:latin typeface="Arial"/>
            </a:endParaRPr>
          </a:p>
        </p:txBody>
      </p:sp>
      <p:sp>
        <p:nvSpPr>
          <p:cNvPr id="407" name="Text 13"/>
          <p:cNvSpPr/>
          <p:nvPr/>
        </p:nvSpPr>
        <p:spPr>
          <a:xfrm>
            <a:off x="3904560" y="362088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eef3f8"/>
                </a:solidFill>
                <a:effectLst/>
                <a:uFillTx/>
                <a:latin typeface="Arial"/>
              </a:rPr>
              <a:t>Lưu trạng thái DAG/task</a:t>
            </a:r>
            <a:endParaRPr b="0" lang="en-US" sz="950" strike="noStrike" u="none">
              <a:solidFill>
                <a:srgbClr val="000000"/>
              </a:solidFill>
              <a:effectLst/>
              <a:uFillTx/>
              <a:latin typeface="Arial"/>
            </a:endParaRPr>
          </a:p>
        </p:txBody>
      </p:sp>
      <p:sp>
        <p:nvSpPr>
          <p:cNvPr id="408" name="Shape 14"/>
          <p:cNvSpPr/>
          <p:nvPr/>
        </p:nvSpPr>
        <p:spPr>
          <a:xfrm>
            <a:off x="777240" y="3108960"/>
            <a:ext cx="2239920" cy="95976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9" name="Text 15"/>
          <p:cNvSpPr/>
          <p:nvPr/>
        </p:nvSpPr>
        <p:spPr>
          <a:xfrm>
            <a:off x="850320" y="3273480"/>
            <a:ext cx="209376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trike="noStrike" u="none">
                <a:solidFill>
                  <a:srgbClr val="ffffff"/>
                </a:solidFill>
                <a:effectLst/>
                <a:uFillTx/>
                <a:latin typeface="Arial"/>
              </a:rPr>
              <a:t>Web UI / API</a:t>
            </a:r>
            <a:endParaRPr b="0" lang="en-US" sz="1350" strike="noStrike" u="none">
              <a:solidFill>
                <a:srgbClr val="000000"/>
              </a:solidFill>
              <a:effectLst/>
              <a:uFillTx/>
              <a:latin typeface="Arial"/>
            </a:endParaRPr>
          </a:p>
        </p:txBody>
      </p:sp>
      <p:sp>
        <p:nvSpPr>
          <p:cNvPr id="410" name="Text 16"/>
          <p:cNvSpPr/>
          <p:nvPr/>
        </p:nvSpPr>
        <p:spPr>
          <a:xfrm>
            <a:off x="887040" y="362088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eef3f8"/>
                </a:solidFill>
                <a:effectLst/>
                <a:uFillTx/>
                <a:latin typeface="Arial"/>
              </a:rPr>
              <a:t>Quan sát, trigger, kiểm tra logs</a:t>
            </a:r>
            <a:endParaRPr b="0" lang="en-US" sz="950" strike="noStrike" u="none">
              <a:solidFill>
                <a:srgbClr val="000000"/>
              </a:solidFill>
              <a:effectLst/>
              <a:uFillTx/>
              <a:latin typeface="Arial"/>
            </a:endParaRPr>
          </a:p>
        </p:txBody>
      </p:sp>
      <p:sp>
        <p:nvSpPr>
          <p:cNvPr id="411" name="Shape 17"/>
          <p:cNvSpPr/>
          <p:nvPr/>
        </p:nvSpPr>
        <p:spPr>
          <a:xfrm flipV="1">
            <a:off x="3017520" y="1874520"/>
            <a:ext cx="777240" cy="438840"/>
          </a:xfrm>
          <a:prstGeom prst="line">
            <a:avLst/>
          </a:prstGeom>
          <a:ln w="2540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2" name="Shape 18"/>
          <p:cNvSpPr/>
          <p:nvPr/>
        </p:nvSpPr>
        <p:spPr>
          <a:xfrm>
            <a:off x="6035040" y="1828800"/>
            <a:ext cx="82296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13" name="Shape 19"/>
          <p:cNvSpPr/>
          <p:nvPr/>
        </p:nvSpPr>
        <p:spPr>
          <a:xfrm>
            <a:off x="4910040" y="2286000"/>
            <a:ext cx="360" cy="822960"/>
          </a:xfrm>
          <a:prstGeom prst="line">
            <a:avLst/>
          </a:prstGeom>
          <a:ln w="2540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4" name="Shape 20"/>
          <p:cNvSpPr/>
          <p:nvPr/>
        </p:nvSpPr>
        <p:spPr>
          <a:xfrm>
            <a:off x="3017520" y="3584160"/>
            <a:ext cx="77724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15" name="Shape 21"/>
          <p:cNvSpPr/>
          <p:nvPr/>
        </p:nvSpPr>
        <p:spPr>
          <a:xfrm>
            <a:off x="9464040" y="1325880"/>
            <a:ext cx="2423160" cy="2742840"/>
          </a:xfrm>
          <a:prstGeom prst="roundRect">
            <a:avLst>
              <a:gd name="adj" fmla="val 2857"/>
            </a:avLst>
          </a:prstGeom>
          <a:solidFill>
            <a:srgbClr val="fff3f3"/>
          </a:solidFill>
          <a:ln w="15240">
            <a:solidFill>
              <a:srgbClr val="f2c7c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6" name="Shape 22"/>
          <p:cNvSpPr/>
          <p:nvPr/>
        </p:nvSpPr>
        <p:spPr>
          <a:xfrm>
            <a:off x="9464040" y="1325880"/>
            <a:ext cx="72720" cy="2742840"/>
          </a:xfrm>
          <a:prstGeom prst="rect">
            <a:avLst/>
          </a:prstGeom>
          <a:solidFill>
            <a:srgbClr val="d64545"/>
          </a:solidFill>
          <a:ln w="12700">
            <a:solidFill>
              <a:srgbClr val="d6454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7" name="Text 23"/>
          <p:cNvSpPr/>
          <p:nvPr/>
        </p:nvSpPr>
        <p:spPr>
          <a:xfrm>
            <a:off x="9646920" y="1472040"/>
            <a:ext cx="1783080" cy="29232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1600" strike="noStrike" u="none">
                <a:solidFill>
                  <a:srgbClr val="16324f"/>
                </a:solidFill>
                <a:effectLst/>
                <a:uFillTx/>
                <a:latin typeface="Arial"/>
              </a:rPr>
              <a:t>Điều Airflow không làm</a:t>
            </a:r>
            <a:endParaRPr b="0" lang="en-US" sz="1600" strike="noStrike" u="none">
              <a:solidFill>
                <a:srgbClr val="000000"/>
              </a:solidFill>
              <a:effectLst/>
              <a:uFillTx/>
              <a:latin typeface="Arial"/>
            </a:endParaRPr>
          </a:p>
        </p:txBody>
      </p:sp>
      <p:sp>
        <p:nvSpPr>
          <p:cNvPr id="418" name="Text 24"/>
          <p:cNvSpPr/>
          <p:nvPr/>
        </p:nvSpPr>
        <p:spPr>
          <a:xfrm>
            <a:off x="9646920" y="1856160"/>
            <a:ext cx="2240280" cy="20844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20" strike="noStrike" u="none">
                <a:solidFill>
                  <a:srgbClr val="1f2937"/>
                </a:solidFill>
                <a:effectLst/>
                <a:uFillTx/>
                <a:latin typeface="Arial"/>
              </a:rPr>
              <a:t>• Không phải message broker</a:t>
            </a:r>
            <a:endParaRPr b="0" lang="en-US" sz="1120" strike="noStrike" u="none">
              <a:solidFill>
                <a:srgbClr val="000000"/>
              </a:solidFill>
              <a:effectLst/>
              <a:uFillTx/>
              <a:latin typeface="Arial"/>
            </a:endParaRPr>
          </a:p>
          <a:p>
            <a:pPr defTabSz="914400">
              <a:lnSpc>
                <a:spcPct val="100000"/>
              </a:lnSpc>
              <a:tabLst>
                <a:tab algn="l" pos="0"/>
              </a:tabLst>
            </a:pPr>
            <a:r>
              <a:rPr b="0" lang="en-US" sz="1120" strike="noStrike" u="none">
                <a:solidFill>
                  <a:srgbClr val="1f2937"/>
                </a:solidFill>
                <a:effectLst/>
                <a:uFillTx/>
                <a:latin typeface="Arial"/>
              </a:rPr>
              <a:t>• Không phải engine xử lý dữ liệu</a:t>
            </a:r>
            <a:endParaRPr b="0" lang="en-US" sz="1120" strike="noStrike" u="none">
              <a:solidFill>
                <a:srgbClr val="000000"/>
              </a:solidFill>
              <a:effectLst/>
              <a:uFillTx/>
              <a:latin typeface="Arial"/>
            </a:endParaRPr>
          </a:p>
          <a:p>
            <a:pPr defTabSz="914400">
              <a:lnSpc>
                <a:spcPct val="100000"/>
              </a:lnSpc>
              <a:tabLst>
                <a:tab algn="l" pos="0"/>
              </a:tabLst>
            </a:pPr>
            <a:r>
              <a:rPr b="0" lang="en-US" sz="1120" strike="noStrike" u="none">
                <a:solidFill>
                  <a:srgbClr val="1f2937"/>
                </a:solidFill>
                <a:effectLst/>
                <a:uFillTx/>
                <a:latin typeface="Arial"/>
              </a:rPr>
              <a:t>• Không thay Kafka/Spark</a:t>
            </a:r>
            <a:endParaRPr b="0" lang="en-US" sz="1120" strike="noStrike" u="none">
              <a:solidFill>
                <a:srgbClr val="000000"/>
              </a:solidFill>
              <a:effectLst/>
              <a:uFillTx/>
              <a:latin typeface="Arial"/>
            </a:endParaRPr>
          </a:p>
          <a:p>
            <a:pPr defTabSz="914400">
              <a:lnSpc>
                <a:spcPct val="100000"/>
              </a:lnSpc>
              <a:tabLst>
                <a:tab algn="l" pos="0"/>
              </a:tabLst>
            </a:pPr>
            <a:endParaRPr b="0" lang="en-US" sz="1120" strike="noStrike" u="none">
              <a:solidFill>
                <a:srgbClr val="000000"/>
              </a:solidFill>
              <a:effectLst/>
              <a:uFillTx/>
              <a:latin typeface="Arial"/>
            </a:endParaRPr>
          </a:p>
          <a:p>
            <a:pPr defTabSz="914400">
              <a:lnSpc>
                <a:spcPct val="100000"/>
              </a:lnSpc>
              <a:tabLst>
                <a:tab algn="l" pos="0"/>
              </a:tabLst>
            </a:pPr>
            <a:r>
              <a:rPr b="0" lang="en-US" sz="1120" strike="noStrike" u="none">
                <a:solidFill>
                  <a:srgbClr val="1f2937"/>
                </a:solidFill>
                <a:effectLst/>
                <a:uFillTx/>
                <a:latin typeface="Arial"/>
              </a:rPr>
              <a:t>Airflow “điều khiển” các hệ thống đó thông qua task/operator.</a:t>
            </a:r>
            <a:endParaRPr b="0" lang="en-US" sz="1120" strike="noStrike" u="none">
              <a:solidFill>
                <a:srgbClr val="000000"/>
              </a:solidFill>
              <a:effectLst/>
              <a:uFillTx/>
              <a:latin typeface="Arial"/>
            </a:endParaRPr>
          </a:p>
        </p:txBody>
      </p:sp>
      <p:sp>
        <p:nvSpPr>
          <p:cNvPr id="419" name="Shape 25"/>
          <p:cNvSpPr/>
          <p:nvPr/>
        </p:nvSpPr>
        <p:spPr>
          <a:xfrm>
            <a:off x="567000" y="523044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0" name="Text 26"/>
          <p:cNvSpPr/>
          <p:nvPr/>
        </p:nvSpPr>
        <p:spPr>
          <a:xfrm>
            <a:off x="749880" y="538596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421" name="Text 27"/>
          <p:cNvSpPr/>
          <p:nvPr/>
        </p:nvSpPr>
        <p:spPr>
          <a:xfrm>
            <a:off x="1609200" y="534924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Trong production, Airflow có thêm nhiều thành phần/kiểu executor tùy quy mô. Ở mức nhập môn, hãy nhớ 4 ý: DAG, Scheduler, Executor/Worker, Metadata DB.</a:t>
            </a:r>
            <a:endParaRPr b="0" lang="en-US" sz="1120" strike="noStrike" u="none">
              <a:solidFill>
                <a:srgbClr val="000000"/>
              </a:solidFill>
              <a:effectLst/>
              <a:uFillTx/>
              <a:latin typeface="Arial"/>
            </a:endParaRPr>
          </a:p>
        </p:txBody>
      </p:sp>
      <p:sp>
        <p:nvSpPr>
          <p:cNvPr id="422" name="Text 28"/>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bổ sung: Apache Airflow 3.3.x Architecture Overview (official).</a:t>
            </a:r>
            <a:endParaRPr b="0" lang="en-US" sz="720" strike="noStrike" u="none">
              <a:solidFill>
                <a:srgbClr val="000000"/>
              </a:solidFill>
              <a:effectLst/>
              <a:uFillTx/>
              <a:latin typeface="Arial"/>
            </a:endParaRPr>
          </a:p>
        </p:txBody>
      </p:sp>
      <p:sp>
        <p:nvSpPr>
          <p:cNvPr id="423" name="PlaceHolder 1"/>
          <p:cNvSpPr>
            <a:spLocks noGrp="1"/>
          </p:cNvSpPr>
          <p:nvPr>
            <p:ph type="sldNum" idx="17"/>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4ACE03A0-DEB1-415D-A75B-A0BE3F8B54B1}" type="slidenum">
              <a:rPr b="0" lang="en-US" sz="800" strike="noStrike" u="none">
                <a:solidFill>
                  <a:srgbClr val="7a8797"/>
                </a:solidFill>
                <a:effectLst/>
                <a:uFillTx/>
                <a:latin typeface="Arial"/>
                <a:ea typeface="Arial"/>
              </a:rPr>
              <a:t>13</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13. DAG là gì? — đọc một workflow Airflow</a:t>
            </a:r>
            <a:endParaRPr b="0" lang="en-US" sz="2700" strike="noStrike" u="none">
              <a:solidFill>
                <a:srgbClr val="000000"/>
              </a:solidFill>
              <a:effectLst/>
              <a:uFillTx/>
              <a:latin typeface="Arial"/>
            </a:endParaRPr>
          </a:p>
        </p:txBody>
      </p:sp>
      <p:sp>
        <p:nvSpPr>
          <p:cNvPr id="425"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DAG = Directed Acyclic Graph: đồ thị có hướng và không có vòng lặp.</a:t>
            </a:r>
            <a:endParaRPr b="0" lang="en-US" sz="1250" strike="noStrike" u="none">
              <a:solidFill>
                <a:srgbClr val="000000"/>
              </a:solidFill>
              <a:effectLst/>
              <a:uFillTx/>
              <a:latin typeface="Arial"/>
            </a:endParaRPr>
          </a:p>
        </p:txBody>
      </p:sp>
      <p:sp>
        <p:nvSpPr>
          <p:cNvPr id="426" name="Shape 2"/>
          <p:cNvSpPr/>
          <p:nvPr/>
        </p:nvSpPr>
        <p:spPr>
          <a:xfrm>
            <a:off x="914400" y="2194560"/>
            <a:ext cx="1691280" cy="71280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7" name="Text 3"/>
          <p:cNvSpPr/>
          <p:nvPr/>
        </p:nvSpPr>
        <p:spPr>
          <a:xfrm>
            <a:off x="987480" y="2423160"/>
            <a:ext cx="15451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extract</a:t>
            </a:r>
            <a:endParaRPr b="0" lang="en-US" sz="1300" strike="noStrike" u="none">
              <a:solidFill>
                <a:srgbClr val="000000"/>
              </a:solidFill>
              <a:effectLst/>
              <a:uFillTx/>
              <a:latin typeface="Arial"/>
            </a:endParaRPr>
          </a:p>
        </p:txBody>
      </p:sp>
      <p:sp>
        <p:nvSpPr>
          <p:cNvPr id="428" name="Shape 4"/>
          <p:cNvSpPr/>
          <p:nvPr/>
        </p:nvSpPr>
        <p:spPr>
          <a:xfrm>
            <a:off x="3657600" y="1417320"/>
            <a:ext cx="1691280" cy="71280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9" name="Text 5"/>
          <p:cNvSpPr/>
          <p:nvPr/>
        </p:nvSpPr>
        <p:spPr>
          <a:xfrm>
            <a:off x="3730680" y="1645920"/>
            <a:ext cx="15451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validate</a:t>
            </a:r>
            <a:endParaRPr b="0" lang="en-US" sz="1300" strike="noStrike" u="none">
              <a:solidFill>
                <a:srgbClr val="000000"/>
              </a:solidFill>
              <a:effectLst/>
              <a:uFillTx/>
              <a:latin typeface="Arial"/>
            </a:endParaRPr>
          </a:p>
        </p:txBody>
      </p:sp>
      <p:sp>
        <p:nvSpPr>
          <p:cNvPr id="430" name="Shape 6"/>
          <p:cNvSpPr/>
          <p:nvPr/>
        </p:nvSpPr>
        <p:spPr>
          <a:xfrm>
            <a:off x="3657600" y="2971800"/>
            <a:ext cx="1691280" cy="712800"/>
          </a:xfrm>
          <a:prstGeom prst="roundRect">
            <a:avLst>
              <a:gd name="adj" fmla="val 16667"/>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1" name="Text 7"/>
          <p:cNvSpPr/>
          <p:nvPr/>
        </p:nvSpPr>
        <p:spPr>
          <a:xfrm>
            <a:off x="3730680" y="3200400"/>
            <a:ext cx="15451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transform</a:t>
            </a:r>
            <a:endParaRPr b="0" lang="en-US" sz="1300" strike="noStrike" u="none">
              <a:solidFill>
                <a:srgbClr val="000000"/>
              </a:solidFill>
              <a:effectLst/>
              <a:uFillTx/>
              <a:latin typeface="Arial"/>
            </a:endParaRPr>
          </a:p>
        </p:txBody>
      </p:sp>
      <p:sp>
        <p:nvSpPr>
          <p:cNvPr id="432" name="Shape 8"/>
          <p:cNvSpPr/>
          <p:nvPr/>
        </p:nvSpPr>
        <p:spPr>
          <a:xfrm>
            <a:off x="6583680" y="2194560"/>
            <a:ext cx="1691280" cy="712800"/>
          </a:xfrm>
          <a:prstGeom prst="roundRect">
            <a:avLst>
              <a:gd name="adj" fmla="val 16667"/>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3" name="Text 9"/>
          <p:cNvSpPr/>
          <p:nvPr/>
        </p:nvSpPr>
        <p:spPr>
          <a:xfrm>
            <a:off x="6656760" y="2423160"/>
            <a:ext cx="15451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load</a:t>
            </a:r>
            <a:endParaRPr b="0" lang="en-US" sz="1300" strike="noStrike" u="none">
              <a:solidFill>
                <a:srgbClr val="000000"/>
              </a:solidFill>
              <a:effectLst/>
              <a:uFillTx/>
              <a:latin typeface="Arial"/>
            </a:endParaRPr>
          </a:p>
        </p:txBody>
      </p:sp>
      <p:sp>
        <p:nvSpPr>
          <p:cNvPr id="434" name="Shape 10"/>
          <p:cNvSpPr/>
          <p:nvPr/>
        </p:nvSpPr>
        <p:spPr>
          <a:xfrm>
            <a:off x="9418320" y="2194560"/>
            <a:ext cx="1691280" cy="712800"/>
          </a:xfrm>
          <a:prstGeom prst="roundRect">
            <a:avLst>
              <a:gd name="adj" fmla="val 16667"/>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5" name="Text 11"/>
          <p:cNvSpPr/>
          <p:nvPr/>
        </p:nvSpPr>
        <p:spPr>
          <a:xfrm>
            <a:off x="9491400" y="2423160"/>
            <a:ext cx="15451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Arial"/>
              </a:rPr>
              <a:t>report</a:t>
            </a:r>
            <a:endParaRPr b="0" lang="en-US" sz="1300" strike="noStrike" u="none">
              <a:solidFill>
                <a:srgbClr val="000000"/>
              </a:solidFill>
              <a:effectLst/>
              <a:uFillTx/>
              <a:latin typeface="Arial"/>
            </a:endParaRPr>
          </a:p>
        </p:txBody>
      </p:sp>
      <p:sp>
        <p:nvSpPr>
          <p:cNvPr id="436" name="Shape 12"/>
          <p:cNvSpPr/>
          <p:nvPr/>
        </p:nvSpPr>
        <p:spPr>
          <a:xfrm flipV="1">
            <a:off x="2606040" y="1783080"/>
            <a:ext cx="1051560" cy="758880"/>
          </a:xfrm>
          <a:prstGeom prst="line">
            <a:avLst/>
          </a:prstGeom>
          <a:ln w="2540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37" name="Shape 13"/>
          <p:cNvSpPr/>
          <p:nvPr/>
        </p:nvSpPr>
        <p:spPr>
          <a:xfrm>
            <a:off x="2606040" y="2541960"/>
            <a:ext cx="1051560" cy="786240"/>
          </a:xfrm>
          <a:prstGeom prst="line">
            <a:avLst/>
          </a:prstGeom>
          <a:ln w="2540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38" name="Shape 14"/>
          <p:cNvSpPr/>
          <p:nvPr/>
        </p:nvSpPr>
        <p:spPr>
          <a:xfrm>
            <a:off x="5349240" y="1783080"/>
            <a:ext cx="1234440" cy="758880"/>
          </a:xfrm>
          <a:prstGeom prst="line">
            <a:avLst/>
          </a:prstGeom>
          <a:ln w="2540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39" name="Shape 15"/>
          <p:cNvSpPr/>
          <p:nvPr/>
        </p:nvSpPr>
        <p:spPr>
          <a:xfrm flipV="1">
            <a:off x="5349240" y="2541960"/>
            <a:ext cx="1234440" cy="786240"/>
          </a:xfrm>
          <a:prstGeom prst="line">
            <a:avLst/>
          </a:prstGeom>
          <a:ln w="25400">
            <a:solidFill>
              <a:srgbClr val="94a3b8"/>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0" name="Shape 16"/>
          <p:cNvSpPr/>
          <p:nvPr/>
        </p:nvSpPr>
        <p:spPr>
          <a:xfrm>
            <a:off x="8275320" y="2541960"/>
            <a:ext cx="114300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41" name="Shape 17"/>
          <p:cNvSpPr/>
          <p:nvPr/>
        </p:nvSpPr>
        <p:spPr>
          <a:xfrm>
            <a:off x="868680" y="4160520"/>
            <a:ext cx="2514240" cy="959760"/>
          </a:xfrm>
          <a:prstGeom prst="roundRect">
            <a:avLst>
              <a:gd name="adj" fmla="val 5714"/>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2" name="Shape 18"/>
          <p:cNvSpPr/>
          <p:nvPr/>
        </p:nvSpPr>
        <p:spPr>
          <a:xfrm>
            <a:off x="868680" y="4160520"/>
            <a:ext cx="72720" cy="95976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3" name="Text 19"/>
          <p:cNvSpPr/>
          <p:nvPr/>
        </p:nvSpPr>
        <p:spPr>
          <a:xfrm>
            <a:off x="1051560" y="4306680"/>
            <a:ext cx="22215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Task</a:t>
            </a:r>
            <a:endParaRPr b="0" lang="en-US" sz="1600" strike="noStrike" u="none">
              <a:solidFill>
                <a:srgbClr val="000000"/>
              </a:solidFill>
              <a:effectLst/>
              <a:uFillTx/>
              <a:latin typeface="Arial"/>
            </a:endParaRPr>
          </a:p>
        </p:txBody>
      </p:sp>
      <p:sp>
        <p:nvSpPr>
          <p:cNvPr id="444" name="Text 20"/>
          <p:cNvSpPr/>
          <p:nvPr/>
        </p:nvSpPr>
        <p:spPr>
          <a:xfrm>
            <a:off x="1051560" y="4690800"/>
            <a:ext cx="2203200" cy="30132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80" strike="noStrike" u="none">
                <a:solidFill>
                  <a:srgbClr val="1f2937"/>
                </a:solidFill>
                <a:effectLst/>
                <a:uFillTx/>
                <a:latin typeface="Arial"/>
              </a:rPr>
              <a:t>Một đơn vị công việc: chạy Python, SQL, Spark job, shell command...</a:t>
            </a:r>
            <a:endParaRPr b="0" lang="en-US" sz="1080" strike="noStrike" u="none">
              <a:solidFill>
                <a:srgbClr val="000000"/>
              </a:solidFill>
              <a:effectLst/>
              <a:uFillTx/>
              <a:latin typeface="Arial"/>
            </a:endParaRPr>
          </a:p>
        </p:txBody>
      </p:sp>
      <p:sp>
        <p:nvSpPr>
          <p:cNvPr id="445" name="Shape 21"/>
          <p:cNvSpPr/>
          <p:nvPr/>
        </p:nvSpPr>
        <p:spPr>
          <a:xfrm>
            <a:off x="3611880" y="4160520"/>
            <a:ext cx="2514240" cy="959760"/>
          </a:xfrm>
          <a:prstGeom prst="roundRect">
            <a:avLst>
              <a:gd name="adj" fmla="val 5714"/>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6" name="Shape 22"/>
          <p:cNvSpPr/>
          <p:nvPr/>
        </p:nvSpPr>
        <p:spPr>
          <a:xfrm>
            <a:off x="3611880" y="4160520"/>
            <a:ext cx="72720" cy="9597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7" name="Text 23"/>
          <p:cNvSpPr/>
          <p:nvPr/>
        </p:nvSpPr>
        <p:spPr>
          <a:xfrm>
            <a:off x="3794760" y="4306680"/>
            <a:ext cx="22215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Dependency</a:t>
            </a:r>
            <a:endParaRPr b="0" lang="en-US" sz="1600" strike="noStrike" u="none">
              <a:solidFill>
                <a:srgbClr val="000000"/>
              </a:solidFill>
              <a:effectLst/>
              <a:uFillTx/>
              <a:latin typeface="Arial"/>
            </a:endParaRPr>
          </a:p>
        </p:txBody>
      </p:sp>
      <p:sp>
        <p:nvSpPr>
          <p:cNvPr id="448" name="Text 24"/>
          <p:cNvSpPr/>
          <p:nvPr/>
        </p:nvSpPr>
        <p:spPr>
          <a:xfrm>
            <a:off x="3794760" y="4690800"/>
            <a:ext cx="2203200" cy="30132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80" strike="noStrike" u="none">
                <a:solidFill>
                  <a:srgbClr val="1f2937"/>
                </a:solidFill>
                <a:effectLst/>
                <a:uFillTx/>
                <a:latin typeface="Arial"/>
              </a:rPr>
              <a:t>Task downstream chỉ chạy khi điều kiện upstream được đáp ứng.</a:t>
            </a:r>
            <a:endParaRPr b="0" lang="en-US" sz="1080" strike="noStrike" u="none">
              <a:solidFill>
                <a:srgbClr val="000000"/>
              </a:solidFill>
              <a:effectLst/>
              <a:uFillTx/>
              <a:latin typeface="Arial"/>
            </a:endParaRPr>
          </a:p>
        </p:txBody>
      </p:sp>
      <p:sp>
        <p:nvSpPr>
          <p:cNvPr id="449" name="Shape 25"/>
          <p:cNvSpPr/>
          <p:nvPr/>
        </p:nvSpPr>
        <p:spPr>
          <a:xfrm>
            <a:off x="6355080" y="4160520"/>
            <a:ext cx="2514240" cy="959760"/>
          </a:xfrm>
          <a:prstGeom prst="roundRect">
            <a:avLst>
              <a:gd name="adj" fmla="val 5714"/>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0" name="Shape 26"/>
          <p:cNvSpPr/>
          <p:nvPr/>
        </p:nvSpPr>
        <p:spPr>
          <a:xfrm>
            <a:off x="6355080" y="4160520"/>
            <a:ext cx="72720" cy="95976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1" name="Text 27"/>
          <p:cNvSpPr/>
          <p:nvPr/>
        </p:nvSpPr>
        <p:spPr>
          <a:xfrm>
            <a:off x="6537960" y="4306680"/>
            <a:ext cx="22215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Schedule</a:t>
            </a:r>
            <a:endParaRPr b="0" lang="en-US" sz="1600" strike="noStrike" u="none">
              <a:solidFill>
                <a:srgbClr val="000000"/>
              </a:solidFill>
              <a:effectLst/>
              <a:uFillTx/>
              <a:latin typeface="Arial"/>
            </a:endParaRPr>
          </a:p>
        </p:txBody>
      </p:sp>
      <p:sp>
        <p:nvSpPr>
          <p:cNvPr id="452" name="Text 28"/>
          <p:cNvSpPr/>
          <p:nvPr/>
        </p:nvSpPr>
        <p:spPr>
          <a:xfrm>
            <a:off x="6537960" y="4690800"/>
            <a:ext cx="2203200" cy="30132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80" strike="noStrike" u="none">
                <a:solidFill>
                  <a:srgbClr val="1f2937"/>
                </a:solidFill>
                <a:effectLst/>
                <a:uFillTx/>
                <a:latin typeface="Arial"/>
              </a:rPr>
              <a:t>Cron / interval / event-based scheduling tùy workflow.</a:t>
            </a:r>
            <a:endParaRPr b="0" lang="en-US" sz="1080" strike="noStrike" u="none">
              <a:solidFill>
                <a:srgbClr val="000000"/>
              </a:solidFill>
              <a:effectLst/>
              <a:uFillTx/>
              <a:latin typeface="Arial"/>
            </a:endParaRPr>
          </a:p>
        </p:txBody>
      </p:sp>
      <p:sp>
        <p:nvSpPr>
          <p:cNvPr id="453" name="Shape 29"/>
          <p:cNvSpPr/>
          <p:nvPr/>
        </p:nvSpPr>
        <p:spPr>
          <a:xfrm>
            <a:off x="9098280" y="4160520"/>
            <a:ext cx="2239920" cy="959760"/>
          </a:xfrm>
          <a:prstGeom prst="roundRect">
            <a:avLst>
              <a:gd name="adj" fmla="val 5714"/>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4" name="Shape 30"/>
          <p:cNvSpPr/>
          <p:nvPr/>
        </p:nvSpPr>
        <p:spPr>
          <a:xfrm>
            <a:off x="9098280" y="4160520"/>
            <a:ext cx="72720" cy="95976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55" name="Text 31"/>
          <p:cNvSpPr/>
          <p:nvPr/>
        </p:nvSpPr>
        <p:spPr>
          <a:xfrm>
            <a:off x="9281160" y="4306680"/>
            <a:ext cx="1947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Retry</a:t>
            </a:r>
            <a:endParaRPr b="0" lang="en-US" sz="1600" strike="noStrike" u="none">
              <a:solidFill>
                <a:srgbClr val="000000"/>
              </a:solidFill>
              <a:effectLst/>
              <a:uFillTx/>
              <a:latin typeface="Arial"/>
            </a:endParaRPr>
          </a:p>
        </p:txBody>
      </p:sp>
      <p:sp>
        <p:nvSpPr>
          <p:cNvPr id="456" name="Text 32"/>
          <p:cNvSpPr/>
          <p:nvPr/>
        </p:nvSpPr>
        <p:spPr>
          <a:xfrm>
            <a:off x="9281160" y="4690800"/>
            <a:ext cx="1928880" cy="301320"/>
          </a:xfrm>
          <a:prstGeom prst="rect">
            <a:avLst/>
          </a:prstGeom>
          <a:noFill/>
          <a:ln w="0">
            <a:noFill/>
          </a:ln>
        </p:spPr>
        <p:style>
          <a:lnRef idx="0"/>
          <a:fillRef idx="0"/>
          <a:effectRef idx="0"/>
          <a:fontRef idx="minor"/>
        </p:style>
        <p:txBody>
          <a:bodyPr lIns="360" rIns="360" tIns="360" bIns="360" anchor="t">
            <a:normAutofit lnSpcReduction="9999"/>
          </a:bodyPr>
          <a:p>
            <a:pPr defTabSz="914400">
              <a:lnSpc>
                <a:spcPct val="100000"/>
              </a:lnSpc>
              <a:tabLst>
                <a:tab algn="l" pos="0"/>
              </a:tabLst>
            </a:pPr>
            <a:r>
              <a:rPr b="0" lang="en-US" sz="1060" strike="noStrike" u="none">
                <a:solidFill>
                  <a:srgbClr val="1f2937"/>
                </a:solidFill>
                <a:effectLst/>
                <a:uFillTx/>
                <a:latin typeface="Arial"/>
              </a:rPr>
              <a:t>Có thể cấu hình retry, delay, timeout và callback.</a:t>
            </a:r>
            <a:endParaRPr b="0" lang="en-US" sz="1060" strike="noStrike" u="none">
              <a:solidFill>
                <a:srgbClr val="000000"/>
              </a:solidFill>
              <a:effectLst/>
              <a:uFillTx/>
              <a:latin typeface="Arial"/>
            </a:endParaRPr>
          </a:p>
        </p:txBody>
      </p:sp>
      <p:sp>
        <p:nvSpPr>
          <p:cNvPr id="457" name="Shape 33"/>
          <p:cNvSpPr/>
          <p:nvPr/>
        </p:nvSpPr>
        <p:spPr>
          <a:xfrm>
            <a:off x="567000" y="541332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8" name="Text 34"/>
          <p:cNvSpPr/>
          <p:nvPr/>
        </p:nvSpPr>
        <p:spPr>
          <a:xfrm>
            <a:off x="749880" y="556884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459" name="Text 35"/>
          <p:cNvSpPr/>
          <p:nvPr/>
        </p:nvSpPr>
        <p:spPr>
          <a:xfrm>
            <a:off x="1609200" y="5532120"/>
            <a:ext cx="97106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b4d1d"/>
                </a:solidFill>
                <a:effectLst/>
                <a:uFillTx/>
                <a:latin typeface="Arial"/>
              </a:rPr>
              <a:t>“Acyclic” nghĩa là không tạo vòng lặp extract → transform → extract. Nếu có chu trình, scheduler không thể xác định thứ tự kết thúc của workflow.</a:t>
            </a:r>
            <a:endParaRPr b="0" lang="en-US" sz="1120" strike="noStrike" u="none">
              <a:solidFill>
                <a:srgbClr val="000000"/>
              </a:solidFill>
              <a:effectLst/>
              <a:uFillTx/>
              <a:latin typeface="Arial"/>
            </a:endParaRPr>
          </a:p>
        </p:txBody>
      </p:sp>
      <p:sp>
        <p:nvSpPr>
          <p:cNvPr id="460" name="PlaceHolder 1"/>
          <p:cNvSpPr>
            <a:spLocks noGrp="1"/>
          </p:cNvSpPr>
          <p:nvPr>
            <p:ph type="sldNum" idx="18"/>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3BF0732E-8BF5-4B16-B651-CA540DB33DA7}" type="slidenum">
              <a:rPr b="0" lang="en-US" sz="800" strike="noStrike" u="none">
                <a:solidFill>
                  <a:srgbClr val="7a8797"/>
                </a:solidFill>
                <a:effectLst/>
                <a:uFillTx/>
                <a:latin typeface="Arial"/>
                <a:ea typeface="Arial"/>
              </a:rPr>
              <a:t>14</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14. Airflow Quickstart — phiên bản hiện hành</a:t>
            </a:r>
            <a:endParaRPr b="0" lang="en-US" sz="2700" strike="noStrike" u="none">
              <a:solidFill>
                <a:srgbClr val="000000"/>
              </a:solidFill>
              <a:effectLst/>
              <a:uFillTx/>
              <a:latin typeface="Arial"/>
            </a:endParaRPr>
          </a:p>
        </p:txBody>
      </p:sp>
      <p:sp>
        <p:nvSpPr>
          <p:cNvPr id="462"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Slide gốc dùng Airflow 2.3.3; phần này cập nhật theo tài liệu Airflow 3.3.x.</a:t>
            </a:r>
            <a:endParaRPr b="0" lang="en-US" sz="1250" strike="noStrike" u="none">
              <a:solidFill>
                <a:srgbClr val="000000"/>
              </a:solidFill>
              <a:effectLst/>
              <a:uFillTx/>
              <a:latin typeface="Arial"/>
            </a:endParaRPr>
          </a:p>
        </p:txBody>
      </p:sp>
      <p:sp>
        <p:nvSpPr>
          <p:cNvPr id="463" name="Shape 2"/>
          <p:cNvSpPr/>
          <p:nvPr/>
        </p:nvSpPr>
        <p:spPr>
          <a:xfrm>
            <a:off x="658440" y="1353240"/>
            <a:ext cx="6583320" cy="4480200"/>
          </a:xfrm>
          <a:prstGeom prst="roundRect">
            <a:avLst>
              <a:gd name="adj" fmla="val 816"/>
            </a:avLst>
          </a:prstGeom>
          <a:solidFill>
            <a:srgbClr val="101827"/>
          </a:solidFill>
          <a:ln w="12700">
            <a:solidFill>
              <a:srgbClr val="10182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4" name="Text 3"/>
          <p:cNvSpPr/>
          <p:nvPr/>
        </p:nvSpPr>
        <p:spPr>
          <a:xfrm>
            <a:off x="822960" y="1499760"/>
            <a:ext cx="6254280" cy="42242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20" strike="noStrike" u="none">
                <a:solidFill>
                  <a:srgbClr val="e6edf3"/>
                </a:solidFill>
                <a:effectLst/>
                <a:uFillTx/>
                <a:latin typeface="Courier New"/>
                <a:ea typeface="Courier New"/>
              </a:rPr>
              <a:t># 1) Tạo môi trường Python</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python -m venv .venv</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source .venv/bin/activate</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2) Cài Airflow (ví dụ 3.3.2)</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AIRFLOW_VERSION=3.3.2</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PYTHON_VERSION=3.12</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pip install "apache-airflow==${AIRFLOW_VERSION}"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--constraint "https://raw.githubusercontent.com/apache/airflow/constraints-${AIRFLOW_VERSION}/constraints-${PYTHON_VERSION}.txt"</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3) Chạy nhanh local</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airflow standalone</a:t>
            </a:r>
            <a:endParaRPr b="0" lang="en-US" sz="1020" strike="noStrike" u="none">
              <a:solidFill>
                <a:srgbClr val="000000"/>
              </a:solidFill>
              <a:effectLst/>
              <a:uFillTx/>
              <a:latin typeface="Arial"/>
            </a:endParaRPr>
          </a:p>
        </p:txBody>
      </p:sp>
      <p:sp>
        <p:nvSpPr>
          <p:cNvPr id="465" name="Shape 4"/>
          <p:cNvSpPr/>
          <p:nvPr/>
        </p:nvSpPr>
        <p:spPr>
          <a:xfrm>
            <a:off x="7589520" y="1417320"/>
            <a:ext cx="3657240" cy="1325520"/>
          </a:xfrm>
          <a:prstGeom prst="roundRect">
            <a:avLst>
              <a:gd name="adj" fmla="val 4138"/>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6" name="Shape 5"/>
          <p:cNvSpPr/>
          <p:nvPr/>
        </p:nvSpPr>
        <p:spPr>
          <a:xfrm>
            <a:off x="7589520" y="1417320"/>
            <a:ext cx="72720" cy="132552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7" name="Text 6"/>
          <p:cNvSpPr/>
          <p:nvPr/>
        </p:nvSpPr>
        <p:spPr>
          <a:xfrm>
            <a:off x="7772400" y="1563480"/>
            <a:ext cx="33645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airflow standalone</a:t>
            </a:r>
            <a:endParaRPr b="0" lang="en-US" sz="1600" strike="noStrike" u="none">
              <a:solidFill>
                <a:srgbClr val="000000"/>
              </a:solidFill>
              <a:effectLst/>
              <a:uFillTx/>
              <a:latin typeface="Arial"/>
            </a:endParaRPr>
          </a:p>
        </p:txBody>
      </p:sp>
      <p:sp>
        <p:nvSpPr>
          <p:cNvPr id="468" name="Text 7"/>
          <p:cNvSpPr/>
          <p:nvPr/>
        </p:nvSpPr>
        <p:spPr>
          <a:xfrm>
            <a:off x="7772400" y="1947600"/>
            <a:ext cx="3346200" cy="667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80" strike="noStrike" u="none">
                <a:solidFill>
                  <a:srgbClr val="1f2937"/>
                </a:solidFill>
                <a:effectLst/>
                <a:uFillTx/>
                <a:latin typeface="Arial"/>
              </a:rPr>
              <a:t>Khởi động môi trường local đơn giản để học/thử nghiệm, tự thiết lập các thành phần cần thiết.</a:t>
            </a:r>
            <a:endParaRPr b="0" lang="en-US" sz="1180" strike="noStrike" u="none">
              <a:solidFill>
                <a:srgbClr val="000000"/>
              </a:solidFill>
              <a:effectLst/>
              <a:uFillTx/>
              <a:latin typeface="Arial"/>
            </a:endParaRPr>
          </a:p>
        </p:txBody>
      </p:sp>
      <p:sp>
        <p:nvSpPr>
          <p:cNvPr id="469" name="Shape 8"/>
          <p:cNvSpPr/>
          <p:nvPr/>
        </p:nvSpPr>
        <p:spPr>
          <a:xfrm>
            <a:off x="7589520" y="2971800"/>
            <a:ext cx="3657240" cy="1325520"/>
          </a:xfrm>
          <a:prstGeom prst="roundRect">
            <a:avLst>
              <a:gd name="adj" fmla="val 4138"/>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0" name="Shape 9"/>
          <p:cNvSpPr/>
          <p:nvPr/>
        </p:nvSpPr>
        <p:spPr>
          <a:xfrm>
            <a:off x="7589520" y="2971800"/>
            <a:ext cx="72720" cy="132552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1" name="Text 10"/>
          <p:cNvSpPr/>
          <p:nvPr/>
        </p:nvSpPr>
        <p:spPr>
          <a:xfrm>
            <a:off x="7772400" y="3117960"/>
            <a:ext cx="33645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Production</a:t>
            </a:r>
            <a:endParaRPr b="0" lang="en-US" sz="1600" strike="noStrike" u="none">
              <a:solidFill>
                <a:srgbClr val="000000"/>
              </a:solidFill>
              <a:effectLst/>
              <a:uFillTx/>
              <a:latin typeface="Arial"/>
            </a:endParaRPr>
          </a:p>
        </p:txBody>
      </p:sp>
      <p:sp>
        <p:nvSpPr>
          <p:cNvPr id="472" name="Text 11"/>
          <p:cNvSpPr/>
          <p:nvPr/>
        </p:nvSpPr>
        <p:spPr>
          <a:xfrm>
            <a:off x="7772400" y="3502080"/>
            <a:ext cx="3346200" cy="6670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80" strike="noStrike" u="none">
                <a:solidFill>
                  <a:srgbClr val="1f2937"/>
                </a:solidFill>
                <a:effectLst/>
                <a:uFillTx/>
                <a:latin typeface="Arial"/>
              </a:rPr>
              <a:t>Không nên dùng SQLite/standalone cho hệ thống production; cần DB phù hợp và deployment/executor tương ứng.</a:t>
            </a:r>
            <a:endParaRPr b="0" lang="en-US" sz="1180" strike="noStrike" u="none">
              <a:solidFill>
                <a:srgbClr val="000000"/>
              </a:solidFill>
              <a:effectLst/>
              <a:uFillTx/>
              <a:latin typeface="Arial"/>
            </a:endParaRPr>
          </a:p>
        </p:txBody>
      </p:sp>
      <p:sp>
        <p:nvSpPr>
          <p:cNvPr id="473" name="Shape 12"/>
          <p:cNvSpPr/>
          <p:nvPr/>
        </p:nvSpPr>
        <p:spPr>
          <a:xfrm>
            <a:off x="7589520" y="4526280"/>
            <a:ext cx="3657240" cy="1051200"/>
          </a:xfrm>
          <a:prstGeom prst="roundRect">
            <a:avLst>
              <a:gd name="adj" fmla="val 521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4" name="Shape 13"/>
          <p:cNvSpPr/>
          <p:nvPr/>
        </p:nvSpPr>
        <p:spPr>
          <a:xfrm>
            <a:off x="7589520" y="4526280"/>
            <a:ext cx="72720" cy="105120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5" name="Text 14"/>
          <p:cNvSpPr/>
          <p:nvPr/>
        </p:nvSpPr>
        <p:spPr>
          <a:xfrm>
            <a:off x="7772400" y="4672440"/>
            <a:ext cx="33645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Gợi ý lab</a:t>
            </a:r>
            <a:endParaRPr b="0" lang="en-US" sz="1600" strike="noStrike" u="none">
              <a:solidFill>
                <a:srgbClr val="000000"/>
              </a:solidFill>
              <a:effectLst/>
              <a:uFillTx/>
              <a:latin typeface="Arial"/>
            </a:endParaRPr>
          </a:p>
        </p:txBody>
      </p:sp>
      <p:sp>
        <p:nvSpPr>
          <p:cNvPr id="476" name="Text 15"/>
          <p:cNvSpPr/>
          <p:nvPr/>
        </p:nvSpPr>
        <p:spPr>
          <a:xfrm>
            <a:off x="7772400" y="5056560"/>
            <a:ext cx="3346200" cy="39276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50" strike="noStrike" u="none">
                <a:solidFill>
                  <a:srgbClr val="1f2937"/>
                </a:solidFill>
                <a:effectLst/>
                <a:uFillTx/>
                <a:latin typeface="Arial"/>
              </a:rPr>
              <a:t>Sinh viên chỉ cần standalone hoặc Docker Compose để tập DAG, log, schedule, retry.</a:t>
            </a:r>
            <a:endParaRPr b="0" lang="en-US" sz="1150" strike="noStrike" u="none">
              <a:solidFill>
                <a:srgbClr val="000000"/>
              </a:solidFill>
              <a:effectLst/>
              <a:uFillTx/>
              <a:latin typeface="Arial"/>
            </a:endParaRPr>
          </a:p>
        </p:txBody>
      </p:sp>
      <p:sp>
        <p:nvSpPr>
          <p:cNvPr id="477" name="Text 16"/>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cập nhật: Apache Airflow 3.3.2 Quick Start &amp; Installation (official).</a:t>
            </a:r>
            <a:endParaRPr b="0" lang="en-US" sz="720" strike="noStrike" u="none">
              <a:solidFill>
                <a:srgbClr val="000000"/>
              </a:solidFill>
              <a:effectLst/>
              <a:uFillTx/>
              <a:latin typeface="Arial"/>
            </a:endParaRPr>
          </a:p>
        </p:txBody>
      </p:sp>
      <p:sp>
        <p:nvSpPr>
          <p:cNvPr id="478" name="PlaceHolder 1"/>
          <p:cNvSpPr>
            <a:spLocks noGrp="1"/>
          </p:cNvSpPr>
          <p:nvPr>
            <p:ph type="sldNum" idx="19"/>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EA57BC96-FE55-465D-AF9E-3BFF2B99A35C}" type="slidenum">
              <a:rPr b="0" lang="en-US" sz="800" strike="noStrike" u="none">
                <a:solidFill>
                  <a:srgbClr val="7a8797"/>
                </a:solidFill>
                <a:effectLst/>
                <a:uFillTx/>
                <a:latin typeface="Arial"/>
                <a:ea typeface="Arial"/>
              </a:rPr>
              <a:t>15</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15. Viết DAG Airflow bằng TaskFlow API</a:t>
            </a:r>
            <a:endParaRPr b="0" lang="en-US" sz="2700" strike="noStrike" u="none">
              <a:solidFill>
                <a:srgbClr val="000000"/>
              </a:solidFill>
              <a:effectLst/>
              <a:uFillTx/>
              <a:latin typeface="Arial"/>
            </a:endParaRPr>
          </a:p>
        </p:txBody>
      </p:sp>
      <p:sp>
        <p:nvSpPr>
          <p:cNvPr id="480"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TaskFlow giúp code Python tự nhiên hơn và thể hiện dependency qua lời gọi hàm.</a:t>
            </a:r>
            <a:endParaRPr b="0" lang="en-US" sz="1250" strike="noStrike" u="none">
              <a:solidFill>
                <a:srgbClr val="000000"/>
              </a:solidFill>
              <a:effectLst/>
              <a:uFillTx/>
              <a:latin typeface="Arial"/>
            </a:endParaRPr>
          </a:p>
        </p:txBody>
      </p:sp>
      <p:sp>
        <p:nvSpPr>
          <p:cNvPr id="481" name="Shape 2"/>
          <p:cNvSpPr/>
          <p:nvPr/>
        </p:nvSpPr>
        <p:spPr>
          <a:xfrm>
            <a:off x="658440" y="1325880"/>
            <a:ext cx="6400440" cy="4800240"/>
          </a:xfrm>
          <a:prstGeom prst="roundRect">
            <a:avLst>
              <a:gd name="adj" fmla="val 762"/>
            </a:avLst>
          </a:prstGeom>
          <a:solidFill>
            <a:srgbClr val="101827"/>
          </a:solidFill>
          <a:ln w="12700">
            <a:solidFill>
              <a:srgbClr val="10182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2" name="Text 3"/>
          <p:cNvSpPr/>
          <p:nvPr/>
        </p:nvSpPr>
        <p:spPr>
          <a:xfrm>
            <a:off x="822960" y="1472040"/>
            <a:ext cx="6071400" cy="45442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20" strike="noStrike" u="none">
                <a:solidFill>
                  <a:srgbClr val="e6edf3"/>
                </a:solidFill>
                <a:effectLst/>
                <a:uFillTx/>
                <a:latin typeface="Courier New"/>
                <a:ea typeface="Courier New"/>
              </a:rPr>
              <a:t>from datetime import datetime</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from airflow.sdk import dag, task</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@dag(</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schedule="0 12 * * *",</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start_date=datetime(2026, 1, 1),</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catchup=False,</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tags=["lecture4"],</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def hello_pipeline():</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@task</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def extract():</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return {"rows": 1200}</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@task</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def report(data):</a:t>
            </a: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print(f"Loaded {data['rows']} rows")</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    report(extract())</a:t>
            </a:r>
            <a:endParaRPr b="0" lang="en-US" sz="1020" strike="noStrike" u="none">
              <a:solidFill>
                <a:srgbClr val="000000"/>
              </a:solidFill>
              <a:effectLst/>
              <a:uFillTx/>
              <a:latin typeface="Arial"/>
            </a:endParaRPr>
          </a:p>
          <a:p>
            <a:pPr defTabSz="914400">
              <a:lnSpc>
                <a:spcPct val="100000"/>
              </a:lnSpc>
              <a:tabLst>
                <a:tab algn="l" pos="0"/>
              </a:tabLst>
            </a:pPr>
            <a:endParaRPr b="0" lang="en-US" sz="1020" strike="noStrike" u="none">
              <a:solidFill>
                <a:srgbClr val="000000"/>
              </a:solidFill>
              <a:effectLst/>
              <a:uFillTx/>
              <a:latin typeface="Arial"/>
            </a:endParaRPr>
          </a:p>
          <a:p>
            <a:pPr defTabSz="914400">
              <a:lnSpc>
                <a:spcPct val="100000"/>
              </a:lnSpc>
              <a:tabLst>
                <a:tab algn="l" pos="0"/>
              </a:tabLst>
            </a:pPr>
            <a:r>
              <a:rPr b="0" lang="en-US" sz="1020" strike="noStrike" u="none">
                <a:solidFill>
                  <a:srgbClr val="e6edf3"/>
                </a:solidFill>
                <a:effectLst/>
                <a:uFillTx/>
                <a:latin typeface="Courier New"/>
                <a:ea typeface="Courier New"/>
              </a:rPr>
              <a:t>hello_pipeline()</a:t>
            </a:r>
            <a:endParaRPr b="0" lang="en-US" sz="1020" strike="noStrike" u="none">
              <a:solidFill>
                <a:srgbClr val="000000"/>
              </a:solidFill>
              <a:effectLst/>
              <a:uFillTx/>
              <a:latin typeface="Arial"/>
            </a:endParaRPr>
          </a:p>
        </p:txBody>
      </p:sp>
      <p:sp>
        <p:nvSpPr>
          <p:cNvPr id="483" name="Shape 4"/>
          <p:cNvSpPr/>
          <p:nvPr/>
        </p:nvSpPr>
        <p:spPr>
          <a:xfrm>
            <a:off x="7360920" y="1417320"/>
            <a:ext cx="3840120" cy="1142640"/>
          </a:xfrm>
          <a:prstGeom prst="roundRect">
            <a:avLst>
              <a:gd name="adj" fmla="val 4800"/>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4" name="Shape 5"/>
          <p:cNvSpPr/>
          <p:nvPr/>
        </p:nvSpPr>
        <p:spPr>
          <a:xfrm>
            <a:off x="7360920" y="1417320"/>
            <a:ext cx="72720" cy="114264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5" name="Text 6"/>
          <p:cNvSpPr/>
          <p:nvPr/>
        </p:nvSpPr>
        <p:spPr>
          <a:xfrm>
            <a:off x="7543800" y="1563480"/>
            <a:ext cx="35474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@dag</a:t>
            </a:r>
            <a:endParaRPr b="0" lang="en-US" sz="1600" strike="noStrike" u="none">
              <a:solidFill>
                <a:srgbClr val="000000"/>
              </a:solidFill>
              <a:effectLst/>
              <a:uFillTx/>
              <a:latin typeface="Arial"/>
            </a:endParaRPr>
          </a:p>
        </p:txBody>
      </p:sp>
      <p:sp>
        <p:nvSpPr>
          <p:cNvPr id="486" name="Text 7"/>
          <p:cNvSpPr/>
          <p:nvPr/>
        </p:nvSpPr>
        <p:spPr>
          <a:xfrm>
            <a:off x="7543800" y="1947600"/>
            <a:ext cx="3529080" cy="4842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50" strike="noStrike" u="none">
                <a:solidFill>
                  <a:srgbClr val="1f2937"/>
                </a:solidFill>
                <a:effectLst/>
                <a:uFillTx/>
                <a:latin typeface="Arial"/>
              </a:rPr>
              <a:t>Biến hàm Python thành định nghĩa DAG; schedule xác định lịch chạy.</a:t>
            </a:r>
            <a:endParaRPr b="0" lang="en-US" sz="1150" strike="noStrike" u="none">
              <a:solidFill>
                <a:srgbClr val="000000"/>
              </a:solidFill>
              <a:effectLst/>
              <a:uFillTx/>
              <a:latin typeface="Arial"/>
            </a:endParaRPr>
          </a:p>
        </p:txBody>
      </p:sp>
      <p:sp>
        <p:nvSpPr>
          <p:cNvPr id="487" name="Shape 8"/>
          <p:cNvSpPr/>
          <p:nvPr/>
        </p:nvSpPr>
        <p:spPr>
          <a:xfrm>
            <a:off x="7360920" y="2788920"/>
            <a:ext cx="3840120" cy="1142640"/>
          </a:xfrm>
          <a:prstGeom prst="roundRect">
            <a:avLst>
              <a:gd name="adj" fmla="val 4800"/>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8" name="Shape 9"/>
          <p:cNvSpPr/>
          <p:nvPr/>
        </p:nvSpPr>
        <p:spPr>
          <a:xfrm>
            <a:off x="7360920" y="2788920"/>
            <a:ext cx="72720" cy="114264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9" name="Text 10"/>
          <p:cNvSpPr/>
          <p:nvPr/>
        </p:nvSpPr>
        <p:spPr>
          <a:xfrm>
            <a:off x="7543800" y="2935080"/>
            <a:ext cx="35474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@task</a:t>
            </a:r>
            <a:endParaRPr b="0" lang="en-US" sz="1600" strike="noStrike" u="none">
              <a:solidFill>
                <a:srgbClr val="000000"/>
              </a:solidFill>
              <a:effectLst/>
              <a:uFillTx/>
              <a:latin typeface="Arial"/>
            </a:endParaRPr>
          </a:p>
        </p:txBody>
      </p:sp>
      <p:sp>
        <p:nvSpPr>
          <p:cNvPr id="490" name="Text 11"/>
          <p:cNvSpPr/>
          <p:nvPr/>
        </p:nvSpPr>
        <p:spPr>
          <a:xfrm>
            <a:off x="7543800" y="3319200"/>
            <a:ext cx="3529080" cy="48420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50" strike="noStrike" u="none">
                <a:solidFill>
                  <a:srgbClr val="1f2937"/>
                </a:solidFill>
                <a:effectLst/>
                <a:uFillTx/>
                <a:latin typeface="Arial"/>
              </a:rPr>
              <a:t>Biến hàm Python thành task. Giá trị return có thể được Airflow truyền qua XCom.</a:t>
            </a:r>
            <a:endParaRPr b="0" lang="en-US" sz="1150" strike="noStrike" u="none">
              <a:solidFill>
                <a:srgbClr val="000000"/>
              </a:solidFill>
              <a:effectLst/>
              <a:uFillTx/>
              <a:latin typeface="Arial"/>
            </a:endParaRPr>
          </a:p>
        </p:txBody>
      </p:sp>
      <p:sp>
        <p:nvSpPr>
          <p:cNvPr id="491" name="Shape 12"/>
          <p:cNvSpPr/>
          <p:nvPr/>
        </p:nvSpPr>
        <p:spPr>
          <a:xfrm>
            <a:off x="7360920" y="4160520"/>
            <a:ext cx="3840120" cy="1416960"/>
          </a:xfrm>
          <a:prstGeom prst="roundRect">
            <a:avLst>
              <a:gd name="adj" fmla="val 3871"/>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2" name="Shape 13"/>
          <p:cNvSpPr/>
          <p:nvPr/>
        </p:nvSpPr>
        <p:spPr>
          <a:xfrm>
            <a:off x="7360920" y="4160520"/>
            <a:ext cx="72720" cy="141696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3" name="Text 14"/>
          <p:cNvSpPr/>
          <p:nvPr/>
        </p:nvSpPr>
        <p:spPr>
          <a:xfrm>
            <a:off x="7543800" y="4306680"/>
            <a:ext cx="35474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report(extract())</a:t>
            </a:r>
            <a:endParaRPr b="0" lang="en-US" sz="1600" strike="noStrike" u="none">
              <a:solidFill>
                <a:srgbClr val="000000"/>
              </a:solidFill>
              <a:effectLst/>
              <a:uFillTx/>
              <a:latin typeface="Arial"/>
            </a:endParaRPr>
          </a:p>
        </p:txBody>
      </p:sp>
      <p:sp>
        <p:nvSpPr>
          <p:cNvPr id="494" name="Text 15"/>
          <p:cNvSpPr/>
          <p:nvPr/>
        </p:nvSpPr>
        <p:spPr>
          <a:xfrm>
            <a:off x="7543800" y="4690800"/>
            <a:ext cx="3529080" cy="7585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50" strike="noStrike" u="none">
                <a:solidFill>
                  <a:srgbClr val="1f2937"/>
                </a:solidFill>
                <a:effectLst/>
                <a:uFillTx/>
                <a:latin typeface="Arial"/>
              </a:rPr>
              <a:t>Lời gọi này vừa truyền dữ liệu vừa tạo dependency: extract phải hoàn tất trước report.</a:t>
            </a:r>
            <a:endParaRPr b="0" lang="en-US" sz="1150" strike="noStrike" u="none">
              <a:solidFill>
                <a:srgbClr val="000000"/>
              </a:solidFill>
              <a:effectLst/>
              <a:uFillTx/>
              <a:latin typeface="Arial"/>
            </a:endParaRPr>
          </a:p>
        </p:txBody>
      </p:sp>
      <p:sp>
        <p:nvSpPr>
          <p:cNvPr id="495" name="Text 16"/>
          <p:cNvSpPr/>
          <p:nvPr/>
        </p:nvSpPr>
        <p:spPr>
          <a:xfrm>
            <a:off x="585360" y="6364080"/>
            <a:ext cx="804636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720" strike="noStrike" u="none">
                <a:solidFill>
                  <a:srgbClr val="8793a1"/>
                </a:solidFill>
                <a:effectLst/>
                <a:uFillTx/>
                <a:latin typeface="Arial"/>
              </a:rPr>
              <a:t>Nguồn cập nhật: Apache Airflow TaskFlow tutorial (official).</a:t>
            </a:r>
            <a:endParaRPr b="0" lang="en-US" sz="720" strike="noStrike" u="none">
              <a:solidFill>
                <a:srgbClr val="000000"/>
              </a:solidFill>
              <a:effectLst/>
              <a:uFillTx/>
              <a:latin typeface="Arial"/>
            </a:endParaRPr>
          </a:p>
        </p:txBody>
      </p:sp>
      <p:sp>
        <p:nvSpPr>
          <p:cNvPr id="496" name="PlaceHolder 1"/>
          <p:cNvSpPr>
            <a:spLocks noGrp="1"/>
          </p:cNvSpPr>
          <p:nvPr>
            <p:ph type="sldNum" idx="20"/>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A75CC1C3-DE71-4EE1-B4F7-E4D78C780EBD}" type="slidenum">
              <a:rPr b="0" lang="en-US" sz="800" strike="noStrike" u="none">
                <a:solidFill>
                  <a:srgbClr val="7a8797"/>
                </a:solidFill>
                <a:effectLst/>
                <a:uFillTx/>
                <a:latin typeface="Arial"/>
                <a:ea typeface="Arial"/>
              </a:rPr>
              <a:t>16</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16. Redis Queue (RQ) — hàng đợi job nền</a:t>
            </a:r>
            <a:endParaRPr b="0" lang="en-US" sz="2700" strike="noStrike" u="none">
              <a:solidFill>
                <a:srgbClr val="000000"/>
              </a:solidFill>
              <a:effectLst/>
              <a:uFillTx/>
              <a:latin typeface="Arial"/>
            </a:endParaRPr>
          </a:p>
        </p:txBody>
      </p:sp>
      <p:sp>
        <p:nvSpPr>
          <p:cNvPr id="498"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RQ phù hợp khi ứng dụng Python cần đẩy các tác vụ lâu sang worker chạy nền.</a:t>
            </a:r>
            <a:endParaRPr b="0" lang="en-US" sz="1250" strike="noStrike" u="none">
              <a:solidFill>
                <a:srgbClr val="000000"/>
              </a:solidFill>
              <a:effectLst/>
              <a:uFillTx/>
              <a:latin typeface="Arial"/>
            </a:endParaRPr>
          </a:p>
        </p:txBody>
      </p:sp>
      <p:sp>
        <p:nvSpPr>
          <p:cNvPr id="499" name="Shape 2"/>
          <p:cNvSpPr/>
          <p:nvPr/>
        </p:nvSpPr>
        <p:spPr>
          <a:xfrm>
            <a:off x="777240" y="1828800"/>
            <a:ext cx="1965600" cy="91404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0" name="Text 3"/>
          <p:cNvSpPr/>
          <p:nvPr/>
        </p:nvSpPr>
        <p:spPr>
          <a:xfrm>
            <a:off x="850320" y="2139840"/>
            <a:ext cx="181944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Web/API</a:t>
            </a:r>
            <a:endParaRPr b="0" lang="en-US" sz="1400" strike="noStrike" u="none">
              <a:solidFill>
                <a:srgbClr val="000000"/>
              </a:solidFill>
              <a:effectLst/>
              <a:uFillTx/>
              <a:latin typeface="Arial"/>
            </a:endParaRPr>
          </a:p>
        </p:txBody>
      </p:sp>
      <p:sp>
        <p:nvSpPr>
          <p:cNvPr id="501" name="Shape 4"/>
          <p:cNvSpPr/>
          <p:nvPr/>
        </p:nvSpPr>
        <p:spPr>
          <a:xfrm>
            <a:off x="2743200" y="2286000"/>
            <a:ext cx="105156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02" name="Shape 5"/>
          <p:cNvSpPr/>
          <p:nvPr/>
        </p:nvSpPr>
        <p:spPr>
          <a:xfrm>
            <a:off x="3794760" y="1828800"/>
            <a:ext cx="1965600" cy="914040"/>
          </a:xfrm>
          <a:prstGeom prst="roundRect">
            <a:avLst>
              <a:gd name="adj" fmla="val 16667"/>
            </a:avLst>
          </a:prstGeom>
          <a:solidFill>
            <a:srgbClr val="d64545"/>
          </a:solidFill>
          <a:ln w="12700">
            <a:solidFill>
              <a:srgbClr val="d6454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3" name="Text 6"/>
          <p:cNvSpPr/>
          <p:nvPr/>
        </p:nvSpPr>
        <p:spPr>
          <a:xfrm>
            <a:off x="3867840" y="2139840"/>
            <a:ext cx="181944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Redis Queue</a:t>
            </a:r>
            <a:endParaRPr b="0" lang="en-US" sz="1400" strike="noStrike" u="none">
              <a:solidFill>
                <a:srgbClr val="000000"/>
              </a:solidFill>
              <a:effectLst/>
              <a:uFillTx/>
              <a:latin typeface="Arial"/>
            </a:endParaRPr>
          </a:p>
        </p:txBody>
      </p:sp>
      <p:sp>
        <p:nvSpPr>
          <p:cNvPr id="504" name="Shape 7"/>
          <p:cNvSpPr/>
          <p:nvPr/>
        </p:nvSpPr>
        <p:spPr>
          <a:xfrm>
            <a:off x="5760720" y="2286000"/>
            <a:ext cx="118872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05" name="Shape 8"/>
          <p:cNvSpPr/>
          <p:nvPr/>
        </p:nvSpPr>
        <p:spPr>
          <a:xfrm>
            <a:off x="6949440" y="1828800"/>
            <a:ext cx="1965600" cy="91404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6" name="Text 9"/>
          <p:cNvSpPr/>
          <p:nvPr/>
        </p:nvSpPr>
        <p:spPr>
          <a:xfrm>
            <a:off x="7022520" y="2139840"/>
            <a:ext cx="181944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Worker(s)</a:t>
            </a:r>
            <a:endParaRPr b="0" lang="en-US" sz="1400" strike="noStrike" u="none">
              <a:solidFill>
                <a:srgbClr val="000000"/>
              </a:solidFill>
              <a:effectLst/>
              <a:uFillTx/>
              <a:latin typeface="Arial"/>
            </a:endParaRPr>
          </a:p>
        </p:txBody>
      </p:sp>
      <p:sp>
        <p:nvSpPr>
          <p:cNvPr id="507" name="Shape 10"/>
          <p:cNvSpPr/>
          <p:nvPr/>
        </p:nvSpPr>
        <p:spPr>
          <a:xfrm>
            <a:off x="8915400" y="2286000"/>
            <a:ext cx="594360" cy="360"/>
          </a:xfrm>
          <a:prstGeom prst="line">
            <a:avLst/>
          </a:prstGeom>
          <a:ln w="2540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08" name="Shape 11"/>
          <p:cNvSpPr/>
          <p:nvPr/>
        </p:nvSpPr>
        <p:spPr>
          <a:xfrm>
            <a:off x="9509760" y="1828800"/>
            <a:ext cx="1782720" cy="914040"/>
          </a:xfrm>
          <a:prstGeom prst="roundRect">
            <a:avLst>
              <a:gd name="adj" fmla="val 16667"/>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9" name="Text 12"/>
          <p:cNvSpPr/>
          <p:nvPr/>
        </p:nvSpPr>
        <p:spPr>
          <a:xfrm>
            <a:off x="9582840" y="2139840"/>
            <a:ext cx="163656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fffff"/>
                </a:solidFill>
                <a:effectLst/>
                <a:uFillTx/>
                <a:latin typeface="Arial"/>
              </a:rPr>
              <a:t>Job Result</a:t>
            </a:r>
            <a:endParaRPr b="0" lang="en-US" sz="1400" strike="noStrike" u="none">
              <a:solidFill>
                <a:srgbClr val="000000"/>
              </a:solidFill>
              <a:effectLst/>
              <a:uFillTx/>
              <a:latin typeface="Arial"/>
            </a:endParaRPr>
          </a:p>
        </p:txBody>
      </p:sp>
      <p:sp>
        <p:nvSpPr>
          <p:cNvPr id="510" name="Shape 13"/>
          <p:cNvSpPr/>
          <p:nvPr/>
        </p:nvSpPr>
        <p:spPr>
          <a:xfrm>
            <a:off x="777240" y="3429000"/>
            <a:ext cx="3200040" cy="1554120"/>
          </a:xfrm>
          <a:prstGeom prst="roundRect">
            <a:avLst>
              <a:gd name="adj" fmla="val 35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1" name="Shape 14"/>
          <p:cNvSpPr/>
          <p:nvPr/>
        </p:nvSpPr>
        <p:spPr>
          <a:xfrm>
            <a:off x="777240" y="3429000"/>
            <a:ext cx="72720" cy="155412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12" name="Text 15"/>
          <p:cNvSpPr/>
          <p:nvPr/>
        </p:nvSpPr>
        <p:spPr>
          <a:xfrm>
            <a:off x="960120" y="357516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Khi nên dùng</a:t>
            </a:r>
            <a:endParaRPr b="0" lang="en-US" sz="1600" strike="noStrike" u="none">
              <a:solidFill>
                <a:srgbClr val="000000"/>
              </a:solidFill>
              <a:effectLst/>
              <a:uFillTx/>
              <a:latin typeface="Arial"/>
            </a:endParaRPr>
          </a:p>
        </p:txBody>
      </p:sp>
      <p:sp>
        <p:nvSpPr>
          <p:cNvPr id="513" name="Text 16"/>
          <p:cNvSpPr/>
          <p:nvPr/>
        </p:nvSpPr>
        <p:spPr>
          <a:xfrm>
            <a:off x="960120" y="3959280"/>
            <a:ext cx="2889000" cy="8956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70" strike="noStrike" u="none">
                <a:solidFill>
                  <a:srgbClr val="1f2937"/>
                </a:solidFill>
                <a:effectLst/>
                <a:uFillTx/>
                <a:latin typeface="Arial"/>
              </a:rPr>
              <a:t>API nhận request rồi enqueue job: render video, OCR, gửi email, chạy batch nhỏ... Người dùng không phải chờ HTTP request quá lâu.</a:t>
            </a:r>
            <a:endParaRPr b="0" lang="en-US" sz="1170" strike="noStrike" u="none">
              <a:solidFill>
                <a:srgbClr val="000000"/>
              </a:solidFill>
              <a:effectLst/>
              <a:uFillTx/>
              <a:latin typeface="Arial"/>
            </a:endParaRPr>
          </a:p>
        </p:txBody>
      </p:sp>
      <p:sp>
        <p:nvSpPr>
          <p:cNvPr id="514" name="Shape 17"/>
          <p:cNvSpPr/>
          <p:nvPr/>
        </p:nvSpPr>
        <p:spPr>
          <a:xfrm>
            <a:off x="4434840" y="3429000"/>
            <a:ext cx="3200040" cy="1554120"/>
          </a:xfrm>
          <a:prstGeom prst="roundRect">
            <a:avLst>
              <a:gd name="adj" fmla="val 35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5" name="Shape 18"/>
          <p:cNvSpPr/>
          <p:nvPr/>
        </p:nvSpPr>
        <p:spPr>
          <a:xfrm>
            <a:off x="4434840" y="3429000"/>
            <a:ext cx="72720" cy="155412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6" name="Text 19"/>
          <p:cNvSpPr/>
          <p:nvPr/>
        </p:nvSpPr>
        <p:spPr>
          <a:xfrm>
            <a:off x="4617720" y="357516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Khác Airflow</a:t>
            </a:r>
            <a:endParaRPr b="0" lang="en-US" sz="1600" strike="noStrike" u="none">
              <a:solidFill>
                <a:srgbClr val="000000"/>
              </a:solidFill>
              <a:effectLst/>
              <a:uFillTx/>
              <a:latin typeface="Arial"/>
            </a:endParaRPr>
          </a:p>
        </p:txBody>
      </p:sp>
      <p:sp>
        <p:nvSpPr>
          <p:cNvPr id="517" name="Text 20"/>
          <p:cNvSpPr/>
          <p:nvPr/>
        </p:nvSpPr>
        <p:spPr>
          <a:xfrm>
            <a:off x="4617720" y="3959280"/>
            <a:ext cx="2889000" cy="8956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70" strike="noStrike" u="none">
                <a:solidFill>
                  <a:srgbClr val="1f2937"/>
                </a:solidFill>
                <a:effectLst/>
                <a:uFillTx/>
                <a:latin typeface="Arial"/>
              </a:rPr>
              <a:t>RQ là job queue/runtime đơn giản. Airflow mạnh hơn ở workflow nhiều task, lịch chạy, dependency, retry và monitoring.</a:t>
            </a:r>
            <a:endParaRPr b="0" lang="en-US" sz="1170" strike="noStrike" u="none">
              <a:solidFill>
                <a:srgbClr val="000000"/>
              </a:solidFill>
              <a:effectLst/>
              <a:uFillTx/>
              <a:latin typeface="Arial"/>
            </a:endParaRPr>
          </a:p>
        </p:txBody>
      </p:sp>
      <p:sp>
        <p:nvSpPr>
          <p:cNvPr id="518" name="Shape 21"/>
          <p:cNvSpPr/>
          <p:nvPr/>
        </p:nvSpPr>
        <p:spPr>
          <a:xfrm>
            <a:off x="8092440" y="3429000"/>
            <a:ext cx="3200040" cy="1554120"/>
          </a:xfrm>
          <a:prstGeom prst="roundRect">
            <a:avLst>
              <a:gd name="adj" fmla="val 3529"/>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9" name="Shape 22"/>
          <p:cNvSpPr/>
          <p:nvPr/>
        </p:nvSpPr>
        <p:spPr>
          <a:xfrm>
            <a:off x="8092440" y="3429000"/>
            <a:ext cx="72720" cy="1554120"/>
          </a:xfrm>
          <a:prstGeom prst="rect">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0" name="Text 23"/>
          <p:cNvSpPr/>
          <p:nvPr/>
        </p:nvSpPr>
        <p:spPr>
          <a:xfrm>
            <a:off x="8275320" y="3575160"/>
            <a:ext cx="29073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Khác Kafka</a:t>
            </a:r>
            <a:endParaRPr b="0" lang="en-US" sz="1600" strike="noStrike" u="none">
              <a:solidFill>
                <a:srgbClr val="000000"/>
              </a:solidFill>
              <a:effectLst/>
              <a:uFillTx/>
              <a:latin typeface="Arial"/>
            </a:endParaRPr>
          </a:p>
        </p:txBody>
      </p:sp>
      <p:sp>
        <p:nvSpPr>
          <p:cNvPr id="521" name="Text 24"/>
          <p:cNvSpPr/>
          <p:nvPr/>
        </p:nvSpPr>
        <p:spPr>
          <a:xfrm>
            <a:off x="8275320" y="3959280"/>
            <a:ext cx="2889000" cy="8956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170" strike="noStrike" u="none">
                <a:solidFill>
                  <a:srgbClr val="1f2937"/>
                </a:solidFill>
                <a:effectLst/>
                <a:uFillTx/>
                <a:latin typeface="Arial"/>
              </a:rPr>
              <a:t>RQ phân phối “công việc cần chạy”; Kafka lưu và phân phối “event stream”. Hai khái niệm queue và event log không hoàn toàn giống nhau.</a:t>
            </a:r>
            <a:endParaRPr b="0" lang="en-US" sz="1170" strike="noStrike" u="none">
              <a:solidFill>
                <a:srgbClr val="000000"/>
              </a:solidFill>
              <a:effectLst/>
              <a:uFillTx/>
              <a:latin typeface="Arial"/>
            </a:endParaRPr>
          </a:p>
        </p:txBody>
      </p:sp>
      <p:sp>
        <p:nvSpPr>
          <p:cNvPr id="522" name="Shape 25"/>
          <p:cNvSpPr/>
          <p:nvPr/>
        </p:nvSpPr>
        <p:spPr>
          <a:xfrm>
            <a:off x="567000" y="525780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3" name="Text 26"/>
          <p:cNvSpPr/>
          <p:nvPr/>
        </p:nvSpPr>
        <p:spPr>
          <a:xfrm>
            <a:off x="749880" y="541332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524" name="Text 27"/>
          <p:cNvSpPr/>
          <p:nvPr/>
        </p:nvSpPr>
        <p:spPr>
          <a:xfrm>
            <a:off x="1609200" y="537660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Trong tài liệu gốc, RQ được đặt cạnh Airflow. Nên nhấn mạnh sự khác nhau: RQ = background jobs; Airflow = workflow orchestration; Kafka = event streaming.</a:t>
            </a:r>
            <a:endParaRPr b="0" lang="en-US" sz="1120" strike="noStrike" u="none">
              <a:solidFill>
                <a:srgbClr val="000000"/>
              </a:solidFill>
              <a:effectLst/>
              <a:uFillTx/>
              <a:latin typeface="Arial"/>
            </a:endParaRPr>
          </a:p>
        </p:txBody>
      </p:sp>
      <p:sp>
        <p:nvSpPr>
          <p:cNvPr id="525" name="PlaceHolder 1"/>
          <p:cNvSpPr>
            <a:spLocks noGrp="1"/>
          </p:cNvSpPr>
          <p:nvPr>
            <p:ph type="sldNum" idx="21"/>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F033C476-AFF4-4B64-BF41-CA3EBFBAFE93}" type="slidenum">
              <a:rPr b="0" lang="en-US" sz="800" strike="noStrike" u="none">
                <a:solidFill>
                  <a:srgbClr val="7a8797"/>
                </a:solidFill>
                <a:effectLst/>
                <a:uFillTx/>
                <a:latin typeface="Arial"/>
                <a:ea typeface="Arial"/>
              </a:rPr>
              <a:t>17</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17. Bài thực hành gợi ý — dựng một pipeline nhỏ</a:t>
            </a:r>
            <a:endParaRPr b="0" lang="en-US" sz="2700" strike="noStrike" u="none">
              <a:solidFill>
                <a:srgbClr val="000000"/>
              </a:solidFill>
              <a:effectLst/>
              <a:uFillTx/>
              <a:latin typeface="Arial"/>
            </a:endParaRPr>
          </a:p>
        </p:txBody>
      </p:sp>
      <p:sp>
        <p:nvSpPr>
          <p:cNvPr id="527"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Mục tiêu: sinh viên thấy được quan hệ giữa ingestion, storage, processing và orchestration.</a:t>
            </a:r>
            <a:endParaRPr b="0" lang="en-US" sz="1250" strike="noStrike" u="none">
              <a:solidFill>
                <a:srgbClr val="000000"/>
              </a:solidFill>
              <a:effectLst/>
              <a:uFillTx/>
              <a:latin typeface="Arial"/>
            </a:endParaRPr>
          </a:p>
        </p:txBody>
      </p:sp>
      <p:sp>
        <p:nvSpPr>
          <p:cNvPr id="528" name="Shape 2"/>
          <p:cNvSpPr/>
          <p:nvPr/>
        </p:nvSpPr>
        <p:spPr>
          <a:xfrm>
            <a:off x="685800" y="1325880"/>
            <a:ext cx="529920" cy="52992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9" name="Text 3"/>
          <p:cNvSpPr/>
          <p:nvPr/>
        </p:nvSpPr>
        <p:spPr>
          <a:xfrm>
            <a:off x="822960" y="1472040"/>
            <a:ext cx="2556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1</a:t>
            </a:r>
            <a:endParaRPr b="0" lang="en-US" sz="1100" strike="noStrike" u="none">
              <a:solidFill>
                <a:srgbClr val="000000"/>
              </a:solidFill>
              <a:effectLst/>
              <a:uFillTx/>
              <a:latin typeface="Arial"/>
            </a:endParaRPr>
          </a:p>
        </p:txBody>
      </p:sp>
      <p:sp>
        <p:nvSpPr>
          <p:cNvPr id="530" name="Text 4"/>
          <p:cNvSpPr/>
          <p:nvPr/>
        </p:nvSpPr>
        <p:spPr>
          <a:xfrm>
            <a:off x="1417320" y="1353240"/>
            <a:ext cx="141696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1e88e5"/>
                </a:solidFill>
                <a:effectLst/>
                <a:uFillTx/>
                <a:latin typeface="Arial"/>
              </a:rPr>
              <a:t>INGEST</a:t>
            </a:r>
            <a:endParaRPr b="0" lang="en-US" sz="1250" strike="noStrike" u="none">
              <a:solidFill>
                <a:srgbClr val="000000"/>
              </a:solidFill>
              <a:effectLst/>
              <a:uFillTx/>
              <a:latin typeface="Arial"/>
            </a:endParaRPr>
          </a:p>
        </p:txBody>
      </p:sp>
      <p:sp>
        <p:nvSpPr>
          <p:cNvPr id="531" name="Text 5"/>
          <p:cNvSpPr/>
          <p:nvPr/>
        </p:nvSpPr>
        <p:spPr>
          <a:xfrm>
            <a:off x="2834640" y="1353240"/>
            <a:ext cx="79549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Tạo file orders.csv hoặc phát event vào Kafka</a:t>
            </a:r>
            <a:endParaRPr b="0" lang="en-US" sz="1180" strike="noStrike" u="none">
              <a:solidFill>
                <a:srgbClr val="000000"/>
              </a:solidFill>
              <a:effectLst/>
              <a:uFillTx/>
              <a:latin typeface="Arial"/>
            </a:endParaRPr>
          </a:p>
        </p:txBody>
      </p:sp>
      <p:sp>
        <p:nvSpPr>
          <p:cNvPr id="532" name="Shape 6"/>
          <p:cNvSpPr/>
          <p:nvPr/>
        </p:nvSpPr>
        <p:spPr>
          <a:xfrm>
            <a:off x="685800" y="2185560"/>
            <a:ext cx="529920" cy="529920"/>
          </a:xfrm>
          <a:prstGeom prst="ellipse">
            <a:avLst/>
          </a:prstGeom>
          <a:solidFill>
            <a:srgbClr val="16324f"/>
          </a:solidFill>
          <a:ln w="12700">
            <a:solidFill>
              <a:srgbClr val="16324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3" name="Text 7"/>
          <p:cNvSpPr/>
          <p:nvPr/>
        </p:nvSpPr>
        <p:spPr>
          <a:xfrm>
            <a:off x="822960" y="2331720"/>
            <a:ext cx="2556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2</a:t>
            </a:r>
            <a:endParaRPr b="0" lang="en-US" sz="1100" strike="noStrike" u="none">
              <a:solidFill>
                <a:srgbClr val="000000"/>
              </a:solidFill>
              <a:effectLst/>
              <a:uFillTx/>
              <a:latin typeface="Arial"/>
            </a:endParaRPr>
          </a:p>
        </p:txBody>
      </p:sp>
      <p:sp>
        <p:nvSpPr>
          <p:cNvPr id="534" name="Text 8"/>
          <p:cNvSpPr/>
          <p:nvPr/>
        </p:nvSpPr>
        <p:spPr>
          <a:xfrm>
            <a:off x="1417320" y="2212920"/>
            <a:ext cx="141696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16324f"/>
                </a:solidFill>
                <a:effectLst/>
                <a:uFillTx/>
                <a:latin typeface="Arial"/>
              </a:rPr>
              <a:t>STORE</a:t>
            </a:r>
            <a:endParaRPr b="0" lang="en-US" sz="1250" strike="noStrike" u="none">
              <a:solidFill>
                <a:srgbClr val="000000"/>
              </a:solidFill>
              <a:effectLst/>
              <a:uFillTx/>
              <a:latin typeface="Arial"/>
            </a:endParaRPr>
          </a:p>
        </p:txBody>
      </p:sp>
      <p:sp>
        <p:nvSpPr>
          <p:cNvPr id="535" name="Text 9"/>
          <p:cNvSpPr/>
          <p:nvPr/>
        </p:nvSpPr>
        <p:spPr>
          <a:xfrm>
            <a:off x="2834640" y="2212920"/>
            <a:ext cx="79549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Lưu raw vào HDFS / local data lake</a:t>
            </a:r>
            <a:endParaRPr b="0" lang="en-US" sz="1180" strike="noStrike" u="none">
              <a:solidFill>
                <a:srgbClr val="000000"/>
              </a:solidFill>
              <a:effectLst/>
              <a:uFillTx/>
              <a:latin typeface="Arial"/>
            </a:endParaRPr>
          </a:p>
        </p:txBody>
      </p:sp>
      <p:sp>
        <p:nvSpPr>
          <p:cNvPr id="536" name="Shape 10"/>
          <p:cNvSpPr/>
          <p:nvPr/>
        </p:nvSpPr>
        <p:spPr>
          <a:xfrm>
            <a:off x="685800" y="3044880"/>
            <a:ext cx="529920" cy="529920"/>
          </a:xfrm>
          <a:prstGeom prst="ellipse">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7" name="Text 11"/>
          <p:cNvSpPr/>
          <p:nvPr/>
        </p:nvSpPr>
        <p:spPr>
          <a:xfrm>
            <a:off x="822960" y="3191400"/>
            <a:ext cx="2556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3</a:t>
            </a:r>
            <a:endParaRPr b="0" lang="en-US" sz="1100" strike="noStrike" u="none">
              <a:solidFill>
                <a:srgbClr val="000000"/>
              </a:solidFill>
              <a:effectLst/>
              <a:uFillTx/>
              <a:latin typeface="Arial"/>
            </a:endParaRPr>
          </a:p>
        </p:txBody>
      </p:sp>
      <p:sp>
        <p:nvSpPr>
          <p:cNvPr id="538" name="Text 12"/>
          <p:cNvSpPr/>
          <p:nvPr/>
        </p:nvSpPr>
        <p:spPr>
          <a:xfrm>
            <a:off x="1417320" y="3072240"/>
            <a:ext cx="141696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6c5ce7"/>
                </a:solidFill>
                <a:effectLst/>
                <a:uFillTx/>
                <a:latin typeface="Arial"/>
              </a:rPr>
              <a:t>PROCESS</a:t>
            </a:r>
            <a:endParaRPr b="0" lang="en-US" sz="1250" strike="noStrike" u="none">
              <a:solidFill>
                <a:srgbClr val="000000"/>
              </a:solidFill>
              <a:effectLst/>
              <a:uFillTx/>
              <a:latin typeface="Arial"/>
            </a:endParaRPr>
          </a:p>
        </p:txBody>
      </p:sp>
      <p:sp>
        <p:nvSpPr>
          <p:cNvPr id="539" name="Text 13"/>
          <p:cNvSpPr/>
          <p:nvPr/>
        </p:nvSpPr>
        <p:spPr>
          <a:xfrm>
            <a:off x="2834640" y="3072240"/>
            <a:ext cx="79549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Spark đọc dữ liệu, tính doanh thu theo ngày</a:t>
            </a:r>
            <a:endParaRPr b="0" lang="en-US" sz="1180" strike="noStrike" u="none">
              <a:solidFill>
                <a:srgbClr val="000000"/>
              </a:solidFill>
              <a:effectLst/>
              <a:uFillTx/>
              <a:latin typeface="Arial"/>
            </a:endParaRPr>
          </a:p>
        </p:txBody>
      </p:sp>
      <p:sp>
        <p:nvSpPr>
          <p:cNvPr id="540" name="Shape 14"/>
          <p:cNvSpPr/>
          <p:nvPr/>
        </p:nvSpPr>
        <p:spPr>
          <a:xfrm>
            <a:off x="685800" y="3904560"/>
            <a:ext cx="529920" cy="529920"/>
          </a:xfrm>
          <a:prstGeom prst="ellipse">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1" name="Text 15"/>
          <p:cNvSpPr/>
          <p:nvPr/>
        </p:nvSpPr>
        <p:spPr>
          <a:xfrm>
            <a:off x="822960" y="4050720"/>
            <a:ext cx="2556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4</a:t>
            </a:r>
            <a:endParaRPr b="0" lang="en-US" sz="1100" strike="noStrike" u="none">
              <a:solidFill>
                <a:srgbClr val="000000"/>
              </a:solidFill>
              <a:effectLst/>
              <a:uFillTx/>
              <a:latin typeface="Arial"/>
            </a:endParaRPr>
          </a:p>
        </p:txBody>
      </p:sp>
      <p:sp>
        <p:nvSpPr>
          <p:cNvPr id="542" name="Text 16"/>
          <p:cNvSpPr/>
          <p:nvPr/>
        </p:nvSpPr>
        <p:spPr>
          <a:xfrm>
            <a:off x="1417320" y="3931920"/>
            <a:ext cx="141696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f59e0b"/>
                </a:solidFill>
                <a:effectLst/>
                <a:uFillTx/>
                <a:latin typeface="Arial"/>
              </a:rPr>
              <a:t>ORCHESTRATE</a:t>
            </a:r>
            <a:endParaRPr b="0" lang="en-US" sz="1250" strike="noStrike" u="none">
              <a:solidFill>
                <a:srgbClr val="000000"/>
              </a:solidFill>
              <a:effectLst/>
              <a:uFillTx/>
              <a:latin typeface="Arial"/>
            </a:endParaRPr>
          </a:p>
        </p:txBody>
      </p:sp>
      <p:sp>
        <p:nvSpPr>
          <p:cNvPr id="543" name="Text 17"/>
          <p:cNvSpPr/>
          <p:nvPr/>
        </p:nvSpPr>
        <p:spPr>
          <a:xfrm>
            <a:off x="2834640" y="3931920"/>
            <a:ext cx="79549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Airflow chạy pipeline và retry khi task lỗi</a:t>
            </a:r>
            <a:endParaRPr b="0" lang="en-US" sz="1180" strike="noStrike" u="none">
              <a:solidFill>
                <a:srgbClr val="000000"/>
              </a:solidFill>
              <a:effectLst/>
              <a:uFillTx/>
              <a:latin typeface="Arial"/>
            </a:endParaRPr>
          </a:p>
        </p:txBody>
      </p:sp>
      <p:sp>
        <p:nvSpPr>
          <p:cNvPr id="544" name="Shape 18"/>
          <p:cNvSpPr/>
          <p:nvPr/>
        </p:nvSpPr>
        <p:spPr>
          <a:xfrm>
            <a:off x="685800" y="4763880"/>
            <a:ext cx="529920" cy="529920"/>
          </a:xfrm>
          <a:prstGeom prst="ellipse">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45" name="Text 19"/>
          <p:cNvSpPr/>
          <p:nvPr/>
        </p:nvSpPr>
        <p:spPr>
          <a:xfrm>
            <a:off x="822960" y="4910400"/>
            <a:ext cx="2556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5</a:t>
            </a:r>
            <a:endParaRPr b="0" lang="en-US" sz="1100" strike="noStrike" u="none">
              <a:solidFill>
                <a:srgbClr val="000000"/>
              </a:solidFill>
              <a:effectLst/>
              <a:uFillTx/>
              <a:latin typeface="Arial"/>
            </a:endParaRPr>
          </a:p>
        </p:txBody>
      </p:sp>
      <p:sp>
        <p:nvSpPr>
          <p:cNvPr id="546" name="Text 20"/>
          <p:cNvSpPr/>
          <p:nvPr/>
        </p:nvSpPr>
        <p:spPr>
          <a:xfrm>
            <a:off x="1417320" y="4791600"/>
            <a:ext cx="141696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trike="noStrike" u="none">
                <a:solidFill>
                  <a:srgbClr val="2e7d32"/>
                </a:solidFill>
                <a:effectLst/>
                <a:uFillTx/>
                <a:latin typeface="Arial"/>
              </a:rPr>
              <a:t>VERIFY</a:t>
            </a:r>
            <a:endParaRPr b="0" lang="en-US" sz="1250" strike="noStrike" u="none">
              <a:solidFill>
                <a:srgbClr val="000000"/>
              </a:solidFill>
              <a:effectLst/>
              <a:uFillTx/>
              <a:latin typeface="Arial"/>
            </a:endParaRPr>
          </a:p>
        </p:txBody>
      </p:sp>
      <p:sp>
        <p:nvSpPr>
          <p:cNvPr id="547" name="Text 21"/>
          <p:cNvSpPr/>
          <p:nvPr/>
        </p:nvSpPr>
        <p:spPr>
          <a:xfrm>
            <a:off x="2834640" y="4791600"/>
            <a:ext cx="79549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Kiểm tra output, logs và trạng thái DAG</a:t>
            </a:r>
            <a:endParaRPr b="0" lang="en-US" sz="1180" strike="noStrike" u="none">
              <a:solidFill>
                <a:srgbClr val="000000"/>
              </a:solidFill>
              <a:effectLst/>
              <a:uFillTx/>
              <a:latin typeface="Arial"/>
            </a:endParaRPr>
          </a:p>
        </p:txBody>
      </p:sp>
      <p:sp>
        <p:nvSpPr>
          <p:cNvPr id="548" name="Shape 22"/>
          <p:cNvSpPr/>
          <p:nvPr/>
        </p:nvSpPr>
        <p:spPr>
          <a:xfrm>
            <a:off x="7863840" y="4983480"/>
            <a:ext cx="3428640" cy="749520"/>
          </a:xfrm>
          <a:prstGeom prst="roundRect">
            <a:avLst>
              <a:gd name="adj" fmla="val 7317"/>
            </a:avLst>
          </a:prstGeom>
          <a:solidFill>
            <a:srgbClr val="ffffff"/>
          </a:solidFill>
          <a:ln w="15240">
            <a:solidFill>
              <a:srgbClr val="d9e2ec"/>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9" name="Shape 23"/>
          <p:cNvSpPr/>
          <p:nvPr/>
        </p:nvSpPr>
        <p:spPr>
          <a:xfrm>
            <a:off x="7863840" y="4983480"/>
            <a:ext cx="72720" cy="74952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0" name="Text 24"/>
          <p:cNvSpPr/>
          <p:nvPr/>
        </p:nvSpPr>
        <p:spPr>
          <a:xfrm>
            <a:off x="8046720" y="5129640"/>
            <a:ext cx="31359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324f"/>
                </a:solidFill>
                <a:effectLst/>
                <a:uFillTx/>
                <a:latin typeface="Arial"/>
              </a:rPr>
              <a:t>Câu hỏi kiểm tra</a:t>
            </a:r>
            <a:endParaRPr b="0" lang="en-US" sz="1600" strike="noStrike" u="none">
              <a:solidFill>
                <a:srgbClr val="000000"/>
              </a:solidFill>
              <a:effectLst/>
              <a:uFillTx/>
              <a:latin typeface="Arial"/>
            </a:endParaRPr>
          </a:p>
        </p:txBody>
      </p:sp>
      <p:sp>
        <p:nvSpPr>
          <p:cNvPr id="551" name="Text 25"/>
          <p:cNvSpPr/>
          <p:nvPr/>
        </p:nvSpPr>
        <p:spPr>
          <a:xfrm>
            <a:off x="8046720" y="5513760"/>
            <a:ext cx="3117600" cy="91080"/>
          </a:xfrm>
          <a:prstGeom prst="rect">
            <a:avLst/>
          </a:prstGeom>
          <a:noFill/>
          <a:ln w="0">
            <a:noFill/>
          </a:ln>
        </p:spPr>
        <p:style>
          <a:lnRef idx="0"/>
          <a:fillRef idx="0"/>
          <a:effectRef idx="0"/>
          <a:fontRef idx="minor"/>
        </p:style>
        <p:txBody>
          <a:bodyPr lIns="360" rIns="360" tIns="360" bIns="360" anchor="t">
            <a:normAutofit fontScale="70000" lnSpcReduction="19999"/>
          </a:bodyPr>
          <a:p>
            <a:pPr defTabSz="914400">
              <a:lnSpc>
                <a:spcPct val="100000"/>
              </a:lnSpc>
              <a:tabLst>
                <a:tab algn="l" pos="0"/>
              </a:tabLst>
            </a:pPr>
            <a:r>
              <a:rPr b="0" lang="en-US" sz="1050" strike="noStrike" u="none">
                <a:solidFill>
                  <a:srgbClr val="1f2937"/>
                </a:solidFill>
                <a:effectLst/>
                <a:uFillTx/>
                <a:latin typeface="Arial"/>
              </a:rPr>
              <a:t>Nếu Kafka tắt? Nếu Spark task fail? Airflow retry ở đâu?</a:t>
            </a:r>
            <a:endParaRPr b="0" lang="en-US" sz="1050" strike="noStrike" u="none">
              <a:solidFill>
                <a:srgbClr val="000000"/>
              </a:solidFill>
              <a:effectLst/>
              <a:uFillTx/>
              <a:latin typeface="Arial"/>
            </a:endParaRPr>
          </a:p>
        </p:txBody>
      </p:sp>
      <p:sp>
        <p:nvSpPr>
          <p:cNvPr id="552" name="Shape 26"/>
          <p:cNvSpPr/>
          <p:nvPr/>
        </p:nvSpPr>
        <p:spPr>
          <a:xfrm>
            <a:off x="567000" y="5742360"/>
            <a:ext cx="11018160" cy="566640"/>
          </a:xfrm>
          <a:prstGeom prst="roundRect">
            <a:avLst>
              <a:gd name="adj" fmla="val 9677"/>
            </a:avLst>
          </a:prstGeom>
          <a:solidFill>
            <a:srgbClr val="fff7e6"/>
          </a:solidFill>
          <a:ln w="12700">
            <a:solidFill>
              <a:srgbClr val="f4c6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3" name="Text 27"/>
          <p:cNvSpPr/>
          <p:nvPr/>
        </p:nvSpPr>
        <p:spPr>
          <a:xfrm>
            <a:off x="749880" y="5897880"/>
            <a:ext cx="822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a15c00"/>
                </a:solidFill>
                <a:effectLst/>
                <a:uFillTx/>
                <a:latin typeface="Arial"/>
              </a:rPr>
              <a:t>Giải thích</a:t>
            </a:r>
            <a:endParaRPr b="0" lang="en-US" sz="1100" strike="noStrike" u="none">
              <a:solidFill>
                <a:srgbClr val="000000"/>
              </a:solidFill>
              <a:effectLst/>
              <a:uFillTx/>
              <a:latin typeface="Arial"/>
            </a:endParaRPr>
          </a:p>
        </p:txBody>
      </p:sp>
      <p:sp>
        <p:nvSpPr>
          <p:cNvPr id="554" name="Text 28"/>
          <p:cNvSpPr/>
          <p:nvPr/>
        </p:nvSpPr>
        <p:spPr>
          <a:xfrm>
            <a:off x="1609200" y="5861160"/>
            <a:ext cx="9710640" cy="2923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120" strike="noStrike" u="none">
                <a:solidFill>
                  <a:srgbClr val="6b4d1d"/>
                </a:solidFill>
                <a:effectLst/>
                <a:uFillTx/>
                <a:latin typeface="Arial"/>
              </a:rPr>
              <a:t>Bài lab nên ưu tiên “luồng dữ liệu chạy được” hơn cấu hình phức tạp. Có thể thay Kafka bằng file ở mức cơ bản, sau đó nâng cấp lên streaming ở buổi sau.</a:t>
            </a:r>
            <a:endParaRPr b="0" lang="en-US" sz="1120" strike="noStrike" u="none">
              <a:solidFill>
                <a:srgbClr val="000000"/>
              </a:solidFill>
              <a:effectLst/>
              <a:uFillTx/>
              <a:latin typeface="Arial"/>
            </a:endParaRPr>
          </a:p>
        </p:txBody>
      </p:sp>
      <p:sp>
        <p:nvSpPr>
          <p:cNvPr id="555" name="PlaceHolder 1"/>
          <p:cNvSpPr>
            <a:spLocks noGrp="1"/>
          </p:cNvSpPr>
          <p:nvPr>
            <p:ph type="sldNum" idx="22"/>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8C52AD5B-AC8D-4A7C-8953-3648069AED5E}" type="slidenum">
              <a:rPr b="0" lang="en-US" sz="800" strike="noStrike" u="none">
                <a:solidFill>
                  <a:srgbClr val="7a8797"/>
                </a:solidFill>
                <a:effectLst/>
                <a:uFillTx/>
                <a:latin typeface="Arial"/>
                <a:ea typeface="Arial"/>
              </a:rPr>
              <a:t>18</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Text 0"/>
          <p:cNvSpPr/>
          <p:nvPr/>
        </p:nvSpPr>
        <p:spPr>
          <a:xfrm>
            <a:off x="548640" y="329040"/>
            <a:ext cx="1106388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trike="noStrike" u="none">
                <a:solidFill>
                  <a:srgbClr val="16324f"/>
                </a:solidFill>
                <a:effectLst/>
                <a:uFillTx/>
                <a:latin typeface="Arial"/>
                <a:ea typeface="Arial"/>
              </a:rPr>
              <a:t>18. Tổng kết chương 4</a:t>
            </a:r>
            <a:endParaRPr b="0" lang="en-US" sz="2700" strike="noStrike" u="none">
              <a:solidFill>
                <a:srgbClr val="000000"/>
              </a:solidFill>
              <a:effectLst/>
              <a:uFillTx/>
              <a:latin typeface="Arial"/>
            </a:endParaRPr>
          </a:p>
        </p:txBody>
      </p:sp>
      <p:sp>
        <p:nvSpPr>
          <p:cNvPr id="557" name="Text 1"/>
          <p:cNvSpPr/>
          <p:nvPr/>
        </p:nvSpPr>
        <p:spPr>
          <a:xfrm>
            <a:off x="567000" y="841320"/>
            <a:ext cx="10972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5f6b7a"/>
                </a:solidFill>
                <a:effectLst/>
                <a:uFillTx/>
                <a:latin typeface="Arial"/>
                <a:ea typeface="Arial"/>
              </a:rPr>
              <a:t>5 ý sinh viên cần nhớ sau bài học.</a:t>
            </a:r>
            <a:endParaRPr b="0" lang="en-US" sz="1250" strike="noStrike" u="none">
              <a:solidFill>
                <a:srgbClr val="000000"/>
              </a:solidFill>
              <a:effectLst/>
              <a:uFillTx/>
              <a:latin typeface="Arial"/>
            </a:endParaRPr>
          </a:p>
        </p:txBody>
      </p:sp>
      <p:sp>
        <p:nvSpPr>
          <p:cNvPr id="558" name="Shape 2"/>
          <p:cNvSpPr/>
          <p:nvPr/>
        </p:nvSpPr>
        <p:spPr>
          <a:xfrm>
            <a:off x="731520" y="1325880"/>
            <a:ext cx="529920" cy="529920"/>
          </a:xfrm>
          <a:prstGeom prst="roundRect">
            <a:avLst>
              <a:gd name="adj" fmla="val 16667"/>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9" name="Text 3"/>
          <p:cNvSpPr/>
          <p:nvPr/>
        </p:nvSpPr>
        <p:spPr>
          <a:xfrm>
            <a:off x="887040" y="1472040"/>
            <a:ext cx="2192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1</a:t>
            </a:r>
            <a:endParaRPr b="0" lang="en-US" sz="1100" strike="noStrike" u="none">
              <a:solidFill>
                <a:srgbClr val="000000"/>
              </a:solidFill>
              <a:effectLst/>
              <a:uFillTx/>
              <a:latin typeface="Arial"/>
            </a:endParaRPr>
          </a:p>
        </p:txBody>
      </p:sp>
      <p:sp>
        <p:nvSpPr>
          <p:cNvPr id="560" name="Text 4"/>
          <p:cNvSpPr/>
          <p:nvPr/>
        </p:nvSpPr>
        <p:spPr>
          <a:xfrm>
            <a:off x="1554480" y="139896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6324f"/>
                </a:solidFill>
                <a:effectLst/>
                <a:uFillTx/>
                <a:latin typeface="Arial"/>
              </a:rPr>
              <a:t>Ingestion</a:t>
            </a:r>
            <a:endParaRPr b="0" lang="en-US" sz="1300" strike="noStrike" u="none">
              <a:solidFill>
                <a:srgbClr val="000000"/>
              </a:solidFill>
              <a:effectLst/>
              <a:uFillTx/>
              <a:latin typeface="Arial"/>
            </a:endParaRPr>
          </a:p>
        </p:txBody>
      </p:sp>
      <p:sp>
        <p:nvSpPr>
          <p:cNvPr id="561" name="Text 5"/>
          <p:cNvSpPr/>
          <p:nvPr/>
        </p:nvSpPr>
        <p:spPr>
          <a:xfrm>
            <a:off x="3017520" y="1389960"/>
            <a:ext cx="79092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Đưa dữ liệu từ nguồn vào pipeline; có batch và streaming.</a:t>
            </a:r>
            <a:endParaRPr b="0" lang="en-US" sz="1180" strike="noStrike" u="none">
              <a:solidFill>
                <a:srgbClr val="000000"/>
              </a:solidFill>
              <a:effectLst/>
              <a:uFillTx/>
              <a:latin typeface="Arial"/>
            </a:endParaRPr>
          </a:p>
        </p:txBody>
      </p:sp>
      <p:sp>
        <p:nvSpPr>
          <p:cNvPr id="562" name="Shape 6"/>
          <p:cNvSpPr/>
          <p:nvPr/>
        </p:nvSpPr>
        <p:spPr>
          <a:xfrm>
            <a:off x="731520" y="2148840"/>
            <a:ext cx="529920" cy="529920"/>
          </a:xfrm>
          <a:prstGeom prst="roundRect">
            <a:avLst>
              <a:gd name="adj" fmla="val 16667"/>
            </a:avLst>
          </a:prstGeom>
          <a:solidFill>
            <a:srgbClr val="00a6a6"/>
          </a:solidFill>
          <a:ln w="12700">
            <a:solidFill>
              <a:srgbClr val="00a6a6"/>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3" name="Text 7"/>
          <p:cNvSpPr/>
          <p:nvPr/>
        </p:nvSpPr>
        <p:spPr>
          <a:xfrm>
            <a:off x="887040" y="2295000"/>
            <a:ext cx="2192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2</a:t>
            </a:r>
            <a:endParaRPr b="0" lang="en-US" sz="1100" strike="noStrike" u="none">
              <a:solidFill>
                <a:srgbClr val="000000"/>
              </a:solidFill>
              <a:effectLst/>
              <a:uFillTx/>
              <a:latin typeface="Arial"/>
            </a:endParaRPr>
          </a:p>
        </p:txBody>
      </p:sp>
      <p:sp>
        <p:nvSpPr>
          <p:cNvPr id="564" name="Text 8"/>
          <p:cNvSpPr/>
          <p:nvPr/>
        </p:nvSpPr>
        <p:spPr>
          <a:xfrm>
            <a:off x="1554480" y="222192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6324f"/>
                </a:solidFill>
                <a:effectLst/>
                <a:uFillTx/>
                <a:latin typeface="Arial"/>
              </a:rPr>
              <a:t>Sqoop</a:t>
            </a:r>
            <a:endParaRPr b="0" lang="en-US" sz="1300" strike="noStrike" u="none">
              <a:solidFill>
                <a:srgbClr val="000000"/>
              </a:solidFill>
              <a:effectLst/>
              <a:uFillTx/>
              <a:latin typeface="Arial"/>
            </a:endParaRPr>
          </a:p>
        </p:txBody>
      </p:sp>
      <p:sp>
        <p:nvSpPr>
          <p:cNvPr id="565" name="Text 9"/>
          <p:cNvSpPr/>
          <p:nvPr/>
        </p:nvSpPr>
        <p:spPr>
          <a:xfrm>
            <a:off x="3017520" y="2212920"/>
            <a:ext cx="79092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Khái niệm batch RDBMS↔Hadoop quan trọng nhưng công cụ đã retired.</a:t>
            </a:r>
            <a:endParaRPr b="0" lang="en-US" sz="1180" strike="noStrike" u="none">
              <a:solidFill>
                <a:srgbClr val="000000"/>
              </a:solidFill>
              <a:effectLst/>
              <a:uFillTx/>
              <a:latin typeface="Arial"/>
            </a:endParaRPr>
          </a:p>
        </p:txBody>
      </p:sp>
      <p:sp>
        <p:nvSpPr>
          <p:cNvPr id="566" name="Shape 10"/>
          <p:cNvSpPr/>
          <p:nvPr/>
        </p:nvSpPr>
        <p:spPr>
          <a:xfrm>
            <a:off x="731520" y="2971800"/>
            <a:ext cx="529920" cy="529920"/>
          </a:xfrm>
          <a:prstGeom prst="roundRect">
            <a:avLst>
              <a:gd name="adj" fmla="val 16667"/>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7" name="Text 11"/>
          <p:cNvSpPr/>
          <p:nvPr/>
        </p:nvSpPr>
        <p:spPr>
          <a:xfrm>
            <a:off x="887040" y="3117960"/>
            <a:ext cx="2192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3</a:t>
            </a:r>
            <a:endParaRPr b="0" lang="en-US" sz="1100" strike="noStrike" u="none">
              <a:solidFill>
                <a:srgbClr val="000000"/>
              </a:solidFill>
              <a:effectLst/>
              <a:uFillTx/>
              <a:latin typeface="Arial"/>
            </a:endParaRPr>
          </a:p>
        </p:txBody>
      </p:sp>
      <p:sp>
        <p:nvSpPr>
          <p:cNvPr id="568" name="Text 12"/>
          <p:cNvSpPr/>
          <p:nvPr/>
        </p:nvSpPr>
        <p:spPr>
          <a:xfrm>
            <a:off x="1554480" y="304488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6324f"/>
                </a:solidFill>
                <a:effectLst/>
                <a:uFillTx/>
                <a:latin typeface="Arial"/>
              </a:rPr>
              <a:t>Flume / Kafka</a:t>
            </a:r>
            <a:endParaRPr b="0" lang="en-US" sz="1300" strike="noStrike" u="none">
              <a:solidFill>
                <a:srgbClr val="000000"/>
              </a:solidFill>
              <a:effectLst/>
              <a:uFillTx/>
              <a:latin typeface="Arial"/>
            </a:endParaRPr>
          </a:p>
        </p:txBody>
      </p:sp>
      <p:sp>
        <p:nvSpPr>
          <p:cNvPr id="569" name="Text 13"/>
          <p:cNvSpPr/>
          <p:nvPr/>
        </p:nvSpPr>
        <p:spPr>
          <a:xfrm>
            <a:off x="3017520" y="3035880"/>
            <a:ext cx="79092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Thu thập event/log; Kafka hiện đại hơn ở mô hình distributed event log.</a:t>
            </a:r>
            <a:endParaRPr b="0" lang="en-US" sz="1180" strike="noStrike" u="none">
              <a:solidFill>
                <a:srgbClr val="000000"/>
              </a:solidFill>
              <a:effectLst/>
              <a:uFillTx/>
              <a:latin typeface="Arial"/>
            </a:endParaRPr>
          </a:p>
        </p:txBody>
      </p:sp>
      <p:sp>
        <p:nvSpPr>
          <p:cNvPr id="570" name="Shape 14"/>
          <p:cNvSpPr/>
          <p:nvPr/>
        </p:nvSpPr>
        <p:spPr>
          <a:xfrm>
            <a:off x="731520" y="3794760"/>
            <a:ext cx="529920" cy="529920"/>
          </a:xfrm>
          <a:prstGeom prst="roundRect">
            <a:avLst>
              <a:gd name="adj" fmla="val 16667"/>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1" name="Text 15"/>
          <p:cNvSpPr/>
          <p:nvPr/>
        </p:nvSpPr>
        <p:spPr>
          <a:xfrm>
            <a:off x="887040" y="3940920"/>
            <a:ext cx="2192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4</a:t>
            </a:r>
            <a:endParaRPr b="0" lang="en-US" sz="1100" strike="noStrike" u="none">
              <a:solidFill>
                <a:srgbClr val="000000"/>
              </a:solidFill>
              <a:effectLst/>
              <a:uFillTx/>
              <a:latin typeface="Arial"/>
            </a:endParaRPr>
          </a:p>
        </p:txBody>
      </p:sp>
      <p:sp>
        <p:nvSpPr>
          <p:cNvPr id="572" name="Text 16"/>
          <p:cNvSpPr/>
          <p:nvPr/>
        </p:nvSpPr>
        <p:spPr>
          <a:xfrm>
            <a:off x="1554480" y="386784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6324f"/>
                </a:solidFill>
                <a:effectLst/>
                <a:uFillTx/>
                <a:latin typeface="Arial"/>
              </a:rPr>
              <a:t>Airflow</a:t>
            </a:r>
            <a:endParaRPr b="0" lang="en-US" sz="1300" strike="noStrike" u="none">
              <a:solidFill>
                <a:srgbClr val="000000"/>
              </a:solidFill>
              <a:effectLst/>
              <a:uFillTx/>
              <a:latin typeface="Arial"/>
            </a:endParaRPr>
          </a:p>
        </p:txBody>
      </p:sp>
      <p:sp>
        <p:nvSpPr>
          <p:cNvPr id="573" name="Text 17"/>
          <p:cNvSpPr/>
          <p:nvPr/>
        </p:nvSpPr>
        <p:spPr>
          <a:xfrm>
            <a:off x="3017520" y="3858840"/>
            <a:ext cx="79092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Điều phối workflow: schedule, dependency, retry, monitoring.</a:t>
            </a:r>
            <a:endParaRPr b="0" lang="en-US" sz="1180" strike="noStrike" u="none">
              <a:solidFill>
                <a:srgbClr val="000000"/>
              </a:solidFill>
              <a:effectLst/>
              <a:uFillTx/>
              <a:latin typeface="Arial"/>
            </a:endParaRPr>
          </a:p>
        </p:txBody>
      </p:sp>
      <p:sp>
        <p:nvSpPr>
          <p:cNvPr id="574" name="Shape 18"/>
          <p:cNvSpPr/>
          <p:nvPr/>
        </p:nvSpPr>
        <p:spPr>
          <a:xfrm>
            <a:off x="731520" y="4617720"/>
            <a:ext cx="529920" cy="529920"/>
          </a:xfrm>
          <a:prstGeom prst="roundRect">
            <a:avLst>
              <a:gd name="adj" fmla="val 16667"/>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5" name="Text 19"/>
          <p:cNvSpPr/>
          <p:nvPr/>
        </p:nvSpPr>
        <p:spPr>
          <a:xfrm>
            <a:off x="887040" y="4763880"/>
            <a:ext cx="2192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rial"/>
              </a:rPr>
              <a:t>5</a:t>
            </a:r>
            <a:endParaRPr b="0" lang="en-US" sz="1100" strike="noStrike" u="none">
              <a:solidFill>
                <a:srgbClr val="000000"/>
              </a:solidFill>
              <a:effectLst/>
              <a:uFillTx/>
              <a:latin typeface="Arial"/>
            </a:endParaRPr>
          </a:p>
        </p:txBody>
      </p:sp>
      <p:sp>
        <p:nvSpPr>
          <p:cNvPr id="576" name="Text 20"/>
          <p:cNvSpPr/>
          <p:nvPr/>
        </p:nvSpPr>
        <p:spPr>
          <a:xfrm>
            <a:off x="1554480" y="4690800"/>
            <a:ext cx="141696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6324f"/>
                </a:solidFill>
                <a:effectLst/>
                <a:uFillTx/>
                <a:latin typeface="Arial"/>
              </a:rPr>
              <a:t>RQ</a:t>
            </a:r>
            <a:endParaRPr b="0" lang="en-US" sz="1300" strike="noStrike" u="none">
              <a:solidFill>
                <a:srgbClr val="000000"/>
              </a:solidFill>
              <a:effectLst/>
              <a:uFillTx/>
              <a:latin typeface="Arial"/>
            </a:endParaRPr>
          </a:p>
        </p:txBody>
      </p:sp>
      <p:sp>
        <p:nvSpPr>
          <p:cNvPr id="577" name="Text 21"/>
          <p:cNvSpPr/>
          <p:nvPr/>
        </p:nvSpPr>
        <p:spPr>
          <a:xfrm>
            <a:off x="3017520" y="4681800"/>
            <a:ext cx="79092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trike="noStrike" u="none">
                <a:solidFill>
                  <a:srgbClr val="1f2937"/>
                </a:solidFill>
                <a:effectLst/>
                <a:uFillTx/>
                <a:latin typeface="Arial"/>
              </a:rPr>
              <a:t>Job queue cho background workers; không thay Kafka hay Airflow.</a:t>
            </a:r>
            <a:endParaRPr b="0" lang="en-US" sz="1180" strike="noStrike" u="none">
              <a:solidFill>
                <a:srgbClr val="000000"/>
              </a:solidFill>
              <a:effectLst/>
              <a:uFillTx/>
              <a:latin typeface="Arial"/>
            </a:endParaRPr>
          </a:p>
        </p:txBody>
      </p:sp>
      <p:sp>
        <p:nvSpPr>
          <p:cNvPr id="578" name="Shape 22"/>
          <p:cNvSpPr/>
          <p:nvPr/>
        </p:nvSpPr>
        <p:spPr>
          <a:xfrm>
            <a:off x="1005840" y="5596200"/>
            <a:ext cx="10149480" cy="548280"/>
          </a:xfrm>
          <a:prstGeom prst="roundRect">
            <a:avLst>
              <a:gd name="adj" fmla="val 16667"/>
            </a:avLst>
          </a:prstGeom>
          <a:solidFill>
            <a:srgbClr val="eaf2fb"/>
          </a:solidFill>
          <a:ln w="12700">
            <a:solidFill>
              <a:srgbClr val="c9ddf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9" name="Text 23"/>
          <p:cNvSpPr/>
          <p:nvPr/>
        </p:nvSpPr>
        <p:spPr>
          <a:xfrm>
            <a:off x="1325880" y="5769720"/>
            <a:ext cx="95094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30" strike="noStrike" u="none">
                <a:solidFill>
                  <a:srgbClr val="1e88e5"/>
                </a:solidFill>
                <a:effectLst/>
                <a:uFillTx/>
                <a:latin typeface="Arial"/>
              </a:rPr>
              <a:t>Tư duy thiết kế: SOURCE → INGEST → STORE → PROCESS → SERVE, và dùng ORCHESTRATION để điều phối toàn pipeline.</a:t>
            </a:r>
            <a:endParaRPr b="0" lang="en-US" sz="1230" strike="noStrike" u="none">
              <a:solidFill>
                <a:srgbClr val="000000"/>
              </a:solidFill>
              <a:effectLst/>
              <a:uFillTx/>
              <a:latin typeface="Arial"/>
            </a:endParaRPr>
          </a:p>
        </p:txBody>
      </p:sp>
      <p:sp>
        <p:nvSpPr>
          <p:cNvPr id="580" name="PlaceHolder 1"/>
          <p:cNvSpPr>
            <a:spLocks noGrp="1"/>
          </p:cNvSpPr>
          <p:nvPr>
            <p:ph type="sldNum" idx="23"/>
          </p:nvPr>
        </p:nvSpPr>
        <p:spPr>
          <a:xfrm>
            <a:off x="11631240" y="6510600"/>
            <a:ext cx="255600" cy="200880"/>
          </a:xfrm>
          <a:prstGeom prst="rect">
            <a:avLst/>
          </a:prstGeom>
          <a:noFill/>
          <a:ln w="0">
            <a:noFill/>
          </a:ln>
        </p:spPr>
        <p:txBody>
          <a:bodyPr lIns="90000" rIns="90000" tIns="45000" bIns="45000" anchor="t">
            <a:noAutofit/>
          </a:bodyPr>
          <a:lstStyle>
            <a:lvl1pPr indent="0" algn="r" defTabSz="914400">
              <a:lnSpc>
                <a:spcPct val="100000"/>
              </a:lnSpc>
              <a:buNone/>
              <a:defRPr b="0" lang="en-US" sz="800" strike="noStrike" u="none">
                <a:solidFill>
                  <a:srgbClr val="7a8797"/>
                </a:solidFill>
                <a:effectLst/>
                <a:uFillTx/>
                <a:latin typeface="Arial"/>
                <a:ea typeface="Arial"/>
              </a:defRPr>
            </a:lvl1pPr>
          </a:lstStyle>
          <a:p>
            <a:pPr indent="0" algn="r" defTabSz="914400">
              <a:lnSpc>
                <a:spcPct val="100000"/>
              </a:lnSpc>
              <a:buNone/>
            </a:pPr>
            <a:fld id="{DDE7B25D-CE23-4D9B-ABC6-9374295136B0}" type="slidenum">
              <a:rPr b="0" lang="en-US" sz="800" strike="noStrike" u="none">
                <a:solidFill>
                  <a:srgbClr val="7a8797"/>
                </a:solidFill>
                <a:effectLst/>
                <a:uFillTx/>
                <a:latin typeface="Arial"/>
                <a:ea typeface="Arial"/>
              </a:rPr>
              <a:t>19</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30</TotalTime>
  <Application>LibreOffice/25.8.1.1$MacOSX_AARCH64 LibreOffice_project/54047653041915e595ad4e45cccea684809c77b5</Application>
  <AppVersion>15.0000</AppVersion>
  <Words>0</Words>
  <Paragraphs>0</Paragraphs>
  <Company>HUB</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2026-09-24T02:14:40Z</dcterms:created>
  <dc:creator>OpenAI</dc:creator>
  <dc:description/>
  <dc:language>en-US</dc:language>
  <cp:lastModifiedBy/>
  <dcterms:modified xsi:type="dcterms:W3CDTF">2026-09-24T10:19:01Z</dcterms:modified>
  <cp:revision>4</cp:revision>
  <dc:subject>Lecture 4 - Data Ingestion &amp; Orchestration</dc:subject>
  <dc:title>Lecture 4 - Data Ingestion &amp; Orchestration (Revised)</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(16:9)</vt:lpwstr>
  </property>
  <property fmtid="{D5CDD505-2E9C-101B-9397-08002B2CF9AE}" pid="4" name="Slides">
    <vt:i4>19</vt:i4>
  </property>
</Properties>
</file>