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TRƯỜNG ĐẠI HỌC CÔNG THƯƠNG TP. HỒ CHÍ MINH (HUIT)</a:t>
            </a:r>
            <a:br/>
            <a:r>
              <a:t>KHOA CÔNG NGHỆ THÔNG TIN - BỘ MÔN CÔNG NGHỆ PHẦN MỀM</a:t>
            </a:r>
          </a:p>
          <a:p>
            <a:br/>
            <a:pPr>
              <a:defRPr sz="1500" b="1">
                <a:solidFill>
                  <a:srgbClr val="E11D48"/>
                </a:solidFill>
              </a:defRPr>
            </a:pPr>
            <a:r>
              <a:t>BÁO CÁO ĐỒ ÁN HỌC PHẦN: PHÁT TRIỂN ỨNG DỤNG MÃ NGUỒN MỞ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NỀN TẢNG THƯƠNG MẠI ĐIỆN TỬ BÁN BÁNH NGỌT</a:t>
            </a:r>
            <a:br/>
            <a:r>
              <a:t>ĐA CỬA HÀNG - CAKEY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Hệ thống sàn TMĐT Multi-vendor chuyên biệt ngành bánh (PHP 8.3 &amp; Laravel 11/12 Framework)</a:t>
            </a:r>
            <a:br/>
            <a:r>
              <a:t>(Tích hợp: MySQL InnoDB, Blade Template, Bootstrap 5, AJAX Live Search, VietQR API Napas247)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Sinh viên thực hiện: Vũ Lê Anh Đức (MSSV: 2001230191 - Trưởng nhóm)</a:t>
            </a:r>
            <a:br/>
            <a:r>
              <a:t>Các thành viên: Nguyễn Hoàng Long (2001230188), Trần Minh Quân (2001230195), Lê Thị Kim Ngân (2001230182)</a:t>
            </a:r>
            <a:br/>
            <a:r>
              <a:t>Giảng viên phụ trách học phần: Khoa CNTT - HUIT | Thời gian: Tháng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Nội Dung Báo Cáo (Agenda)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01. Đặt Vấn Đề &amp; Mục Tiêu Đề Tài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Bối cảnh thực tế ngành bánh ngọt, bất cập mô hình truyền thống và giải pháp sàn CAKEY.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02. Phân Tích Yêu Cầu &amp; Thiết Kế Hệ Thống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Ma trận phân quyền 3 Role (RBAC), sơ đồ Use-Case tổng thể và CSDL ERD 7 bảng chuẩn hóa.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03. Kiến Trúc &amp; Ma Trận Công Nghệ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Mô hình MVC, ma trận vị trí áp dụng &amp; hiệu quả kỹ thuật (Backend, DB, Frontend, VietQR API).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461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4107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04. Hiện Thực Chức Năng Các Phân Hệ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Demo Client (Live Search, VietQR), Seller (CRUD, 2 nút đối soát, thống kê) và Admin (Kick-out).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05. Kiểm Thử Hệ Thống &amp; Đánh Giá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Bộ 13 Feature Tests tự động với PHPUnit (100% Passed, 61 assertions) và chuẩn PSR-12 Pint.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51206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010912"/>
            <a:ext cx="47548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06. Kết Luận &amp; Hướng Phát Triển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Đánh giá ưu nhược điểm, lộ trình tích hợp Webhook ngân hàng tự động và Q&amp;A phản biện.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1. Đặt Vấn Đề &amp; Lý Do Chọn Đề Tài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Bối Cảnh &amp; Bất Cập Mô Hình Truyền Thống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Bối cảnh: Nhu cầu tiêu thụ bánh ngọt, bánh sinh nhật, tiệc ngọt gia tăng mạnh mẽ. Các tiệm bánh nhỏ lẻ (Home-bakery) gặp khó khăn tiếp cận khách hàng.</a:t>
            </a:r>
            <a:br/>
            <a:br/>
            <a:r>
              <a:t>• Bất cập của mô hình bán qua tin nhắn MXH:</a:t>
            </a:r>
            <a:br/>
            <a:r>
              <a:t>  - Dễ sót đơn, nhầm yêu cầu ghi chữ, sai hẹn giờ giao tiệc.</a:t>
            </a:r>
            <a:br/>
            <a:r>
              <a:t>  - Chuyển khoản ngân hàng thủ công: Khách phải nhập số tiền, số tài khoản bằng tay, dễ gõ sai lệch.</a:t>
            </a:r>
            <a:br/>
            <a:r>
              <a:t>  - Tiệm mất rất nhiều thời gian tra soát sao kê biến động số dư.</a:t>
            </a:r>
            <a:br/>
            <a:br/>
            <a:r>
              <a:t>• Giải pháp đề tài CAKEY:</a:t>
            </a:r>
            <a:br/>
            <a:r>
              <a:t>  - Xây dựng sàn TMĐT B2C Multi-vendor kết nối các tiệm bánh uy tín.</a:t>
            </a:r>
            <a:br/>
            <a:r>
              <a:t>  - Chuẩn hóa quy trình đặt hàng, thanh toán VietQR tự động và quản lý tiệm bánh chuyên nghiệp.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Giao diện Sàn TMĐT Bánh Ngọt CAKEY trực quan, minh bạch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2. Mục Tiêu &amp; Phạm Vi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Trụ Cột 1: Khách Hàng (Client)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Mục tiêu: Tối ưu trải nghiệm mua sắm trên trình duyệt dưới 3 bước.</a:t>
            </a:r>
            <a:br/>
            <a:br/>
            <a:r>
              <a:t>• Chức năng chính:</a:t>
            </a:r>
            <a:br/>
            <a:r>
              <a:t>  - Đăng ký / Đăng nhập Email OTP.</a:t>
            </a:r>
            <a:br/>
            <a:r>
              <a:t>  - Live Search gợi ý bánh thời gian thực.</a:t>
            </a:r>
            <a:br/>
            <a:r>
              <a:t>  - Giỏ hàng AJAX tương tác nhanh.</a:t>
            </a:r>
            <a:br/>
            <a:r>
              <a:t>  - Thanh toán VietQR Napas 24/7.</a:t>
            </a:r>
            <a:br/>
            <a:r>
              <a:t>  - Theo dõi tiến độ đơn hàng.</a:t>
            </a:r>
            <a:br/>
            <a:r>
              <a:t>  - Gửi yêu cầu xem xét lại / khiếu nại chuyển khoản.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Trụ Cột 2: Người Bán (Seller)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Mục tiêu: Cung cấp công cụ quản trị tiệm bánh toàn diện cho tiểu thương.</a:t>
            </a:r>
            <a:br/>
            <a:br/>
            <a:r>
              <a:t>• Chức năng chính:</a:t>
            </a:r>
            <a:br/>
            <a:r>
              <a:t>  - Nộp đơn đăng ký mở tiệm bánh.</a:t>
            </a:r>
            <a:br/>
            <a:r>
              <a:t>  - CRUD thực đơn bánh có upload ảnh.</a:t>
            </a:r>
            <a:br/>
            <a:r>
              <a:t>  - Xóa mềm (Tạm ẩn) &amp; Khôi phục bánh.</a:t>
            </a:r>
            <a:br/>
            <a:r>
              <a:t>  - Quản lý đơn hàng: Nút 'Đã nhận tiền' và 'Chưa nhận tiền'.</a:t>
            </a:r>
            <a:br/>
            <a:r>
              <a:t>  - Thống kê doanh thu chi tiết theo Ngày và Tháng.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Trụ Cột 3: Quản Trị Viên (Admin)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Mục tiêu: Kiểm soát an toàn và tính minh bạch trên toàn sàn.</a:t>
            </a:r>
            <a:br/>
            <a:br/>
            <a:r>
              <a:t>• Chức năng chính:</a:t>
            </a:r>
            <a:br/>
            <a:r>
              <a:t>  - Dashboard phân tích số liệu toàn sàn.</a:t>
            </a:r>
            <a:br/>
            <a:r>
              <a:t>  - Phê duyệt / Từ chối hồ sơ mở tiệm bánh.</a:t>
            </a:r>
            <a:br/>
            <a:r>
              <a:t>  - Khóa tài khoản vi phạm với cơ chế đá văng (Kick-out) tức thì.</a:t>
            </a:r>
            <a:br/>
            <a:r>
              <a:t>  - Kiểm duyệt sản phẩm toàn sàn.</a:t>
            </a:r>
            <a:br/>
            <a:r>
              <a:t>  - Giám sát tranh chấp thanh toán.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3. Phân Tích Tác Nhân &amp; Ma Trận Phân Quyền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Ma Trận Phân Quyền Đa Tầng (RBAC)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3 Nhóm vai trò (Role) độc lập:</a:t>
            </a:r>
            <a:br/>
            <a:r>
              <a:t>  1. ROLE_KhachHang (User): Mua bánh, đánh giá, theo dõi trạng thái đơn.</a:t>
            </a:r>
            <a:br/>
            <a:r>
              <a:t>  2. ROLE_NguoiBan (Seller): Quản lý cửa hàng, thực đơn, đơn đặt bánh.</a:t>
            </a:r>
            <a:br/>
            <a:r>
              <a:t>  3. ROLE_Admin (Admin): Quyền hạn tối cao, kiểm duyệt và điều phối sàn.</a:t>
            </a:r>
            <a:br/>
            <a:br/>
            <a:r>
              <a:t>• Hệ thống Middleware bảo vệ đa tầng:</a:t>
            </a:r>
            <a:br/>
            <a:r>
              <a:t>  - Middleware 'auth': Kiểm tra trạng thái đã đăng nhập hay chưa.</a:t>
            </a:r>
            <a:br/>
            <a:r>
              <a:t>  - Middleware 'seller': Chỉ cho phép tài khoản có quyền ROLE_NguoiBan vào /seller/*.</a:t>
            </a:r>
            <a:br/>
            <a:r>
              <a:t>  - Middleware 'admin': Chỉ cho phép ROLE_Admin truy cập /admin/*.</a:t>
            </a:r>
            <a:br/>
            <a:r>
              <a:t>  - Middleware 'CheckAccountStatus': Bắt chặn mọi HTTP request, đá văng ngay trong 0.1s nếu tài khoản bị Admin khóa.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Cơ Chế Bảo Mật &amp; Toàn Vẹn Phiên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Thuật toán băm Bcrypt: Mật khẩu được băm an toàn (cost 10-12), chống tấn công từ điển 100%.</a:t>
            </a:r>
            <a:br/>
            <a:br/>
            <a:r>
              <a:t>• CSRF Protection: Chỉ thị @csrf trên mọi form và X-CSRF-TOKEN trên request Fetch API AJAX.</a:t>
            </a:r>
            <a:br/>
            <a:br/>
            <a:r>
              <a:t>• Session Invalidation: Khi quyền bị thay đổi hoặc tài khoản bị khóa, hệ thống xóa session ngay lập tức, ngăn ngừa Session Hijacking.</a:t>
            </a:r>
            <a:br/>
            <a:br/>
            <a:r>
              <a:t>• Ràng buộc toàn vẹn: Không cho phép User tự ý gán quyền hạn của mình qua Request Injection.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4. Sơ Đồ Use-Case Tổng Thể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Phân Hệ Khách Hàng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Đăng ký (OTP Email) / Đăng nhập / Đổi mật khẩu.</a:t>
            </a:r>
            <a:br/>
            <a:r>
              <a:t>• Tìm kiếm Live Search AJAX / Lọc theo danh mục bánh.</a:t>
            </a:r>
            <a:br/>
            <a:r>
              <a:t>• Giỏ hàng AJAX / Đặt hàng (COD hoặc Quét VietQR).</a:t>
            </a:r>
            <a:br/>
            <a:r>
              <a:t>• Quản lý đơn cá nhân: Xác nhận đã CK, Yêu cầu xem xét lại, Chuyển tiền lại, Hủy đơn.</a:t>
            </a:r>
            <a:br/>
            <a:r>
              <a:t>• Nộp đơn đăng ký mở tiệm bánh.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10512"/>
            <a:ext cx="31089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Phân Hệ Người Bán (Seller)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Đăng ký thông tin mở tiệm bánh.</a:t>
            </a:r>
            <a:br/>
            <a:r>
              <a:t>• Quản lý sản phẩm: Thêm bánh (Upload ảnh), Sửa, Xóa mềm (Tạm ẩn), Khôi phục.</a:t>
            </a:r>
            <a:br/>
            <a:r>
              <a:t>• Xử lý đơn hàng: Bấm 'Đã nhận tiền', 'Chưa nhận tiền', Cập nhật tiến độ giao, Hủy đơn.</a:t>
            </a:r>
            <a:br/>
            <a:r>
              <a:t>• Thống kê doanh thu &amp; đơn hủy theo Ngày và Tháng.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10512"/>
            <a:ext cx="31089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Phân Hệ Quản Trị Viên (Admin)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Bảng điều khiển phân tích số liệu toàn sàn.</a:t>
            </a:r>
            <a:br/>
            <a:r>
              <a:t>• Quản lý người dùng: Lọc trạng thái, Khóa/Mở khóa tài khoản vi phạm (Kick-out tức thì).</a:t>
            </a:r>
            <a:br/>
            <a:r>
              <a:t>• Phê duyệt / Từ chối người bán mới.</a:t>
            </a:r>
            <a:br/>
            <a:r>
              <a:t>• Kiểm duyệt món bánh vi phạm toàn sàn &amp; Trọng tài khiếu nại.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5. Kiến Trúc Hệ Thống &amp; Công Nghệ Sử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Mô Hình MVC Chuẩn Mực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Model: Ánh xạ CSDL quan hệ qua Eloquent ORM.</a:t>
            </a:r>
            <a:br/>
            <a:r>
              <a:t>• View: Giao diện render qua Blade Template + Bootstrap 5.</a:t>
            </a:r>
            <a:br/>
            <a:r>
              <a:t>• Controller: Điều phối logic nghiệp vụ và Request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Backend &amp; Database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PHP 8.3: Tối ưu OpCache/JIT, type-hinting, tốc độ tăng ~20%.</a:t>
            </a:r>
            <a:br/>
            <a:r>
              <a:t>• Laravel 11/12 Framework: Routing, Middleware, Eloquent, CSRF.</a:t>
            </a:r>
            <a:br/>
            <a:r>
              <a:t>• MySQL InnoDB: 7 bảng đạt chuẩn 3NF, hỗ trợ Transaction ACID.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Frontend &amp; UI/UX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Blade Engine + Bootstrap 5: Responsive đa nền tảng.</a:t>
            </a:r>
            <a:br/>
            <a:r>
              <a:t>• AJAX (Fetch API): Live Search, Giỏ hàng, Chuông Polling 10s.</a:t>
            </a:r>
            <a:br/>
            <a:r>
              <a:t>• Vanilla JS &amp; Math: Đèn pin xoay 360° Math.atan2 độc đáo.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Tích Hợp &amp; Kiểm Thử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VietQR API: Sinh mã QR Napas247 động theo đơn hàng.</a:t>
            </a:r>
            <a:br/>
            <a:r>
              <a:t>• Email OTP: Xác thực 2 bước qua mã 6 chữ số.</a:t>
            </a:r>
            <a:br/>
            <a:r>
              <a:t>• PHPUnit &amp; Pint: 13 Feature Tests passed 100%, chuẩn PSR-12.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Ma Trận Công Nghệ: Vị Trí Áp Dụng &amp; Hiệu Quả (Backend &amp; Database)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Công Nghệ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Vị Trí Áp Dụng Cụ Thể Trong Dự Án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Hiệu Quả Kỹ Thuật Đạt Được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PHP 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Toàn bộ backend xử lý logic.</a:t>
                      </a:r>
                    </a:p>
                    <a:p>
                      <a:r>
                        <a:t>• Sử dụng Type-hinting, Constructor Promotion, Match expressions.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Tối ưu OpCache/JIT giúp tốc độ xử lý tăng ~20%.</a:t>
                      </a:r>
                    </a:p>
                    <a:p>
                      <a:r>
                        <a:t>• Giảm 30% code boilerplate, code tường minh và hạn chế lỗi runtime.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Laravel 11/12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Hệ thống Route phân nhóm (web.php).</a:t>
                      </a:r>
                    </a:p>
                    <a:p>
                      <a:r>
                        <a:t>• Request Validation (CartController, AuthController).</a:t>
                      </a:r>
                    </a:p>
                    <a:p>
                      <a:r>
                        <a:t>• Middleware xác thực (auth, seller, admin).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Tự động chống CSRF, XSS, SQL Injection.</a:t>
                      </a:r>
                    </a:p>
                    <a:p>
                      <a:r>
                        <a:t>• Rút ngắn 50% thời gian phát triển nghiệp vụ nhờ hệ sinh thái dựng sẵn.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Eloquent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Quan hệ: 1-1 (CuaHang-User), 1-N (DonHang-ChiTiet), N-1 (SanPham-CuaHang).</a:t>
                      </a:r>
                    </a:p>
                    <a:p>
                      <a:r>
                        <a:t>• Eager Loading: with(['chiTiets.sanPham.cuaHang']).</a:t>
                      </a:r>
                    </a:p>
                    <a:p>
                      <a:r>
                        <a:t>• Cập nhật kho: decrement('SoLuongTon', $qty).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Giải quyết triệt để N+1 Query: Giảm từ hơn 100 queries xuống chỉ 2-3 queries.</a:t>
                      </a:r>
                    </a:p>
                    <a:p>
                      <a:r>
                        <a:t>• Chống Race Condition: Khóa dòng InnoDB, kho không bao giờ bị âm khi mua đồng thời.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MySQL (InnoDB)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Lưu trữ 7 bảng dữ liệu quan hệ đạt chuẩn 3NF.</a:t>
                      </a:r>
                    </a:p>
                    <a:p>
                      <a:r>
                        <a:t>• Ràng buộc toàn vẹn khóa ngoại (FOREIGN KEY).</a:t>
                      </a:r>
                    </a:p>
                    <a:p>
                      <a:r>
                        <a:t>• Đánh chỉ mục (INDEX) trên TrangThai, NgayDat, MaCuaHang.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Đảm bảo tuyệt đối tính toàn vẹn dữ liệu ACID.</a:t>
                      </a:r>
                    </a:p>
                    <a:p>
                      <a:r>
                        <a:t>• Tốc độ truy vấn bộ lọc đơn hàng và thống kê đạt dưới 50ms.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Custom Middleware &amp;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CheckAccountStatus.php: Bắt chặn mọi HTTP request.</a:t>
                      </a:r>
                    </a:p>
                    <a:p>
                      <a:r>
                        <a:t>• Thuật toán băm Bcrypt (cost=10/12) trong AuthController.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Cơ chế Kick-out tức thì trong 0.1s: Admin khóa là đá văng ngay request tiếp theo.</a:t>
                      </a:r>
                    </a:p>
                    <a:p>
                      <a:r>
                        <a:t>• Bảo vệ 100% mật khẩu người dùng trước rò rỉ dữ liệu.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Ma Trận Công Nghệ: Vị Trí Áp Dụng &amp; Hiệu Quả (Frontend &amp; Tích Hợp)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Công Nghệ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Vị Trí Áp Dụng Cụ Thể Trong Dự Án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Hiệu Quả Kỹ Thuật Đạt Được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6D28D9"/>
                          </a:solidFill>
                        </a:defRPr>
                      </a:pPr>
                      <a:r>
                        <a:t>VietQR API (NAPAS247)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Accessor $order-&gt;qr_code_url trong Model DonHang.</a:t>
                      </a:r>
                    </a:p>
                    <a:p>
                      <a:r>
                        <a:t>• Sinh QR động: Ngân hàng MBBank, STK, Tên chủ thẻ, Số tiền, cú pháp CAKEY [MaDon].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Tiết kiệm 100% chi phí: Không mất phí duy trì cổng hoặc 1.5%-2.5% phí giao dịch.</a:t>
                      </a:r>
                    </a:p>
                    <a:p>
                      <a:r>
                        <a:t>• Loại bỏ 100% lỗi gõ tay; Quét mã chỉ mất 2 giây trên mọi App ngân hàng VN.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6D28D9"/>
                          </a:solidFill>
                        </a:defRPr>
                      </a:pPr>
                      <a:r>
                        <a:t>Blade &amp; Bootstrap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Kế thừa qua layouts/master.blade.php.</a:t>
                      </a:r>
                    </a:p>
                    <a:p>
                      <a:r>
                        <a:t>• Grid Responsive (Desktop, Tablet, Mobile).</a:t>
                      </a:r>
                    </a:p>
                    <a:p>
                      <a:r>
                        <a:t>• Component dùng chung: Modal lý do hủy, Thẻ bánh.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Tái sử dụng mã nguồn 70%, code gọn gàng, bảo trì nhanh.</a:t>
                      </a:r>
                    </a:p>
                    <a:p>
                      <a:r>
                        <a:t>• Tốc độ tải trang dưới 200ms; Tương thích 100% thiết bị di động.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6D28D9"/>
                          </a:solidFill>
                        </a:defRPr>
                      </a:pPr>
                      <a:r>
                        <a:t>AJAX (Fetch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Live Search tức thì tại Header (ProductController::liveSearch).</a:t>
                      </a:r>
                    </a:p>
                    <a:p>
                      <a:r>
                        <a:t>• Notification Polling: Tự động kiểm tra chuông thông báo mỗi 10 giây.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Trải nghiệm No-Reload mượt mà: Tìm bánh thấy ngay không load trang.</a:t>
                      </a:r>
                    </a:p>
                    <a:p>
                      <a:r>
                        <a:t>• Chủ tiệm nhận thông báo CK tức thì, giảm thời gian chờ duyệt từ 15p xuống dưới 2p.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6D28D9"/>
                          </a:solidFill>
                        </a:defRPr>
                      </a:pPr>
                      <a:r>
                        <a:t>Vanilla JS &amp; Math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Hiệu ứng đèn pin soi mật khẩu xoay 360° tại form Đăng nhập.</a:t>
                      </a:r>
                    </a:p>
                    <a:p>
                      <a:r>
                        <a:t>• Hàm lượng giác Math.atan2(dy, dx) và CSS clipPath chùm sáng.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Gamification: Tạo ấn tượng thẩm mỹ độc đáo, giữ chân người dùng.</a:t>
                      </a:r>
                    </a:p>
                    <a:p>
                      <a:r>
                        <a:t>• Không phụ thuộc thư viện nặng (script dưới 5KB, 60fps mượt mà).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6D28D9"/>
                          </a:solidFill>
                        </a:defRPr>
                      </a:pPr>
                      <a:r>
                        <a:t>PHPUnit &amp; Pint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Bộ 13 Feature Tests trong tests/Feature/.</a:t>
                      </a:r>
                    </a:p>
                    <a:p>
                      <a:r>
                        <a:t>• Format chuẩn PSR-12 qua Laravel Pint.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• Độ tin cậy 100%: 13/13 tests passed với 61 assertions chỉ trong 0.8 giây.</a:t>
                      </a:r>
                    </a:p>
                    <a:p>
                      <a:r>
                        <a:t>• Loại bỏ hoàn toàn lỗi cú pháp, đảm bảo Clean Code chuyên nghiệp.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6. Thiết Kế Cơ Sở Dữ Liệu (CSDL) &amp; Sơ Đồ ERD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Cơ sở dữ liệu 'BanhNgot' gồm 7 bảng cốt lõi chuẩn 3NF, hỗ trợ toàn vẹn khóa ngoại (Foreign Keys):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Tên Bảng (Table)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Khóa Chính (PK)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Khóa Ngoại (FK)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Ý Nghĩa Nghiệp Vụ &amp; Ràng Buộc Toàn Vẹn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nguoidung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Lưu tài khoản, mật khẩu băm Bcrypt, vai trò (QuyenHan), trạng thái hoạt động (TrangThai)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CuaHang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MaCuaHang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MaND -&gt; nguoidung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Thông tin tiệm bánh, địa chỉ, liên kết 1-1 với nguoidung sở hữu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danhmuc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MaDanhMuc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Phân loại bánh ngọt (Bánh kem sinh nhật, Bánh mì mặn, Cupcake, Bánh ăn kiêng)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SanPham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MaSanPham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MaDanhMuc, MaCuaHang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Món bánh: Giá bán, tồn kho, hình ảnh, mô tả, trạng thái (Đang bán, Tạm gỡ, Chờ duyệt)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GioHang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id (Auto Inc)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MaNguoiDung, MaSanPham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Giỏ hàng tạm thời theo từng khách, ràng buộc UNIQUE(User, Product) chống trùng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DonHang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MaDon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MaKhachHang -&gt; nguoidung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Mã đơn, PTTT (COD/VietQR), trạng thái, tổng tiền, GhiChuThanhToan, NgayHoanThanh, LyDoHuy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ChiTietDonHang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id (Auto Inc)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MaDon, MaSanPham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Chi tiết từng món bánh và Đơn Giá lịch sử tại thời điểm đặt (bảo toàn doanh thu cũ)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7. Phân Hệ Khách Hàng: Trải Nghiệm Mua Sắm &amp; Live-Search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Trải Nghiệm Mua Sắm Khách Hàng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Giao diện Trang chủ hiện đại:</a:t>
            </a:r>
            <a:br/>
            <a:r>
              <a:t>  - Tone màu pastel ấm cúng chuẩn phong cách tiệm bánh ngọt.</a:t>
            </a:r>
            <a:br/>
            <a:r>
              <a:t>  - Slider banner các dòng bánh Best-Seller trong tuần.</a:t>
            </a:r>
            <a:br/>
            <a:br/>
            <a:r>
              <a:t>• Tìm kiếm thời gian thực (Live Search AJAX):</a:t>
            </a:r>
            <a:br/>
            <a:r>
              <a:t>  - Gõ từ khóa tới đâu, kết quả gợi ý đổ xuống tức thì không reload trang.</a:t>
            </a:r>
            <a:br/>
            <a:r>
              <a:t>  - Tìm kiếm thông minh theo tên bánh, tên tiệm bánh và loại bánh.</a:t>
            </a:r>
            <a:br/>
            <a:br/>
            <a:r>
              <a:t>• Phân trang chuẩn mực Bootstrap 5:</a:t>
            </a:r>
            <a:br/>
            <a:r>
              <a:t>  - Chia 8 sản phẩm/trang bằng Paginator::useBootstrapFive().</a:t>
            </a:r>
            <a:br/>
            <a:r>
              <a:t>  - Tự động giữ nguyên tham số lọc danh mục và từ khóa khi chuyển trang.</a:t>
            </a:r>
            <a:br/>
            <a:br/>
            <a:r>
              <a:t>• Trang chi tiết bánh &amp; Giỏ hàng AJAX:</a:t>
            </a:r>
            <a:br/>
            <a:r>
              <a:t>  - Hiển thị thành phần, mô tả, số lượng tồn kho theo thời gian thực.</a:t>
            </a:r>
            <a:br/>
            <a:r>
              <a:t>  - Thêm vào giỏ tức thời và cập nhật badge chuông giỏ hàng.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3_products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Danh mục sản phẩm bánh &amp; Bộ lọc phân trang Bootstrap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8. Quy Trình Thanh Toán VietQR &amp; Đối Soát 2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Luồng Đối Soát 2 Chiều Khép Kín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1. Đặt hàng chọn 'Chuyển khoản VietQR':</a:t>
            </a:r>
            <a:br/>
            <a:r>
              <a:t>   - Sinh mã QR MBBank kèm số tiền và cú pháp CAKEY [Mã đơn].</a:t>
            </a:r>
            <a:br/>
            <a:r>
              <a:t>   - Đơn ở trạng thái: 'Chờ chuyển khoản'.</a:t>
            </a:r>
            <a:br/>
            <a:br/>
            <a:r>
              <a:t>2. Khách quét app ngân hàng &amp; bấm 'Xác nhận đã chuyển khoản':</a:t>
            </a:r>
            <a:br/>
            <a:r>
              <a:t>   - Đơn chuyển sang: 'Chờ xác nhận chuyển khoản'.</a:t>
            </a:r>
            <a:br/>
            <a:r>
              <a:t>   - Bắn thông báo tức thì cho Người bán: 'Có người chuyển khoản #...'.</a:t>
            </a:r>
            <a:br/>
            <a:br/>
            <a:r>
              <a:t>3. Xử lý từ phía Người Bán:</a:t>
            </a:r>
            <a:br/>
            <a:r>
              <a:t>   - Bấm 'Đã nhận tiền' -&gt; Đơn chuyển 'Đã xác nhận' và làm bánh.</a:t>
            </a:r>
            <a:br/>
            <a:r>
              <a:t>   - Bấm 'Chưa nhận tiền' -&gt; Nhập lý do (chưa thấy tiền, chuyển thiếu).</a:t>
            </a:r>
            <a:br/>
            <a:br/>
            <a:r>
              <a:t>4. Khách hàng nhận thông báo &amp; có 2 nút giải quyết:</a:t>
            </a:r>
            <a:br/>
            <a:r>
              <a:t>   - 'Yêu cầu xem xét lại': Nhập mã giao dịch/lời giải trình.</a:t>
            </a:r>
            <a:br/>
            <a:r>
              <a:t>   - 'Thực hiện chuyển tiền lại': Quét lại mã QR để thao tác lại.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8_checkout_viet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Giao diện Checkout thanh toán mã QR VietQR Napas247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9. Phân Hệ Người Bán: Quản Lý Thực Đơn Tiệm Bánh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Quản Trị Thực Đơn &amp; Phúc Khảo Bánh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Thêm bánh mới với Upload file an toàn:</a:t>
            </a:r>
            <a:br/>
            <a:r>
              <a:t>  - Chọn ảnh trực tiếp từ máy tính lên máy chủ (lưu public/img).</a:t>
            </a:r>
            <a:br/>
            <a:r>
              <a:t>  - Kiểm tra MIME Type chặt chẽ (jpg, png, webp) và dung lượng max 5MB.</a:t>
            </a:r>
            <a:br/>
            <a:r>
              <a:t>  - Tự sinh mã sản phẩm ngẫu nhiên không trùng lặp.</a:t>
            </a:r>
            <a:br/>
            <a:br/>
            <a:r>
              <a:t>• Chỉnh sửa thông tin linh hoạt:</a:t>
            </a:r>
            <a:br/>
            <a:r>
              <a:t>  - Cập nhật giá bán, mô tả vị bánh, số lượng tồn kho trong ngày.</a:t>
            </a:r>
            <a:br/>
            <a:br/>
            <a:r>
              <a:t>• Cơ chế Xóa mềm (Soft-delete):</a:t>
            </a:r>
            <a:br/>
            <a:r>
              <a:t>  - Chuyển trạng thái bánh thành 'Tạm gỡ' để tạm ẩn khỏi sàn bán.</a:t>
            </a:r>
            <a:br/>
            <a:r>
              <a:t>  - Giữ nguyên dữ liệu trong ChiTietDonHang để không hỏng báo cáo cũ.</a:t>
            </a:r>
            <a:br/>
            <a:r>
              <a:t>  - Nút 'Khôi phục' cho phép mở bán lại bất kỳ lúc nào.</a:t>
            </a:r>
            <a:br/>
            <a:br/>
            <a:r>
              <a:t>• Cơ chế Phúc khảo bánh (Appeal):</a:t>
            </a:r>
            <a:br/>
            <a:r>
              <a:t>  - Khi bánh bị Admin tạm gỡ do nghi ngờ, chủ tiệm có thể gửi đơn giải trình trực tiếp trên hệ thống để Admin duyệt mở bán lại.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6_sell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Bảng quản lý sản phẩm Seller với các nút Sửa, Ẩn, Khôi phục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10. Phân Hệ Người Bán: Quản Lý &amp; Xử Lý Đơn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Xử Lý Đơn Hàng Chuyên Biệt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Phân loại đơn hàng đa tiêu chí:</a:t>
            </a:r>
            <a:br/>
            <a:r>
              <a:t>  - Mã đơn, Tên khách hàng &amp; SĐT, Địa chỉ giao nhận, Chi tiết món bánh.</a:t>
            </a:r>
            <a:br/>
            <a:r>
              <a:t>  - Tab lọc trạng thái: Tất cả, Chờ xác nhận CK, Đã xác nhận, Đang giao, Hoàn thành, Đã hủy.</a:t>
            </a:r>
            <a:br/>
            <a:br/>
            <a:r>
              <a:t>• Xử lý nhanh đơn chuyển khoản với 2 nút chuyên biệt:</a:t>
            </a:r>
            <a:br/>
            <a:r>
              <a:t>  - Nút 'Đã nhận tiền' (Màu xanh): Chuyển đơn sang 'Đã xác nhận', kích hoạt làm bánh và chuẩn bị giao hàng.</a:t>
            </a:r>
            <a:br/>
            <a:r>
              <a:t>  - Nút 'Chưa nhận tiền' (Màu đỏ outline): Mở modal nhập lý do (chưa thấy biến động số dư, sai cú pháp) để gửi thông báo tức thì đến khách.</a:t>
            </a:r>
            <a:br/>
            <a:br/>
            <a:r>
              <a:t>• Cơ chế Tiệm chủ động hủy đơn:</a:t>
            </a:r>
            <a:br/>
            <a:r>
              <a:t>  - Mở modal chọn lý do mẫu: Hết nguyên liệu, Quá tải lò nướng, Địa chỉ quá xa.</a:t>
            </a:r>
            <a:br/>
            <a:r>
              <a:t>  - Hệ thống ghi nhận NguoiHuy = 'Tiệm bánh' và hoàn trả tồn kho.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9_order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Giao diện Chi tiết Đơn hàng &amp; Quản lý trạng thái xử lý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11. Phân Hệ Người Bán: Thống Kê Doanh Thu Ngày &amp; Tháng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Dashboard Phân Tích Tài Chính 2 Chiều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Thống kê chi tiết theo Ngày:</a:t>
            </a:r>
            <a:br/>
            <a:r>
              <a:t>  - Chọn ngày bất kỳ -&gt; Xem số tiền thực nhận từ các đơn giao hoàn tất trong ngày.</a:t>
            </a:r>
            <a:br/>
            <a:r>
              <a:t>  - Hiển thị số đơn hoàn thành, số đơn bị hủy và tỷ lệ hoàn thành (%).</a:t>
            </a:r>
            <a:br/>
            <a:br/>
            <a:r>
              <a:t>• Thống kê tổng hợp theo Tháng:</a:t>
            </a:r>
            <a:br/>
            <a:r>
              <a:t>  - Chọn tháng bất kỳ -&gt; Xem tổng doanh thu tháng, tổng đơn giao thành công, tổng đơn thất bại.</a:t>
            </a:r>
            <a:br/>
            <a:br/>
            <a:r>
              <a:t>• Bảng danh sách đơn hàng đồng bộ bên dưới:</a:t>
            </a:r>
            <a:br/>
            <a:r>
              <a:t>  - Tự động lọc danh sách hóa đơn tương ứng với mốc ngày/tháng đang chọn.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Thuật Toán Thống Kê Chuẩn Kế Toán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Phân tách nguồn gốc đơn hủy:</a:t>
            </a:r>
            <a:br/>
            <a:r>
              <a:t>  - Khách hàng tự hủy đơn vs Tiệm bánh chủ động hủy đơn.</a:t>
            </a:r>
            <a:br/>
            <a:r>
              <a:t>  - Giúp chủ tiệm đánh giá chính xác nguyên nhân thất thoát doanh thu.</a:t>
            </a:r>
            <a:br/>
            <a:br/>
            <a:r>
              <a:t>• Nguyên tắc ghi nhận doanh thu:</a:t>
            </a:r>
            <a:br/>
            <a:r>
              <a:t>  - Chỉ tính tổng tiền đối với đơn có trạng thái 'Đã hoàn thành' hoặc 'Đã giao thành công'.</a:t>
            </a:r>
            <a:br/>
            <a:r>
              <a:t>  - Ngày ghi nhận lấy theo trường NgayHoanThanh (thời điểm giao bánh thành công), không lấy NgayDat, chống sai lệch số liệu vắt qua tháng.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12. Phân Hệ Quản Trị Viên (Admin) &amp; Bảo Mật Kick-out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Quản Trị Toàn Sàn &amp; Cơ Chế Kick-Out Tức Thì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Quản lý tài khoản toàn diện:</a:t>
            </a:r>
            <a:br/>
            <a:r>
              <a:t>  - Xem danh sách người dùng, bộ lọc tab: Tất cả, Khách, Tiệm bánh, Chờ duyệt, Bị khóa.</a:t>
            </a:r>
            <a:br/>
            <a:r>
              <a:t>  - Phê duyệt / Từ chối hồ sơ xin mở tiệm bánh mới chỉ với 1 cú click.</a:t>
            </a:r>
            <a:br/>
            <a:br/>
            <a:r>
              <a:t>• Cơ chế KICK-OUT tức thì trong 0.1s (Real-time Session Ejection):</a:t>
            </a:r>
            <a:br/>
            <a:r>
              <a:t>  - Nếu tài khoản đang online bị Admin bấm Khóa -&gt; Ngay tại request tiếp theo, Middleware CheckAccountStatus lập tức hủy Session, đăng xuất và đá văng về trang Đăng nhập.</a:t>
            </a:r>
            <a:br/>
            <a:r>
              <a:t>  - Giao diện đăng nhập hiển thị cảnh báo đỏ nổi bật: 'Tài Khoản Đã Bị Khóa!' kèm biểu tượng ổ khóa.</a:t>
            </a:r>
            <a:br/>
            <a:r>
              <a:t>  - Phân biệt chuẩn xác giữa: Nhập sai mật khẩu vs Tài khoản bị cấm.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5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937760" cy="2345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📷 MINH CHỨNG THỰC TẾ: Màn hình Đăng nhập hiển thị cảnh báo Kick-out an ninh mạng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13. Các Điểm Sáng Tạo &amp; Kỹ Thuật Nổi Bật Trong Đồ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1. Đèn Pin Soi Mật Khẩu Xoay 360°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Sử dụng SVG và tính toán góc lượng giác Math.atan2(dy, dx).</a:t>
            </a:r>
            <a:br/>
            <a:r>
              <a:t>• Giữ và xoay đèn pin quanh trục: Chiếu thẳng vào ô mật khẩu mới hiển thị text; xoay ra ngoài mật khẩu tự ẩn; hiệu ứng vệt sáng quét 60fps mượt mà.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VietQR API NAPAS247 Động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Tự động sinh mã QR ngân hàng MBBank chứa sẵn số tiền chính xác và cú pháp CAKEY [MaDon].</a:t>
            </a:r>
            <a:br/>
            <a:r>
              <a:t>• Quét mã 2 giây trên mọi app Mobile Banking VN, loại bỏ 100% sai sót người dùng.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3. Real-Time Notification AJAX Polling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Hệ thống chuông thông báo tự động kiểm tra và đếm số lượng thông báo mới mỗi 10 giây.</a:t>
            </a:r>
            <a:br/>
            <a:r>
              <a:t>• Tiệm bánh nhận thông báo 'Có người chuyển khoản' tức thì không reload trang.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Xác Thực Email OTP Bảo Mật 2 Bước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Bảo vệ tài khoản khi đăng ký mới và quên mật khẩu bằng mã OTP 6 chữ số gửi qua Email.</a:t>
            </a:r>
            <a:br/>
            <a:r>
              <a:t>• Mã OTP có thời hạn 5 phút, cơ chế rate-limiting chống spam tài khoản rác.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14. Kiểm Thử Hệ Thống (Testing &amp; Quality Assurance)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Phương Pháp Kiểm Thử Tự Động (PHPUnit)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Áp dụng Automated Feature Testing chuyên sâu:</a:t>
            </a:r>
            <a:br/>
            <a:r>
              <a:t>  - UserLockoutTest.php: Kiểm thử cơ chế đá văng tài khoản bị khóa, phân biệt sai pass vs tài khoản bị ban.</a:t>
            </a:r>
            <a:br/>
            <a:r>
              <a:t>  - BankTransferOrderTest.php: Kiểm thử trọn vẹn 6 trạng thái vòng đời đơn chuyển khoản (Đặt -&gt; Chờ CK -&gt; Chờ xác nhận -&gt; Đã nhận/Chưa nhận -&gt; Khiếu nại -&gt; Chuyển lại).</a:t>
            </a:r>
            <a:br/>
            <a:r>
              <a:t>  - SellerOrderStatsTest.php: Kiểm thử tính toán doanh thu ngày/tháng, tỷ lệ hoàn thành và phân loại người hủy.</a:t>
            </a:r>
            <a:br/>
            <a:br/>
            <a:r>
              <a:t>• Kết quả kiểm thử tự động:</a:t>
            </a:r>
            <a:br/>
            <a:r>
              <a:t>  - 13/13 Feature Tests Passed (Đạt 100%).</a:t>
            </a:r>
            <a:br/>
            <a:r>
              <a:t>  - 61 Assertions thành công, thời gian thực thi dưới 1 giây.</a:t>
            </a:r>
            <a:br/>
            <a:r>
              <a:t>  - Mã nguồn tuân thủ nghiêm ngặt tiêu chuẩn PSR-12 qua Laravel Pint.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Chỉ Số Đảm Bảo Chất Lượng (QA Metrics)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Kết quả chạy PHPUnit Terminal thực tế:</a:t>
            </a:r>
            <a:br/>
            <a:r>
              <a:t>  PASS  Tests\Feature\UserLockoutTest</a:t>
            </a:r>
            <a:br/>
            <a:r>
              <a:t>  ✓ user_is_locked_out_immediately_on_next_request</a:t>
            </a:r>
            <a:br/>
            <a:r>
              <a:t>  ✓ invalid_credentials_shows_standard_error</a:t>
            </a:r>
            <a:br/>
            <a:r>
              <a:t>  PASS  Tests\Feature\BankTransferOrderTest</a:t>
            </a:r>
            <a:br/>
            <a:r>
              <a:t>  ✓ customer_can_confirm_bank_transfer</a:t>
            </a:r>
            <a:br/>
            <a:r>
              <a:t>  ✓ seller_can_reject_with_reason</a:t>
            </a:r>
            <a:br/>
            <a:r>
              <a:t>  ✓ customer_can_appeal_rejected_payment</a:t>
            </a:r>
            <a:br/>
            <a:r>
              <a:t>  PASS  Tests\Feature\SellerOrderStatsTest</a:t>
            </a:r>
            <a:br/>
            <a:r>
              <a:t>  ✓ daily_stats_calculate_completed_orders_only</a:t>
            </a:r>
            <a:br/>
            <a:r>
              <a:t>  ✓ monthly_stats_separate_customer_and_seller_cancellations</a:t>
            </a:r>
            <a:br/>
            <a:br/>
            <a:r>
              <a:t>  Tests: 13 passed (61 assertions)</a:t>
            </a:r>
            <a:br/>
            <a:r>
              <a:t>  Duration: 0.82s | Memory: 32.50 MB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15. Đánh Giá Kết Quả Đạt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Ưu Điểm Nổi Bật Đã Đạt Được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Giao diện thân thiện, hiện đại, tone màu bánh ngọt ấm cúng và tương thích 100% thiết bị di động.</a:t>
            </a:r>
            <a:br/>
            <a:br/>
            <a:r>
              <a:t>• Nghiệp vụ hoàn chỉnh, giải quyết trọn vẹn bài toán vận hành của các tiệm bánh vừa và nhỏ.</a:t>
            </a:r>
            <a:br/>
            <a:br/>
            <a:r>
              <a:t>• Luồng thanh toán VietQR và đối soát sao kê giảm thiểu 90% nhầm lẫn chuyển khoản thủ công.</a:t>
            </a:r>
            <a:br/>
            <a:br/>
            <a:r>
              <a:t>• Kiến trúc phân tầng MVC rõ ràng, code sạch (PSR-12), tối ưu truy vấn Eloquent không bị lỗi N+1 Query.</a:t>
            </a:r>
            <a:br/>
            <a:br/>
            <a:r>
              <a:t>• Cơ chế an ninh cao: Kick-out tài khoản bị khóa trong 0.1s và mã hóa Bcrypt.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Hạn Chế Còn Tồn Tại Cần Cải Tiến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Cơ chế nhận tiền chuyển khoản hiện tại vẫn dựa trên việc chủ tiệm kiểm tra app ngân hàng rồi bấm nút (chưa tích hợp Webhook API tự động duyệt 100%).</a:t>
            </a:r>
            <a:br/>
            <a:br/>
            <a:r>
              <a:t>• Hệ thống hiện mới hỗ trợ ngôn ngữ tiếng Việt, chưa đa ngôn ngữ (i18n).</a:t>
            </a:r>
            <a:br/>
            <a:br/>
            <a:r>
              <a:t>• Chưa tích hợp tính toán khoảng cách định vị bản đồ GPS thời gian thực để tính phí ship động theo km.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BÁO CÁO ĐỒ ÁN MÃ NGUỒN MỞ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16. Hướng Phát Triển Trong Tương Lai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1. Tích Hợp Webhook Ngân Hàng Tự Động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Kết nối dịch vụ Cassie / SePay / VietQR Pro để tự động khớp lệnh sao kê ngân hàng và chuyển trạng thái 'Đã nhận tiền' chỉ sau 3 giây mà không cần chủ tiệm bấm tay.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Tích Hợp Đa Dạng Cổng Thanh Toán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Mở rộng thanh toán qua các ví điện tử phổ biến như MoMo, ZaloPay, VNPAY QR và thẻ thanh toán quốc tế Visa/Mastercard.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3. Phát Triển Ứng Dụng Di Động (Mobile App)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Xây dựng Mobile App trên nền tảng Flutter / React Native dành riêng cho Tài xế giao bánh (Shipper) và Chủ tiệm bánh nhận đơn tức thì.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9651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Ứng Dụng Trí Tuệ Nhân Tạo (AI Chatbot)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Tích hợp AI Chatbot tư vấn chọn bánh sinh nhật theo sở thích, độ tuổi, sự kiện và gợi ý vị bánh cá nhân hóa theo hành vi mua sắm.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XIN CHÂN THÀNH CẢM ƠN QUÝ THẦY CÔ VÀ CÁC BẠN</a:t>
            </a:r>
            <a:br/>
            <a:r>
              <a:t>ĐÃ LẮNG NGHE BÀI BÁO CÁO!</a:t>
            </a:r>
          </a:p>
          <a:p>
            <a:br/>
            <a:pPr algn="ctr">
              <a:defRPr sz="1400">
                <a:solidFill>
                  <a:srgbClr val="E2E8F0"/>
                </a:solidFill>
              </a:defRPr>
            </a:pPr>
            <a:r>
              <a:t>"CAKEY không chỉ là một đồ án môn học, mà là giải pháp TMĐT hoàn chỉnh,</a:t>
            </a:r>
            <a:br/>
            <a:r>
              <a:t>giải quyết bài toán thực tế cho cộng đồng kinh doanh bánh ngọt thủ công."</a:t>
            </a:r>
          </a:p>
          <a:p>
            <a:br/>
            <a:pPr algn="ctr">
              <a:defRPr sz="1700" b="1">
                <a:solidFill>
                  <a:srgbClr val="E11D48"/>
                </a:solidFill>
              </a:defRPr>
            </a:pPr>
            <a:r>
              <a:t>NHÓM XIN PHÉP BẮT ĐẦU PHẦN TRẢ LỜI CÂU HỎI PHẢN BIỆN (Q&amp;A)</a:t>
            </a:r>
          </a:p>
          <a:p>
            <a:br/>
            <a:pPr algn="ctr">
              <a:defRPr sz="1150">
                <a:solidFill>
                  <a:srgbClr val="94A3B8"/>
                </a:solidFill>
              </a:defRPr>
            </a:pPr>
            <a:r>
              <a:t>ĐỒ ÁN PHÁT TRIỂN ỨNG DỤNG MÃ NGUỒN MỞ - ĐẠI HỌC CÔNG THƯƠNG TP.HCM (HUIT)</a:t>
            </a:r>
            <a:br/>
            <a:r>
              <a:t>Nhóm 08 - Trưởng nhóm: Vũ Lê Anh Đức (2001230191)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PHỤ LỤC VẤN ĐÁP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Phụ Lục: Bộ Câu Hỏi Phản Biện Của Giảng Viên (Phần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Câu 1: Tại sao chọn VietQR 2 chiều mà không dùng VNPAY/MoMo?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Trả lời của sinh viên:</a:t>
            </a:r>
            <a:br/>
            <a:r>
              <a:t>  - Các tiệm bánh tham gia sàn đa phần là hộ kinh doanh nhỏ hoặc tiệm handmade. Việc đăng ký VNPAY/MoMo đòi hỏi giấy phép kinh doanh doanh nghiệp và mức phí chiết khấu 1.5% - 2.5% trên mỗi đơn hàng.</a:t>
            </a:r>
            <a:br/>
            <a:br/>
            <a:r>
              <a:t>  - Mô hình VietQR trực tiếp miễn phí 100% phí giao dịch cho tiểu thương, quét mã tiện lợi 24/7 trên mọi App ngân hàng VN.</a:t>
            </a:r>
            <a:br/>
            <a:br/>
            <a:r>
              <a:t>  - Cơ chế đối soát 2 chiều với 2 nút 'Đã nhận tiền' và 'Chưa nhận tiền' kèm tính năng khiếu nại giúp chủ tiệm kiểm soát chặt chẽ dòng tiền vào tài khoản mà không sợ thất thoát.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Câu 2: Xử lý Concurrency / Race Condition tồn kho ra sao?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Trả lời của sinh viên:</a:t>
            </a:r>
            <a:br/>
            <a:r>
              <a:t>  - Trong CartController, khi chốt đơn, nhóm dùng phương thức decrement('SoLuongTon', $qty) của Eloquent ORM.</a:t>
            </a:r>
            <a:br/>
            <a:br/>
            <a:r>
              <a:t>  - Lệnh này biên dịch xuống câu SQL nguyên tử: UPDATE SanPham SET SoLuongTon = SoLuongTon - ? WHERE MaSanPham = ?.</a:t>
            </a:r>
            <a:br/>
            <a:br/>
            <a:r>
              <a:t>  - Thao tác này được engine InnoDB của MySQL khóa dòng (row-level lock) tự động trong transaction ACID, đảm bảo không bao giờ bị âm kho khi nhiều khách cùng bấm mua tại cùng 1 giây.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PHỤ LỤC VẤN ĐÁP</a:t>
            </a:r>
          </a:p>
          <a:p>
            <a:pPr>
              <a:spcBef>
                <a:spcPts val="400"/>
              </a:spcBef>
              <a:defRPr sz="2100" b="1">
                <a:solidFill>
                  <a:srgbClr val="1E3A8A"/>
                </a:solidFill>
              </a:defRPr>
            </a:pPr>
            <a:r>
              <a:t>Phụ Lục: Bộ Câu Hỏi Phản Biện Của Giảng Viên (Phần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Câu 3: Cơ chế Kick-out tài khoản bị khóa?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Trả lời của sinh viên:</a:t>
            </a:r>
            <a:br/>
            <a:r>
              <a:t>  - Nhóm cài đặt Custom Middleware CheckAccountStatus bọc toàn cục.</a:t>
            </a:r>
            <a:br/>
            <a:br/>
            <a:r>
              <a:t>  - Ở mỗi HTTP request, middleware kiểm tra Auth::user()-&gt;TrangThai.</a:t>
            </a:r>
            <a:br/>
            <a:br/>
            <a:r>
              <a:t>  - Nếu TrangThai == 0 (bị khóa), lập tức gọi Auth::logout(), hủy session invalidate() và đá văng về trang đăng nhập với cờ locked=1 hiển thị cảnh báo đỏ.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Câu 4: Thống kê doanh thu không sai lệch số liệu?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Trả lời của sinh viên:</a:t>
            </a:r>
            <a:br/>
            <a:r>
              <a:t>  - Chỉ tính tổng tiền các đơn có trạng thái là 'Đã hoàn thành' hoặc 'Đã giao thành công'.</a:t>
            </a:r>
            <a:br/>
            <a:br/>
            <a:r>
              <a:t>  - Ngày ghi nhận doanh thu lấy theo trường NgayHoanThanh (thời điểm giao bánh thành công), không lấy NgayDat, tránh sai lệch vắt qua tháng.</a:t>
            </a:r>
            <a:br/>
            <a:br/>
            <a:r>
              <a:t>  - Phân tách rõ ràng đơn khách tự hủy vs tiệm chủ động hủy.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10512"/>
            <a:ext cx="30175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Câu 5: Mật khẩu người dùng được bảo vệ thế nào?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Trả lời của sinh viên:</a:t>
            </a:r>
            <a:br/>
            <a:r>
              <a:t>  - Toàn bộ mật khẩu trong CSDL được băm bằng thuật toán Bcrypt an toàn (Hash::make() với salt ngẫu nhiên).</a:t>
            </a:r>
            <a:br/>
            <a:br/>
            <a:r>
              <a:t>  - Tuyệt đối không lưu plain-text.</a:t>
            </a:r>
            <a:br/>
            <a:br/>
            <a:r>
              <a:t>  - Khi đăng nhập dùng Hash::check() so khớp một chiều, chống tấn công từ điển và rò rỉ dữ liệu.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