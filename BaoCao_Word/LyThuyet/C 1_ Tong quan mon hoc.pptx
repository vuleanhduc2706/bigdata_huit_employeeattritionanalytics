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689" r:id="rId2"/>
  </p:sldMasterIdLst>
  <p:notesMasterIdLst>
    <p:notesMasterId r:id="rId28"/>
  </p:notesMasterIdLst>
  <p:handoutMasterIdLst>
    <p:handoutMasterId r:id="rId29"/>
  </p:handoutMasterIdLst>
  <p:sldIdLst>
    <p:sldId id="256" r:id="rId3"/>
    <p:sldId id="392" r:id="rId4"/>
    <p:sldId id="364" r:id="rId5"/>
    <p:sldId id="369" r:id="rId6"/>
    <p:sldId id="380" r:id="rId7"/>
    <p:sldId id="370" r:id="rId8"/>
    <p:sldId id="372" r:id="rId9"/>
    <p:sldId id="371" r:id="rId10"/>
    <p:sldId id="373" r:id="rId11"/>
    <p:sldId id="374" r:id="rId12"/>
    <p:sldId id="375" r:id="rId13"/>
    <p:sldId id="376" r:id="rId14"/>
    <p:sldId id="377" r:id="rId15"/>
    <p:sldId id="378" r:id="rId16"/>
    <p:sldId id="379" r:id="rId17"/>
    <p:sldId id="381" r:id="rId18"/>
    <p:sldId id="382" r:id="rId19"/>
    <p:sldId id="384" r:id="rId20"/>
    <p:sldId id="383" r:id="rId21"/>
    <p:sldId id="393" r:id="rId22"/>
    <p:sldId id="387" r:id="rId23"/>
    <p:sldId id="388" r:id="rId24"/>
    <p:sldId id="389" r:id="rId25"/>
    <p:sldId id="390" r:id="rId26"/>
    <p:sldId id="391" r:id="rId27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CA58"/>
    <a:srgbClr val="000066"/>
    <a:srgbClr val="820000"/>
    <a:srgbClr val="0000CC"/>
    <a:srgbClr val="CC0066"/>
    <a:srgbClr val="CC0099"/>
    <a:srgbClr val="FF0000"/>
    <a:srgbClr val="CC3300"/>
    <a:srgbClr val="6600CC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82446" autoAdjust="0"/>
  </p:normalViewPr>
  <p:slideViewPr>
    <p:cSldViewPr>
      <p:cViewPr varScale="1">
        <p:scale>
          <a:sx n="69" d="100"/>
          <a:sy n="69" d="100"/>
        </p:scale>
        <p:origin x="192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4BF82-6142-421B-9D27-4459658F298E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E278BB-0CAB-4A1F-A984-8FD2D911E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72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9B5B886-5471-401E-84F6-62AB41E67698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DB2990B-FECD-4C00-917F-2D9B625F7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34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12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59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33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068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6612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9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91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82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6612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261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3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6612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33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40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8914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6612">
              <a:defRPr/>
            </a:pP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532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855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307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6612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633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6612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472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774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973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476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746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970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76201"/>
            <a:ext cx="8001000" cy="12953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086100" y="6492875"/>
            <a:ext cx="30861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BM KHDL&amp;TTNT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‹#›</a:t>
            </a:fld>
            <a:endParaRPr/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0" y="1825625"/>
            <a:ext cx="913257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5937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216275"/>
          </a:xfrm>
        </p:spPr>
        <p:txBody>
          <a:bodyPr>
            <a:normAutofit/>
          </a:bodyPr>
          <a:lstStyle>
            <a:lvl1pPr>
              <a:defRPr sz="5000">
                <a:solidFill>
                  <a:srgbClr val="C00000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762000" y="5181600"/>
            <a:ext cx="7848600" cy="1524000"/>
          </a:xfrm>
        </p:spPr>
        <p:txBody>
          <a:bodyPr>
            <a:noAutofit/>
          </a:bodyPr>
          <a:lstStyle>
            <a:lvl1pPr>
              <a:defRPr sz="35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>
              <a:defRPr sz="350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>
              <a:defRPr sz="35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>
              <a:defRPr sz="3500"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>
              <a:defRPr sz="3500">
                <a:solidFill>
                  <a:schemeClr val="tx1"/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056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6492875"/>
            <a:ext cx="9132570" cy="365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825625"/>
            <a:ext cx="91325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71800" y="649287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rgbClr val="8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BM KHDL&amp;TTNT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800" kern="1200" smtClean="0">
                <a:solidFill>
                  <a:srgbClr val="82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fld id="{53378AA8-78D2-4BCA-9541-9DE0B9F7454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143000" cy="1143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9" name="Straight Connector 8"/>
          <p:cNvCxnSpPr/>
          <p:nvPr userDrawn="1"/>
        </p:nvCxnSpPr>
        <p:spPr>
          <a:xfrm>
            <a:off x="1143000" y="1295400"/>
            <a:ext cx="8001000" cy="0"/>
          </a:xfrm>
          <a:prstGeom prst="line">
            <a:avLst/>
          </a:prstGeom>
          <a:ln w="444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1"/>
            <a:ext cx="8001000" cy="1295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7030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0000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C0000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C0000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C0000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C0000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BM KHMT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99C50-9B02-4DB4-972A-BA2B85D88F8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7"/>
          <p:cNvSpPr>
            <a:spLocks noChangeArrowheads="1"/>
          </p:cNvSpPr>
          <p:nvPr userDrawn="1"/>
        </p:nvSpPr>
        <p:spPr bwMode="white">
          <a:xfrm>
            <a:off x="0" y="6349"/>
            <a:ext cx="9144000" cy="4138613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18"/>
          <p:cNvSpPr>
            <a:spLocks noChangeArrowheads="1"/>
          </p:cNvSpPr>
          <p:nvPr userDrawn="1"/>
        </p:nvSpPr>
        <p:spPr bwMode="white">
          <a:xfrm>
            <a:off x="0" y="4916488"/>
            <a:ext cx="9163050" cy="19415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Freeform 19" descr="108a"/>
          <p:cNvSpPr>
            <a:spLocks/>
          </p:cNvSpPr>
          <p:nvPr userDrawn="1"/>
        </p:nvSpPr>
        <p:spPr bwMode="gray">
          <a:xfrm>
            <a:off x="-4763" y="3554412"/>
            <a:ext cx="9148763" cy="1279525"/>
          </a:xfrm>
          <a:custGeom>
            <a:avLst/>
            <a:gdLst/>
            <a:ahLst/>
            <a:cxnLst>
              <a:cxn ang="0">
                <a:pos x="0" y="586"/>
              </a:cxn>
              <a:cxn ang="0">
                <a:pos x="2929" y="18"/>
              </a:cxn>
              <a:cxn ang="0">
                <a:pos x="5763" y="593"/>
              </a:cxn>
              <a:cxn ang="0">
                <a:pos x="5763" y="1756"/>
              </a:cxn>
              <a:cxn ang="0">
                <a:pos x="0" y="1752"/>
              </a:cxn>
              <a:cxn ang="0">
                <a:pos x="0" y="586"/>
              </a:cxn>
            </a:cxnLst>
            <a:rect l="0" t="0" r="r" b="b"/>
            <a:pathLst>
              <a:path w="5763" h="1756">
                <a:moveTo>
                  <a:pt x="0" y="586"/>
                </a:moveTo>
                <a:cubicBezTo>
                  <a:pt x="693" y="340"/>
                  <a:pt x="1521" y="0"/>
                  <a:pt x="2929" y="18"/>
                </a:cubicBezTo>
                <a:cubicBezTo>
                  <a:pt x="4337" y="36"/>
                  <a:pt x="5292" y="322"/>
                  <a:pt x="5763" y="593"/>
                </a:cubicBezTo>
                <a:lnTo>
                  <a:pt x="5763" y="1756"/>
                </a:lnTo>
                <a:lnTo>
                  <a:pt x="0" y="1752"/>
                </a:lnTo>
                <a:lnTo>
                  <a:pt x="0" y="58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57150" cmpd="sng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Rectangle 20"/>
          <p:cNvSpPr>
            <a:spLocks noChangeArrowheads="1"/>
          </p:cNvSpPr>
          <p:nvPr userDrawn="1"/>
        </p:nvSpPr>
        <p:spPr bwMode="gray">
          <a:xfrm>
            <a:off x="0" y="4826000"/>
            <a:ext cx="9156700" cy="1682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9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dirty="0">
                <a:solidFill>
                  <a:schemeClr val="accent4"/>
                </a:solidFill>
              </a:rPr>
              <a:t>NHẬP MÔN BIG DATA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05000" y="5334000"/>
            <a:ext cx="7239000" cy="1524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	GV:</a:t>
            </a:r>
          </a:p>
          <a:p>
            <a:pPr marL="0" indent="0">
              <a:buNone/>
            </a:pPr>
            <a:r>
              <a:rPr lang="en-US" dirty="0"/>
              <a:t>		Mail: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 MÔN HỌC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2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2133600"/>
            <a:ext cx="9132570" cy="413067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dirty="0" err="1"/>
              <a:t>Chương</a:t>
            </a:r>
            <a:r>
              <a:rPr lang="en-US" dirty="0"/>
              <a:t> 1.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vi-VN" dirty="0"/>
              <a:t>về Dữ liệu lớn</a:t>
            </a:r>
            <a:endParaRPr lang="en-US" dirty="0"/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dirty="0" err="1"/>
              <a:t>Chương</a:t>
            </a:r>
            <a:r>
              <a:rPr lang="en-US" dirty="0"/>
              <a:t> 2.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dirty="0" err="1"/>
              <a:t>Chương</a:t>
            </a:r>
            <a:r>
              <a:rPr lang="en-US" dirty="0"/>
              <a:t> 3.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endParaRPr lang="en-US" dirty="0"/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dirty="0" err="1"/>
              <a:t>Chương</a:t>
            </a:r>
            <a:r>
              <a:rPr lang="en-US" dirty="0"/>
              <a:t> 4. </a:t>
            </a:r>
            <a:r>
              <a:rPr lang="vi-VN" dirty="0"/>
              <a:t>Xử lý dữ liệu lớn trên Apache Spark</a:t>
            </a:r>
            <a:endParaRPr lang="en-US" dirty="0"/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dirty="0" err="1"/>
              <a:t>Chương</a:t>
            </a:r>
            <a:r>
              <a:rPr lang="en-US" dirty="0"/>
              <a:t> 5. </a:t>
            </a:r>
            <a:r>
              <a:rPr lang="pt-BR" dirty="0"/>
              <a:t>Kỹ thuật trong xử lý dữ liệu lớn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89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/>
          <a:lstStyle/>
          <a:p>
            <a:r>
              <a:rPr lang="en-US"/>
              <a:t>TÀI LIỆU THAM KHẢO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KHDL&amp;TTNT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3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371600"/>
            <a:ext cx="9132570" cy="5121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 err="1"/>
              <a:t>Sách</a:t>
            </a:r>
            <a:r>
              <a:rPr lang="en-US" b="1" dirty="0"/>
              <a:t>, </a:t>
            </a:r>
            <a:r>
              <a:rPr lang="en-US" b="1" dirty="0" err="1"/>
              <a:t>giáo</a:t>
            </a:r>
            <a:r>
              <a:rPr lang="en-US" b="1" dirty="0"/>
              <a:t> </a:t>
            </a:r>
            <a:r>
              <a:rPr lang="en-US" b="1" dirty="0" err="1"/>
              <a:t>trình</a:t>
            </a:r>
            <a:r>
              <a:rPr lang="en-US" b="1" dirty="0"/>
              <a:t> </a:t>
            </a:r>
            <a:r>
              <a:rPr lang="en-US" b="1" dirty="0" err="1"/>
              <a:t>chính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[1] Jure </a:t>
            </a:r>
            <a:r>
              <a:rPr lang="en-US" dirty="0" err="1"/>
              <a:t>Leskovec</a:t>
            </a:r>
            <a:r>
              <a:rPr lang="en-US" dirty="0"/>
              <a:t>, Anand Rajaraman, Jeffrey D. Ullman, Mining of Massive Datasets, Stanford University, 2019.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 err="1"/>
              <a:t>Tài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 </a:t>
            </a:r>
            <a:r>
              <a:rPr lang="en-US" b="1" dirty="0" err="1"/>
              <a:t>tham</a:t>
            </a:r>
            <a:r>
              <a:rPr lang="en-US" b="1" dirty="0"/>
              <a:t> </a:t>
            </a:r>
            <a:r>
              <a:rPr lang="en-US" b="1" dirty="0" err="1"/>
              <a:t>khảo</a:t>
            </a:r>
            <a:r>
              <a:rPr lang="en-US" b="1" dirty="0"/>
              <a:t>: 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pt-BR" dirty="0"/>
              <a:t>[1] Đỗ Phúc, </a:t>
            </a:r>
            <a:r>
              <a:rPr lang="en-US" dirty="0" err="1"/>
              <a:t>Giáo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pt-BR" dirty="0"/>
              <a:t>, Nhà xuất bản Đại học Quốc gia TP.HCM, 2022.</a:t>
            </a:r>
            <a:endParaRPr lang="en-US" dirty="0"/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/>
              <a:t>[2] Mayank Bhushan, Big Data and Hadoop: Learn by example, BPB Publications, 2019.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941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/>
          <a:lstStyle/>
          <a:p>
            <a:r>
              <a:rPr lang="en-US"/>
              <a:t>Đánh giá môn học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KHDL&amp;TTNT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4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981201"/>
            <a:ext cx="9132570" cy="4511674"/>
          </a:xfrm>
        </p:spPr>
        <p:txBody>
          <a:bodyPr>
            <a:normAutofit fontScale="85000" lnSpcReduction="20000"/>
          </a:bodyPr>
          <a:lstStyle/>
          <a:p>
            <a:pPr marL="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800" b="1" dirty="0" err="1"/>
              <a:t>Điểm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quá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trình</a:t>
            </a:r>
            <a:r>
              <a:rPr lang="en-US" altLang="en-US" sz="2800" b="1" dirty="0"/>
              <a:t> 50%</a:t>
            </a:r>
          </a:p>
          <a:p>
            <a:pPr marL="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800" dirty="0"/>
              <a:t>1. </a:t>
            </a:r>
            <a:r>
              <a:rPr lang="en-US" altLang="en-US" sz="2800" dirty="0" err="1"/>
              <a:t>Điểm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danh</a:t>
            </a:r>
            <a:r>
              <a:rPr lang="en-US" altLang="en-US" sz="2800" dirty="0"/>
              <a:t>: 20%</a:t>
            </a:r>
          </a:p>
          <a:p>
            <a:pPr marL="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800" dirty="0"/>
              <a:t>1. </a:t>
            </a:r>
            <a:r>
              <a:rPr lang="en-US" altLang="en-US" sz="2800" dirty="0" err="1"/>
              <a:t>Điểm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</a:t>
            </a:r>
            <a:r>
              <a:rPr lang="en-US" altLang="en-US" sz="2800" dirty="0"/>
              <a:t>: 80%</a:t>
            </a:r>
          </a:p>
          <a:p>
            <a:pPr marL="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800" b="1" dirty="0" err="1"/>
              <a:t>Điểm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cuối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kỳ</a:t>
            </a:r>
            <a:r>
              <a:rPr lang="en-US" altLang="en-US" sz="2800" b="1" dirty="0"/>
              <a:t> 50%</a:t>
            </a:r>
          </a:p>
          <a:p>
            <a:pPr marL="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800" dirty="0"/>
              <a:t>2. </a:t>
            </a:r>
            <a:r>
              <a:rPr lang="en-US" altLang="en-US" sz="2800" dirty="0" err="1"/>
              <a:t>Điểm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chủ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đề</a:t>
            </a:r>
            <a:r>
              <a:rPr lang="en-US" altLang="en-US" sz="2800" dirty="0"/>
              <a:t> (2 HV/</a:t>
            </a:r>
            <a:r>
              <a:rPr lang="en-US" altLang="en-US" sz="2800" dirty="0" err="1"/>
              <a:t>nhóm</a:t>
            </a:r>
            <a:r>
              <a:rPr lang="en-US" altLang="en-US" sz="2800" dirty="0"/>
              <a:t>): 30%</a:t>
            </a:r>
          </a:p>
          <a:p>
            <a:pPr marL="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800" dirty="0"/>
              <a:t>2. </a:t>
            </a:r>
            <a:r>
              <a:rPr lang="en-US" altLang="en-US" sz="2800" dirty="0" err="1"/>
              <a:t>Điểm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đồ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môn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học</a:t>
            </a:r>
            <a:r>
              <a:rPr lang="en-US" altLang="en-US" sz="2800" dirty="0"/>
              <a:t> (2 HV/</a:t>
            </a:r>
            <a:r>
              <a:rPr lang="en-US" altLang="en-US" sz="2800" dirty="0" err="1"/>
              <a:t>nhóm</a:t>
            </a:r>
            <a:r>
              <a:rPr lang="en-US" altLang="en-US" sz="2800" dirty="0"/>
              <a:t>): 70%</a:t>
            </a:r>
          </a:p>
          <a:p>
            <a:pPr marL="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800" dirty="0"/>
              <a:t>+ </a:t>
            </a:r>
            <a:r>
              <a:rPr lang="en-US" altLang="en-US" sz="2800" dirty="0" err="1"/>
              <a:t>Điểm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viên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tham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: 1 </a:t>
            </a:r>
            <a:r>
              <a:rPr lang="en-US" altLang="en-US" sz="2800" dirty="0" err="1"/>
              <a:t>điểm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22267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/>
          <a:lstStyle/>
          <a:p>
            <a:r>
              <a:rPr lang="en-US"/>
              <a:t>Binary Digit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KHDL&amp;TTNT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5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446770"/>
            <a:ext cx="3810000" cy="501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051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/>
              <a:t>The current state of data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KHDL&amp;TTNT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6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524000"/>
            <a:ext cx="6741519" cy="489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53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/>
              <a:t>The growth of data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KHDL&amp;TTNT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7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  <a:p>
            <a:endParaRPr lang="en-US"/>
          </a:p>
          <a:p>
            <a:r>
              <a:rPr lang="en-US"/>
              <a:t>Every day we create </a:t>
            </a:r>
          </a:p>
          <a:p>
            <a:pPr marL="0" indent="0">
              <a:buNone/>
            </a:pPr>
            <a:r>
              <a:rPr lang="en-US"/>
              <a:t>  2,500,000, 000,000, 000,000</a:t>
            </a:r>
          </a:p>
          <a:p>
            <a:pPr marL="0" indent="0">
              <a:buNone/>
            </a:pPr>
            <a:r>
              <a:rPr lang="en-US"/>
              <a:t>  (2.5 quintillion)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This would fill 10 million blu-ray discs</a:t>
            </a:r>
          </a:p>
          <a:p>
            <a:pPr marL="0" indent="0">
              <a:buNone/>
            </a:pPr>
            <a:r>
              <a:rPr lang="en-US"/>
              <a:t>The height of which stacked, would measure the height of 4 Eiffel Towers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592" y="1371600"/>
            <a:ext cx="3673928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47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/>
              <a:t>Data volume (scale)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KHDL&amp;TTNT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8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2133600"/>
            <a:ext cx="9132570" cy="4667250"/>
          </a:xfrm>
        </p:spPr>
        <p:txBody>
          <a:bodyPr>
            <a:normAutofit/>
          </a:bodyPr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Data Volume</a:t>
            </a:r>
            <a:br>
              <a:rPr lang="en-US"/>
            </a:br>
            <a:r>
              <a:rPr lang="en-US"/>
              <a:t>+ 44 x increase from 2009 to 2020</a:t>
            </a:r>
            <a:br>
              <a:rPr lang="en-US"/>
            </a:br>
            <a:r>
              <a:rPr lang="en-US"/>
              <a:t>+ From 0.8 zettabytes to 35zb</a:t>
            </a:r>
          </a:p>
          <a:p>
            <a:r>
              <a:rPr lang="en-US"/>
              <a:t>Data volume is increasing exponentially.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865708"/>
            <a:ext cx="5257800" cy="260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468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900"/>
              <a:t>The social layer in an instrumented interconnected world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9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75" y="1386048"/>
            <a:ext cx="8239620" cy="547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489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 fontScale="90000"/>
          </a:bodyPr>
          <a:lstStyle/>
          <a:p>
            <a:r>
              <a:rPr lang="en-US"/>
              <a:t>The Large Hadron Collider (LHC) generates </a:t>
            </a:r>
            <a:r>
              <a:rPr lang="en-US" b="1"/>
              <a:t>30 Petabytes </a:t>
            </a:r>
            <a:r>
              <a:rPr lang="en-US"/>
              <a:t>a year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10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467810"/>
            <a:ext cx="8377844" cy="538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419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/>
              <a:t>The Earthscope project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11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pPr marL="0" indent="0">
              <a:buNone/>
            </a:pPr>
            <a:r>
              <a:rPr lang="en-US"/>
              <a:t>It is largest science project in the world.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+ Designed to track North America's</a:t>
            </a:r>
          </a:p>
          <a:p>
            <a:pPr marL="0" indent="0">
              <a:buNone/>
            </a:pPr>
            <a:r>
              <a:rPr lang="en-US"/>
              <a:t>Geological.</a:t>
            </a:r>
          </a:p>
          <a:p>
            <a:pPr marL="0" indent="0">
              <a:buNone/>
            </a:pPr>
            <a:r>
              <a:rPr lang="en-US"/>
              <a:t> + This observatory records data over</a:t>
            </a:r>
          </a:p>
          <a:p>
            <a:pPr marL="0" indent="0">
              <a:buNone/>
            </a:pPr>
            <a:r>
              <a:rPr lang="en-US"/>
              <a:t>3.8 million square miles, 67 terabytes of data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620" y="1456344"/>
            <a:ext cx="3046380" cy="366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630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900"/>
              <a:t>Other statistics of data growth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12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2133599"/>
            <a:ext cx="9132570" cy="4359275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/>
              <a:t>The New York Stock Exchange generates about 4-5 terabytes of data per day.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/>
              <a:t>Facebook hosts more than 240 billion photos, growing at 7</a:t>
            </a:r>
            <a:br>
              <a:rPr lang="en-US"/>
            </a:br>
            <a:r>
              <a:rPr lang="en-US"/>
              <a:t>petabytes per month.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/>
              <a:t>Ancestry.com, the genealogy site, stores around 10 petabytes of data.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/>
              <a:t>The Internet Archive stores around 18.5 petabytes of data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373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/>
              <a:t>Data complexity (Variety)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13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981200"/>
            <a:ext cx="9132570" cy="4511675"/>
          </a:xfrm>
        </p:spPr>
        <p:txBody>
          <a:bodyPr>
            <a:normAutofit/>
          </a:bodyPr>
          <a:lstStyle/>
          <a:p>
            <a:r>
              <a:rPr lang="en-US"/>
              <a:t>Various formats, types, and structures</a:t>
            </a:r>
          </a:p>
          <a:p>
            <a:r>
              <a:rPr lang="en-US"/>
              <a:t>Text, numerical, images, audio, video,</a:t>
            </a:r>
          </a:p>
          <a:p>
            <a:r>
              <a:rPr lang="en-US"/>
              <a:t>Sequences, time series, sensor data, user logs, social media data.</a:t>
            </a:r>
          </a:p>
          <a:p>
            <a:r>
              <a:rPr lang="en-US"/>
              <a:t> A single application can be generating/collecting many types of data.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To extract knowledge 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FF0000"/>
                </a:solidFill>
              </a:rPr>
              <a:t> all these types of data need to linked together</a:t>
            </a:r>
          </a:p>
        </p:txBody>
      </p:sp>
    </p:spTree>
    <p:extLst>
      <p:ext uri="{BB962C8B-B14F-4D97-AF65-F5344CB8AC3E}">
        <p14:creationId xmlns:p14="http://schemas.microsoft.com/office/powerpoint/2010/main" val="3717332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/>
              <a:t>A single view to the customer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14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189" y="1325117"/>
            <a:ext cx="7222191" cy="516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80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/>
              <a:t>Data speed (Velocity)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15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2209799"/>
            <a:ext cx="9132570" cy="4283075"/>
          </a:xfrm>
        </p:spPr>
        <p:txBody>
          <a:bodyPr>
            <a:normAutofit/>
          </a:bodyPr>
          <a:lstStyle/>
          <a:p>
            <a:r>
              <a:rPr lang="en-US"/>
              <a:t>Data is begin generated fast and need to be processed fast.</a:t>
            </a:r>
          </a:p>
          <a:p>
            <a:pPr marL="0" indent="0">
              <a:buNone/>
            </a:pPr>
            <a:r>
              <a:rPr lang="en-US"/>
              <a:t>   + Online Data Analytics</a:t>
            </a:r>
          </a:p>
          <a:p>
            <a:pPr marL="0" indent="0">
              <a:buNone/>
            </a:pPr>
            <a:r>
              <a:rPr lang="en-US"/>
              <a:t>   + Late decisions 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 missing opportunities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96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/>
              <a:t>Real-time/Fast data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16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38" y="1460499"/>
            <a:ext cx="3711990" cy="25270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536" y="1460498"/>
            <a:ext cx="3303463" cy="252700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24" y="4352633"/>
            <a:ext cx="4280484" cy="214024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3536" y="4202134"/>
            <a:ext cx="3607064" cy="229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4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/>
              <a:t>An overview of Big Data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17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2" y="1676400"/>
            <a:ext cx="9120538" cy="464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014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/>
              <a:t>Concept of “Big Data”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18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3200" dirty="0"/>
              <a:t>Big data is a term for data sets that are so large or complex that traditional data processing application software are inadequate to deal with them.</a:t>
            </a:r>
          </a:p>
        </p:txBody>
      </p:sp>
    </p:spTree>
    <p:extLst>
      <p:ext uri="{BB962C8B-B14F-4D97-AF65-F5344CB8AC3E}">
        <p14:creationId xmlns:p14="http://schemas.microsoft.com/office/powerpoint/2010/main" val="3814208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/>
          <a:lstStyle/>
          <a:p>
            <a:r>
              <a:rPr lang="en-US" dirty="0"/>
              <a:t>Characteristics of Big Data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19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What is Big Data? Definition &amp; Characteristics (The 5 V's)">
            <a:extLst>
              <a:ext uri="{FF2B5EF4-FFF2-40B4-BE49-F238E27FC236}">
                <a16:creationId xmlns:a16="http://schemas.microsoft.com/office/drawing/2014/main" id="{E6163D30-6297-47A2-8A90-E3BACC5E5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50" y="1887379"/>
            <a:ext cx="4629150" cy="4513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145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/>
          <a:lstStyle/>
          <a:p>
            <a:r>
              <a:rPr lang="en-US" dirty="0"/>
              <a:t>Characteristics of Big Data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20</a:t>
            </a:fld>
            <a:endParaRPr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1686591-0A9D-48BE-AFD5-F823A0F916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400" y="2004815"/>
            <a:ext cx="8915400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Volume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massive size and sheer quantity of data, often measured in terabytes, petabytes, or exabytes.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Velocity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high speed at which new data is created, collected, and streamed in real-time.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Variety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different types and formats of data, including structured tables, semi-structured files, and unstructured text, audio, or video.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Veracity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trustworthiness, quality, and accuracy of the collected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Value: </a:t>
            </a:r>
            <a:r>
              <a:rPr lang="en-US" sz="2400" dirty="0"/>
              <a:t>The practical business worth or actionable insights gained after analyzing the raw data.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53698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/>
              <a:t>Harnessing Big Data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21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2057399"/>
            <a:ext cx="9132570" cy="4435475"/>
          </a:xfrm>
        </p:spPr>
        <p:txBody>
          <a:bodyPr>
            <a:normAutofit fontScale="77500" lnSpcReduction="20000"/>
          </a:bodyPr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OLTP: Online Transaction Processing (DBMSs)</a:t>
            </a:r>
          </a:p>
          <a:p>
            <a:r>
              <a:rPr lang="en-US"/>
              <a:t>OLAP: Online Analytical Processing (Data Warehousing)</a:t>
            </a:r>
          </a:p>
          <a:p>
            <a:r>
              <a:rPr lang="en-US"/>
              <a:t>RTAP: Real-Time Analytics Processing (Big Data Architecture &amp;</a:t>
            </a:r>
            <a:br>
              <a:rPr lang="en-US"/>
            </a:br>
            <a:r>
              <a:rPr lang="en-US"/>
              <a:t>technology)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1371600"/>
            <a:ext cx="6096000" cy="355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90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/>
              <a:t>Who is generating Big Data?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22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752600"/>
            <a:ext cx="9132570" cy="4740275"/>
          </a:xfrm>
        </p:spPr>
        <p:txBody>
          <a:bodyPr/>
          <a:lstStyle/>
          <a:p>
            <a:r>
              <a:rPr lang="en-US" b="1"/>
              <a:t>Old model: </a:t>
            </a:r>
            <a:r>
              <a:rPr lang="en-US"/>
              <a:t>Few companies are generating data, all others are consuming data. </a:t>
            </a:r>
            <a:br>
              <a:rPr lang="en-US"/>
            </a:br>
            <a:endParaRPr lang="en-US"/>
          </a:p>
          <a:p>
            <a:endParaRPr lang="en-US"/>
          </a:p>
          <a:p>
            <a:endParaRPr lang="en-US"/>
          </a:p>
          <a:p>
            <a:r>
              <a:rPr lang="en-US" b="1"/>
              <a:t>New model: </a:t>
            </a:r>
            <a:r>
              <a:rPr lang="en-US"/>
              <a:t>All of us are generating data, and all of us are</a:t>
            </a:r>
            <a:br>
              <a:rPr lang="en-US"/>
            </a:br>
            <a:r>
              <a:rPr lang="en-US"/>
              <a:t>consuming data </a:t>
            </a:r>
            <a:br>
              <a:rPr lang="en-US"/>
            </a:b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639590"/>
            <a:ext cx="6516769" cy="14617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988284"/>
            <a:ext cx="6501529" cy="144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8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 fontScale="90000"/>
          </a:bodyPr>
          <a:lstStyle/>
          <a:p>
            <a:r>
              <a:rPr lang="en-US"/>
              <a:t>Challenges in handling Big Data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23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2057400"/>
            <a:ext cx="9132570" cy="443547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/>
              <a:t>New architecture, algorithms, techniques are needed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/>
              <a:t>Lack of experts in using the new technology and dealing with big data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/>
              <a:t>Efficiently storing and accessing large amounts of data is</a:t>
            </a:r>
            <a:br>
              <a:rPr lang="en-US"/>
            </a:br>
            <a:r>
              <a:rPr lang="en-US"/>
              <a:t>difficult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/>
              <a:t>Managing metadata for semi-structured and unstructured  data, generated by diverse sources, is a convoluted problem</a:t>
            </a:r>
          </a:p>
        </p:txBody>
      </p:sp>
    </p:spTree>
    <p:extLst>
      <p:ext uri="{BB962C8B-B14F-4D97-AF65-F5344CB8AC3E}">
        <p14:creationId xmlns:p14="http://schemas.microsoft.com/office/powerpoint/2010/main" val="3699705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/>
              <a:t>Techniques towards Big Data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24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Parallel</a:t>
            </a:r>
          </a:p>
          <a:p>
            <a:r>
              <a:rPr lang="en-US"/>
              <a:t>Huge Data Volumes Storage </a:t>
            </a:r>
          </a:p>
          <a:p>
            <a:r>
              <a:rPr lang="en-US"/>
              <a:t>Data Distribution</a:t>
            </a:r>
          </a:p>
          <a:p>
            <a:r>
              <a:rPr lang="en-US"/>
              <a:t>High-Speed Networks</a:t>
            </a:r>
          </a:p>
          <a:p>
            <a:r>
              <a:rPr lang="en-US"/>
              <a:t>High-Performance Computing</a:t>
            </a:r>
          </a:p>
          <a:p>
            <a:r>
              <a:rPr lang="en-US"/>
              <a:t>Task and Thread Management</a:t>
            </a:r>
          </a:p>
          <a:p>
            <a:r>
              <a:rPr lang="en-US"/>
              <a:t>Data Mining and Analytics</a:t>
            </a:r>
          </a:p>
          <a:p>
            <a:r>
              <a:rPr lang="en-US"/>
              <a:t>Machine Learning</a:t>
            </a:r>
          </a:p>
          <a:p>
            <a:r>
              <a:rPr lang="en-US"/>
              <a:t>Data Visualization </a:t>
            </a:r>
          </a:p>
        </p:txBody>
      </p:sp>
    </p:spTree>
    <p:extLst>
      <p:ext uri="{BB962C8B-B14F-4D97-AF65-F5344CB8AC3E}">
        <p14:creationId xmlns:p14="http://schemas.microsoft.com/office/powerpoint/2010/main" val="2934906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/>
              <a:t>Big Data platform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BM KHMT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25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Technologies applied to Big Data should include </a:t>
            </a:r>
            <a:br>
              <a:rPr lang="en-US"/>
            </a:b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514599"/>
            <a:ext cx="8610600" cy="389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34080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cdb2004108l</Template>
  <TotalTime>13628</TotalTime>
  <Words>960</Words>
  <Application>Microsoft Office PowerPoint</Application>
  <PresentationFormat>On-screen Show (4:3)</PresentationFormat>
  <Paragraphs>191</Paragraphs>
  <Slides>25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Georgia</vt:lpstr>
      <vt:lpstr>Times New Roman</vt:lpstr>
      <vt:lpstr>Verdana</vt:lpstr>
      <vt:lpstr>Custom Design</vt:lpstr>
      <vt:lpstr>1_Custom Design</vt:lpstr>
      <vt:lpstr>NHẬP MÔN BIG DATA</vt:lpstr>
      <vt:lpstr>NỘI DUNG MÔN HỌC</vt:lpstr>
      <vt:lpstr>TÀI LIỆU THAM KHẢO</vt:lpstr>
      <vt:lpstr>Đánh giá môn học</vt:lpstr>
      <vt:lpstr>Binary Digit</vt:lpstr>
      <vt:lpstr>The current state of data </vt:lpstr>
      <vt:lpstr>The growth of data </vt:lpstr>
      <vt:lpstr>Data volume (scale)</vt:lpstr>
      <vt:lpstr>The social layer in an instrumented interconnected world</vt:lpstr>
      <vt:lpstr>The Large Hadron Collider (LHC) generates 30 Petabytes a year </vt:lpstr>
      <vt:lpstr>The Earthscope project </vt:lpstr>
      <vt:lpstr>Other statistics of data growth </vt:lpstr>
      <vt:lpstr>Data complexity (Variety) </vt:lpstr>
      <vt:lpstr>A single view to the customer </vt:lpstr>
      <vt:lpstr>Data speed (Velocity)</vt:lpstr>
      <vt:lpstr>Real-time/Fast data </vt:lpstr>
      <vt:lpstr>An overview of Big Data</vt:lpstr>
      <vt:lpstr>Concept of “Big Data”</vt:lpstr>
      <vt:lpstr>Characteristics of Big Data </vt:lpstr>
      <vt:lpstr>Characteristics of Big Data </vt:lpstr>
      <vt:lpstr>Harnessing Big Data</vt:lpstr>
      <vt:lpstr>Who is generating Big Data?</vt:lpstr>
      <vt:lpstr>Challenges in handling Big Data</vt:lpstr>
      <vt:lpstr>Techniques towards Big Data </vt:lpstr>
      <vt:lpstr>Big Data platform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CẤU TRÚC DỮ LIỆU VÀ GIẢI THUẬT</dc:title>
  <dc:creator>Sony</dc:creator>
  <cp:lastModifiedBy>HP</cp:lastModifiedBy>
  <cp:revision>193</cp:revision>
  <cp:lastPrinted>2024-08-22T02:09:11Z</cp:lastPrinted>
  <dcterms:created xsi:type="dcterms:W3CDTF">2011-02-16T03:20:26Z</dcterms:created>
  <dcterms:modified xsi:type="dcterms:W3CDTF">2026-08-02T08:45:04Z</dcterms:modified>
</cp:coreProperties>
</file>