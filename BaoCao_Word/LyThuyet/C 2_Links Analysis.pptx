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72"/>
  </p:notesMasterIdLst>
  <p:handoutMasterIdLst>
    <p:handoutMasterId r:id="rId73"/>
  </p:handoutMasterIdLst>
  <p:sldIdLst>
    <p:sldId id="349" r:id="rId2"/>
    <p:sldId id="331" r:id="rId3"/>
    <p:sldId id="332" r:id="rId4"/>
    <p:sldId id="333" r:id="rId5"/>
    <p:sldId id="334" r:id="rId6"/>
    <p:sldId id="265" r:id="rId7"/>
    <p:sldId id="259" r:id="rId8"/>
    <p:sldId id="266" r:id="rId9"/>
    <p:sldId id="262" r:id="rId10"/>
    <p:sldId id="267" r:id="rId11"/>
    <p:sldId id="335" r:id="rId12"/>
    <p:sldId id="261" r:id="rId13"/>
    <p:sldId id="268" r:id="rId14"/>
    <p:sldId id="336" r:id="rId15"/>
    <p:sldId id="337" r:id="rId16"/>
    <p:sldId id="302" r:id="rId17"/>
    <p:sldId id="329" r:id="rId18"/>
    <p:sldId id="303" r:id="rId19"/>
    <p:sldId id="269" r:id="rId20"/>
    <p:sldId id="338" r:id="rId21"/>
    <p:sldId id="270" r:id="rId22"/>
    <p:sldId id="271" r:id="rId23"/>
    <p:sldId id="274" r:id="rId24"/>
    <p:sldId id="275" r:id="rId25"/>
    <p:sldId id="283" r:id="rId26"/>
    <p:sldId id="284" r:id="rId27"/>
    <p:sldId id="287" r:id="rId28"/>
    <p:sldId id="288" r:id="rId29"/>
    <p:sldId id="289" r:id="rId30"/>
    <p:sldId id="290" r:id="rId31"/>
    <p:sldId id="291" r:id="rId32"/>
    <p:sldId id="292" r:id="rId33"/>
    <p:sldId id="293" r:id="rId34"/>
    <p:sldId id="308" r:id="rId35"/>
    <p:sldId id="309" r:id="rId36"/>
    <p:sldId id="310" r:id="rId37"/>
    <p:sldId id="311" r:id="rId38"/>
    <p:sldId id="313" r:id="rId39"/>
    <p:sldId id="315" r:id="rId40"/>
    <p:sldId id="316" r:id="rId41"/>
    <p:sldId id="322" r:id="rId42"/>
    <p:sldId id="318" r:id="rId43"/>
    <p:sldId id="319" r:id="rId44"/>
    <p:sldId id="317" r:id="rId45"/>
    <p:sldId id="314" r:id="rId46"/>
    <p:sldId id="323" r:id="rId47"/>
    <p:sldId id="351" r:id="rId48"/>
    <p:sldId id="352" r:id="rId49"/>
    <p:sldId id="339" r:id="rId50"/>
    <p:sldId id="340" r:id="rId51"/>
    <p:sldId id="346" r:id="rId52"/>
    <p:sldId id="324" r:id="rId53"/>
    <p:sldId id="325" r:id="rId54"/>
    <p:sldId id="361" r:id="rId55"/>
    <p:sldId id="359" r:id="rId56"/>
    <p:sldId id="327" r:id="rId57"/>
    <p:sldId id="360" r:id="rId58"/>
    <p:sldId id="362" r:id="rId59"/>
    <p:sldId id="294" r:id="rId60"/>
    <p:sldId id="282" r:id="rId61"/>
    <p:sldId id="353" r:id="rId62"/>
    <p:sldId id="354" r:id="rId63"/>
    <p:sldId id="298" r:id="rId64"/>
    <p:sldId id="363" r:id="rId65"/>
    <p:sldId id="364" r:id="rId66"/>
    <p:sldId id="348" r:id="rId67"/>
    <p:sldId id="355" r:id="rId68"/>
    <p:sldId id="356" r:id="rId69"/>
    <p:sldId id="358" r:id="rId70"/>
    <p:sldId id="365" r:id="rId71"/>
  </p:sldIdLst>
  <p:sldSz cx="12192000" cy="6858000"/>
  <p:notesSz cx="7315200" cy="96012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436" autoAdjust="0"/>
    <p:restoredTop sz="78532" autoAdjust="0"/>
  </p:normalViewPr>
  <p:slideViewPr>
    <p:cSldViewPr snapToGrid="0">
      <p:cViewPr varScale="1">
        <p:scale>
          <a:sx n="59" d="100"/>
          <a:sy n="59" d="100"/>
        </p:scale>
        <p:origin x="102" y="3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76" Type="http://schemas.openxmlformats.org/officeDocument/2006/relationships/theme" Target="theme/theme1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61" Type="http://schemas.openxmlformats.org/officeDocument/2006/relationships/slide" Target="slides/slide60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70238" cy="4810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143375" y="0"/>
            <a:ext cx="3170238" cy="4810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2BCF54-3610-4838-86BC-39FB3DF7F968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120188"/>
            <a:ext cx="3170238" cy="4810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143375" y="9120188"/>
            <a:ext cx="3170238" cy="4810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3199CE4-0864-49EC-9A6E-1506F898E9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374006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69920" cy="481727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587" y="0"/>
            <a:ext cx="3169920" cy="481727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r">
              <a:defRPr sz="1300"/>
            </a:lvl1pPr>
          </a:lstStyle>
          <a:p>
            <a:fld id="{AF68049D-4504-49AC-AFE1-0588A8CAEE44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77875" y="1200150"/>
            <a:ext cx="5759450" cy="32400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61" tIns="48331" rIns="96661" bIns="48331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520" y="4620577"/>
            <a:ext cx="5852160" cy="3780473"/>
          </a:xfrm>
          <a:prstGeom prst="rect">
            <a:avLst/>
          </a:prstGeom>
        </p:spPr>
        <p:txBody>
          <a:bodyPr vert="horz" lIns="96661" tIns="48331" rIns="96661" bIns="48331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119474"/>
            <a:ext cx="3169920" cy="481726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587" y="9119474"/>
            <a:ext cx="3169920" cy="481726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r">
              <a:defRPr sz="1300"/>
            </a:lvl1pPr>
          </a:lstStyle>
          <a:p>
            <a:fld id="{89590054-2D43-4F37-B358-E1E7575B89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42340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590054-2D43-4F37-B358-E1E7575B8944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089241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590054-2D43-4F37-B358-E1E7575B8944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417211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590054-2D43-4F37-B358-E1E7575B8944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659099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590054-2D43-4F37-B358-E1E7575B8944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207109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590054-2D43-4F37-B358-E1E7575B8944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10412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590054-2D43-4F37-B358-E1E7575B8944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244300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590054-2D43-4F37-B358-E1E7575B8944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754612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590054-2D43-4F37-B358-E1E7575B8944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257994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590054-2D43-4F37-B358-E1E7575B8944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916001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590054-2D43-4F37-B358-E1E7575B8944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310707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590054-2D43-4F37-B358-E1E7575B8944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197932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590054-2D43-4F37-B358-E1E7575B8944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67098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590054-2D43-4F37-B358-E1E7575B8944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075075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590054-2D43-4F37-B358-E1E7575B8944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515545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590054-2D43-4F37-B358-E1E7575B8944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150571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590054-2D43-4F37-B358-E1E7575B8944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06259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590054-2D43-4F37-B358-E1E7575B8944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812417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590054-2D43-4F37-B358-E1E7575B8944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175133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590054-2D43-4F37-B358-E1E7575B8944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812930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590054-2D43-4F37-B358-E1E7575B8944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956058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590054-2D43-4F37-B358-E1E7575B8944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188908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590054-2D43-4F37-B358-E1E7575B8944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686652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590054-2D43-4F37-B358-E1E7575B8944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599699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590054-2D43-4F37-B358-E1E7575B8944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8956523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590054-2D43-4F37-B358-E1E7575B8944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990530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590054-2D43-4F37-B358-E1E7575B8944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3645278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590054-2D43-4F37-B358-E1E7575B8944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33356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590054-2D43-4F37-B358-E1E7575B8944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9990977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590054-2D43-4F37-B358-E1E7575B8944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5947517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590054-2D43-4F37-B358-E1E7575B8944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767570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590054-2D43-4F37-B358-E1E7575B8944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41955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590054-2D43-4F37-B358-E1E7575B8944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9404355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590054-2D43-4F37-B358-E1E7575B8944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620203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590054-2D43-4F37-B358-E1E7575B8944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1675457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590054-2D43-4F37-B358-E1E7575B8944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620914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590054-2D43-4F37-B358-E1E7575B8944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9105333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590054-2D43-4F37-B358-E1E7575B8944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681293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590054-2D43-4F37-B358-E1E7575B8944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8586253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590054-2D43-4F37-B358-E1E7575B8944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6548626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590054-2D43-4F37-B358-E1E7575B8944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74826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590054-2D43-4F37-B358-E1E7575B8944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392460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590054-2D43-4F37-B358-E1E7575B8944}" type="slidenum">
              <a:rPr lang="en-US" smtClean="0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2435374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590054-2D43-4F37-B358-E1E7575B8944}" type="slidenum">
              <a:rPr lang="en-US" smtClean="0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8640537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590054-2D43-4F37-B358-E1E7575B8944}" type="slidenum">
              <a:rPr lang="en-US" smtClean="0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8774765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590054-2D43-4F37-B358-E1E7575B8944}" type="slidenum">
              <a:rPr lang="en-US" smtClean="0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48775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590054-2D43-4F37-B358-E1E7575B8944}" type="slidenum">
              <a:rPr lang="en-US" smtClean="0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8872810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590054-2D43-4F37-B358-E1E7575B8944}" type="slidenum">
              <a:rPr lang="en-US" smtClean="0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2134579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590054-2D43-4F37-B358-E1E7575B8944}" type="slidenum">
              <a:rPr lang="en-US" smtClean="0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6079136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590054-2D43-4F37-B358-E1E7575B8944}" type="slidenum">
              <a:rPr lang="en-US" smtClean="0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2712746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590054-2D43-4F37-B358-E1E7575B8944}" type="slidenum">
              <a:rPr lang="en-US" smtClean="0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5527676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590054-2D43-4F37-B358-E1E7575B8944}" type="slidenum">
              <a:rPr lang="en-US" smtClean="0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8997988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590054-2D43-4F37-B358-E1E7575B8944}" type="slidenum">
              <a:rPr lang="en-US" smtClean="0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060445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590054-2D43-4F37-B358-E1E7575B8944}" type="slidenum">
              <a:rPr lang="en-US" smtClean="0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451017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590054-2D43-4F37-B358-E1E7575B8944}" type="slidenum">
              <a:rPr lang="en-US" smtClean="0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9662972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590054-2D43-4F37-B358-E1E7575B8944}" type="slidenum">
              <a:rPr lang="en-US" smtClean="0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9508339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590054-2D43-4F37-B358-E1E7575B8944}" type="slidenum">
              <a:rPr lang="en-US" smtClean="0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2021805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590054-2D43-4F37-B358-E1E7575B8944}" type="slidenum">
              <a:rPr lang="en-US" smtClean="0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1921199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590054-2D43-4F37-B358-E1E7575B8944}" type="slidenum">
              <a:rPr lang="en-US" smtClean="0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1386458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590054-2D43-4F37-B358-E1E7575B8944}" type="slidenum">
              <a:rPr lang="en-US" smtClean="0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019747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590054-2D43-4F37-B358-E1E7575B8944}" type="slidenum">
              <a:rPr lang="en-US" smtClean="0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7619145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590054-2D43-4F37-B358-E1E7575B8944}" type="slidenum">
              <a:rPr lang="en-US" smtClean="0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4008394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590054-2D43-4F37-B358-E1E7575B8944}" type="slidenum">
              <a:rPr lang="en-US" smtClean="0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4038297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590054-2D43-4F37-B358-E1E7575B8944}" type="slidenum">
              <a:rPr lang="en-US" smtClean="0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4368922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590054-2D43-4F37-B358-E1E7575B8944}" type="slidenum">
              <a:rPr lang="en-US" smtClean="0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88031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9" descr="Light horizontal"/>
          <p:cNvSpPr>
            <a:spLocks noChangeArrowheads="1"/>
          </p:cNvSpPr>
          <p:nvPr/>
        </p:nvSpPr>
        <p:spPr bwMode="gray">
          <a:xfrm>
            <a:off x="12700" y="9526"/>
            <a:ext cx="1964267" cy="6848475"/>
          </a:xfrm>
          <a:prstGeom prst="rect">
            <a:avLst/>
          </a:prstGeom>
          <a:pattFill prst="ltHorz">
            <a:fgClr>
              <a:schemeClr val="bg2"/>
            </a:fgClr>
            <a:bgClr>
              <a:schemeClr val="bg1"/>
            </a:bgClr>
          </a:pattFill>
          <a:ln>
            <a:noFill/>
          </a:ln>
          <a:effectLst/>
          <a:extLst>
            <a:ext uri="{91240B29-F687-4F45-9708-019B960494DF}">
              <a14:hiddenLine xmlns:a14="http://schemas.microsoft.com/office/drawing/2010/main" w="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endParaRPr lang="en-US" sz="1800"/>
          </a:p>
        </p:txBody>
      </p:sp>
      <p:sp>
        <p:nvSpPr>
          <p:cNvPr id="5" name="Rectangle 10"/>
          <p:cNvSpPr>
            <a:spLocks noChangeArrowheads="1"/>
          </p:cNvSpPr>
          <p:nvPr/>
        </p:nvSpPr>
        <p:spPr bwMode="invGray">
          <a:xfrm>
            <a:off x="-12699" y="1689101"/>
            <a:ext cx="12204700" cy="1266825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endParaRPr lang="en-US" sz="1800"/>
          </a:p>
        </p:txBody>
      </p:sp>
      <p:sp>
        <p:nvSpPr>
          <p:cNvPr id="6" name="AutoShape 11"/>
          <p:cNvSpPr>
            <a:spLocks noChangeArrowheads="1"/>
          </p:cNvSpPr>
          <p:nvPr/>
        </p:nvSpPr>
        <p:spPr bwMode="ltGray">
          <a:xfrm>
            <a:off x="1981200" y="1301750"/>
            <a:ext cx="9516533" cy="533400"/>
          </a:xfrm>
          <a:prstGeom prst="roundRect">
            <a:avLst>
              <a:gd name="adj" fmla="val 16667"/>
            </a:avLst>
          </a:prstGeom>
          <a:solidFill>
            <a:schemeClr val="tx1"/>
          </a:solidFill>
          <a:ln w="28575" algn="ctr">
            <a:solidFill>
              <a:schemeClr val="bg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endParaRPr lang="en-US" sz="1800"/>
          </a:p>
        </p:txBody>
      </p:sp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2006600" y="1581941"/>
            <a:ext cx="9652000" cy="1012825"/>
          </a:xfrm>
        </p:spPr>
        <p:txBody>
          <a:bodyPr/>
          <a:lstStyle>
            <a:lvl1pPr algn="l">
              <a:defRPr sz="4400" b="1"/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 bwMode="white">
          <a:xfrm>
            <a:off x="1979063" y="2156412"/>
            <a:ext cx="9448800" cy="381000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 sz="2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Click to edit Master subtitle style</a:t>
            </a:r>
          </a:p>
        </p:txBody>
      </p:sp>
      <p:sp>
        <p:nvSpPr>
          <p:cNvPr id="8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477001"/>
            <a:ext cx="2844800" cy="244475"/>
          </a:xfrm>
        </p:spPr>
        <p:txBody>
          <a:bodyPr/>
          <a:lstStyle>
            <a:lvl1pPr>
              <a:defRPr sz="1200"/>
            </a:lvl1pPr>
          </a:lstStyle>
          <a:p>
            <a:fld id="{D845F1A4-5C35-4D16-90C4-71D565C846D9}" type="datetime1">
              <a:rPr lang="en-US" smtClean="0"/>
              <a:t>8/3/2026</a:t>
            </a:fld>
            <a:endParaRPr lang="en-US"/>
          </a:p>
        </p:txBody>
      </p:sp>
      <p:sp>
        <p:nvSpPr>
          <p:cNvPr id="9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477001"/>
            <a:ext cx="3860800" cy="244475"/>
          </a:xfrm>
        </p:spPr>
        <p:txBody>
          <a:bodyPr/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10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37600" y="6477001"/>
            <a:ext cx="2844800" cy="244475"/>
          </a:xfrm>
        </p:spPr>
        <p:txBody>
          <a:bodyPr/>
          <a:lstStyle>
            <a:lvl1pPr>
              <a:defRPr sz="1200"/>
            </a:lvl1pPr>
          </a:lstStyle>
          <a:p>
            <a:fld id="{4D33C12F-D11B-4AA4-9103-DF348809565A}" type="slidenum">
              <a:rPr lang="en-US" smtClean="0"/>
              <a:t>‹#›</a:t>
            </a:fld>
            <a:endParaRPr lang="en-US"/>
          </a:p>
        </p:txBody>
      </p:sp>
      <p:pic>
        <p:nvPicPr>
          <p:cNvPr id="2" name="Picture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7537" y="1689101"/>
            <a:ext cx="1235662" cy="12356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94729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980205F-E4D6-4104-93DA-1C6E596C0FE5}" type="datetime1">
              <a:rPr lang="en-US" smtClean="0"/>
              <a:t>8/3/2026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D33C12F-D11B-4AA4-9103-DF34880956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43226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>
            <a:spLocks noChangeArrowheads="1"/>
          </p:cNvSpPr>
          <p:nvPr/>
        </p:nvSpPr>
        <p:spPr bwMode="invGray">
          <a:xfrm>
            <a:off x="-12699" y="2536826"/>
            <a:ext cx="12204700" cy="1266825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endParaRPr lang="en-US" sz="1800"/>
          </a:p>
        </p:txBody>
      </p:sp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2006600" y="2430084"/>
            <a:ext cx="9652000" cy="1012825"/>
          </a:xfrm>
        </p:spPr>
        <p:txBody>
          <a:bodyPr/>
          <a:lstStyle>
            <a:lvl1pPr algn="l">
              <a:defRPr sz="4400" b="1"/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 bwMode="white">
          <a:xfrm>
            <a:off x="1979063" y="3004555"/>
            <a:ext cx="9448800" cy="381000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 sz="2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Click to edit Master subtitle style</a:t>
            </a:r>
          </a:p>
        </p:txBody>
      </p:sp>
      <p:sp>
        <p:nvSpPr>
          <p:cNvPr id="5" name="Date Placeholder 4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477001"/>
            <a:ext cx="2844800" cy="244475"/>
          </a:xfrm>
        </p:spPr>
        <p:txBody>
          <a:bodyPr/>
          <a:lstStyle>
            <a:lvl1pPr>
              <a:defRPr sz="1200"/>
            </a:lvl1pPr>
          </a:lstStyle>
          <a:p>
            <a:fld id="{8F68060A-56D7-4192-B9C9-5D9091B4D3EE}" type="datetime1">
              <a:rPr lang="en-US" smtClean="0"/>
              <a:t>8/3/2026</a:t>
            </a:fld>
            <a:endParaRPr lang="en-US"/>
          </a:p>
        </p:txBody>
      </p:sp>
      <p:sp>
        <p:nvSpPr>
          <p:cNvPr id="6" name="Footer Placeholder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477001"/>
            <a:ext cx="3860800" cy="244475"/>
          </a:xfrm>
        </p:spPr>
        <p:txBody>
          <a:bodyPr/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37600" y="6477001"/>
            <a:ext cx="2844800" cy="244475"/>
          </a:xfrm>
        </p:spPr>
        <p:txBody>
          <a:bodyPr/>
          <a:lstStyle>
            <a:lvl1pPr>
              <a:defRPr sz="1200"/>
            </a:lvl1pPr>
          </a:lstStyle>
          <a:p>
            <a:fld id="{4D33C12F-D11B-4AA4-9103-DF34880956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89991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39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19A4EDA-FC5B-46FF-AFDC-9AFDA48B1FAE}" type="datetime1">
              <a:rPr lang="en-US" smtClean="0"/>
              <a:t>8/3/2026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D33C12F-D11B-4AA4-9103-DF34880956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29186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076325"/>
            <a:ext cx="5384800" cy="524827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076325"/>
            <a:ext cx="5384800" cy="524827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C2C6331-7233-4447-BEF8-043E47F3F0FC}" type="datetime1">
              <a:rPr lang="en-US" smtClean="0"/>
              <a:t>8/3/2026</a:t>
            </a:fld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D33C12F-D11B-4AA4-9103-DF34880956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50295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365126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0318" y="1681163"/>
            <a:ext cx="515831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0318" y="2505075"/>
            <a:ext cx="5158316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E437AB7-F0C0-4936-9F2B-B70573CD5E15}" type="datetime1">
              <a:rPr lang="en-US" smtClean="0"/>
              <a:t>8/3/2026</a:t>
            </a:fld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D33C12F-D11B-4AA4-9103-DF34880956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39191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87CAE3A-50F1-487A-95A4-F14E80B90285}" type="datetime1">
              <a:rPr lang="en-US" smtClean="0"/>
              <a:t>8/3/2026</a:t>
            </a:fld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D33C12F-D11B-4AA4-9103-DF34880956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08546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D1B3B67-2810-4BC2-AEF5-DB004434CB33}" type="datetime1">
              <a:rPr lang="en-US" smtClean="0"/>
              <a:t>8/3/2026</a:t>
            </a:fld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D33C12F-D11B-4AA4-9103-DF34880956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91860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C90BDB2-51E8-4553-913E-048CE876E98C}" type="datetime1">
              <a:rPr lang="en-US" smtClean="0"/>
              <a:t>8/3/2026</a:t>
            </a:fld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D33C12F-D11B-4AA4-9103-DF34880956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35629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4CA7B48-F9CE-41A7-8B8C-6778B08D2CB0}" type="datetime1">
              <a:rPr lang="en-US" smtClean="0"/>
              <a:t>8/3/2026</a:t>
            </a:fld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D33C12F-D11B-4AA4-9103-DF34880956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57685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0BDA503-BCE1-4E20-81BB-8189DB97696C}" type="datetime1">
              <a:rPr lang="en-US" smtClean="0"/>
              <a:t>8/3/2026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D33C12F-D11B-4AA4-9103-DF34880956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617538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319088"/>
            <a:ext cx="2743200" cy="6005512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319088"/>
            <a:ext cx="8026400" cy="6005512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29FBA49-CFEF-4ECD-B3F5-FF078468AD90}" type="datetime1">
              <a:rPr lang="en-US" smtClean="0"/>
              <a:t>8/3/2026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D33C12F-D11B-4AA4-9103-DF34880956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835665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319088"/>
            <a:ext cx="9855200" cy="56356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609600" y="1076325"/>
            <a:ext cx="10972800" cy="5248275"/>
          </a:xfrm>
        </p:spPr>
        <p:txBody>
          <a:bodyPr/>
          <a:lstStyle/>
          <a:p>
            <a:pPr lvl="0"/>
            <a:r>
              <a:rPr lang="en-US" noProof="0"/>
              <a:t>Click icon to add table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7516A27-6A1F-426D-9AFA-C8D9898E1812}" type="datetime1">
              <a:rPr lang="en-US" smtClean="0"/>
              <a:t>8/3/2026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D33C12F-D11B-4AA4-9103-DF34880956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66304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7" descr="Light horizontal"/>
          <p:cNvSpPr>
            <a:spLocks noChangeArrowheads="1"/>
          </p:cNvSpPr>
          <p:nvPr/>
        </p:nvSpPr>
        <p:spPr bwMode="gray">
          <a:xfrm>
            <a:off x="-12700" y="0"/>
            <a:ext cx="641351" cy="6858000"/>
          </a:xfrm>
          <a:prstGeom prst="rect">
            <a:avLst/>
          </a:prstGeom>
          <a:pattFill prst="ltHorz">
            <a:fgClr>
              <a:schemeClr val="bg2"/>
            </a:fgClr>
            <a:bgClr>
              <a:schemeClr val="bg1"/>
            </a:bgClr>
          </a:pattFill>
          <a:ln>
            <a:noFill/>
          </a:ln>
          <a:effectLst/>
          <a:extLst>
            <a:ext uri="{91240B29-F687-4F45-9708-019B960494DF}">
              <a14:hiddenLine xmlns:a14="http://schemas.microsoft.com/office/drawing/2010/main" w="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endParaRPr lang="en-US" sz="1800"/>
          </a:p>
        </p:txBody>
      </p:sp>
      <p:sp>
        <p:nvSpPr>
          <p:cNvPr id="1027" name="Rectangle 8"/>
          <p:cNvSpPr>
            <a:spLocks noChangeArrowheads="1"/>
          </p:cNvSpPr>
          <p:nvPr/>
        </p:nvSpPr>
        <p:spPr bwMode="gray">
          <a:xfrm>
            <a:off x="1" y="0"/>
            <a:ext cx="12204700" cy="685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defRPr/>
            </a:pPr>
            <a:endParaRPr lang="en-US" sz="1800"/>
          </a:p>
        </p:txBody>
      </p:sp>
      <p:sp>
        <p:nvSpPr>
          <p:cNvPr id="1028" name="AutoShape 9"/>
          <p:cNvSpPr>
            <a:spLocks noChangeArrowheads="1"/>
          </p:cNvSpPr>
          <p:nvPr/>
        </p:nvSpPr>
        <p:spPr bwMode="ltGray">
          <a:xfrm>
            <a:off x="406400" y="288926"/>
            <a:ext cx="10227733" cy="644525"/>
          </a:xfrm>
          <a:prstGeom prst="roundRect">
            <a:avLst>
              <a:gd name="adj" fmla="val 16667"/>
            </a:avLst>
          </a:prstGeom>
          <a:solidFill>
            <a:schemeClr val="tx1"/>
          </a:solidFill>
          <a:ln w="28575" algn="ctr">
            <a:solidFill>
              <a:schemeClr val="bg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endParaRPr lang="en-US" sz="1800"/>
          </a:p>
        </p:txBody>
      </p:sp>
      <p:sp>
        <p:nvSpPr>
          <p:cNvPr id="102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076325"/>
            <a:ext cx="10972800" cy="5248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2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400801"/>
            <a:ext cx="2844800" cy="320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>
                <a:latin typeface="Arial" pitchFamily="34" charset="0"/>
              </a:defRPr>
            </a:lvl1pPr>
          </a:lstStyle>
          <a:p>
            <a:fld id="{CF7197D2-6EB7-4EAC-9B67-4EFC9F701136}" type="datetime1">
              <a:rPr lang="en-US" smtClean="0"/>
              <a:t>8/3/2026</a:t>
            </a:fld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400801"/>
            <a:ext cx="3860800" cy="320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>
                <a:latin typeface="Arial" pitchFamily="34" charset="0"/>
              </a:defRPr>
            </a:lvl1pPr>
          </a:lstStyle>
          <a:p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9211733" y="6467476"/>
            <a:ext cx="2844800" cy="320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800">
                <a:latin typeface="Arial" pitchFamily="34" charset="0"/>
              </a:defRPr>
            </a:lvl1pPr>
          </a:lstStyle>
          <a:p>
            <a:fld id="{4D33C12F-D11B-4AA4-9103-DF348809565A}" type="slidenum">
              <a:rPr lang="en-US" smtClean="0"/>
              <a:t>‹#›</a:t>
            </a:fld>
            <a:endParaRPr lang="en-US"/>
          </a:p>
        </p:txBody>
      </p:sp>
      <p:sp>
        <p:nvSpPr>
          <p:cNvPr id="1033" name="Rectangle 2"/>
          <p:cNvSpPr>
            <a:spLocks noGrp="1" noChangeArrowheads="1"/>
          </p:cNvSpPr>
          <p:nvPr>
            <p:ph type="title"/>
          </p:nvPr>
        </p:nvSpPr>
        <p:spPr bwMode="white">
          <a:xfrm>
            <a:off x="609600" y="319088"/>
            <a:ext cx="9855200" cy="5635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37333" y="0"/>
            <a:ext cx="1093287" cy="10932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29263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hf hdr="0" ft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3600" kern="1200">
          <a:solidFill>
            <a:schemeClr val="bg1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panose="020B0604020202020204" pitchFamily="34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panose="020B0604020202020204" pitchFamily="34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panose="020B0604020202020204" pitchFamily="34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panose="020B0604020202020204" pitchFamily="34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panose="020B0604020202020204" pitchFamily="34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panose="020B0604020202020204" pitchFamily="34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panose="020B0604020202020204" pitchFamily="34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panose="020B0604020202020204" pitchFamily="34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chemeClr val="hlink"/>
        </a:buClr>
        <a:buFont typeface="Wingdings" panose="05000000000000000000" pitchFamily="2" charset="2"/>
        <a:buChar char="v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Font typeface="Wingdings" panose="05000000000000000000" pitchFamily="2" charset="2"/>
        <a:buChar char="§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4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0.png"/><Relationship Id="rId13" Type="http://schemas.openxmlformats.org/officeDocument/2006/relationships/image" Target="../media/image39.png"/><Relationship Id="rId3" Type="http://schemas.openxmlformats.org/officeDocument/2006/relationships/image" Target="../media/image44.png"/><Relationship Id="rId7" Type="http://schemas.openxmlformats.org/officeDocument/2006/relationships/image" Target="../media/image430.png"/><Relationship Id="rId12" Type="http://schemas.openxmlformats.org/officeDocument/2006/relationships/image" Target="../media/image38.png"/><Relationship Id="rId2" Type="http://schemas.openxmlformats.org/officeDocument/2006/relationships/notesSlide" Target="../notesSlides/notesSlide40.xml"/><Relationship Id="rId16" Type="http://schemas.openxmlformats.org/officeDocument/2006/relationships/image" Target="../media/image37.png"/><Relationship Id="rId1" Type="http://schemas.openxmlformats.org/officeDocument/2006/relationships/slideLayout" Target="../slideLayouts/slideLayout2.xml"/><Relationship Id="rId11" Type="http://schemas.openxmlformats.org/officeDocument/2006/relationships/image" Target="../media/image47.png"/><Relationship Id="rId5" Type="http://schemas.openxmlformats.org/officeDocument/2006/relationships/image" Target="../media/image36.png"/><Relationship Id="rId15" Type="http://schemas.openxmlformats.org/officeDocument/2006/relationships/image" Target="../media/image40.png"/><Relationship Id="rId10" Type="http://schemas.openxmlformats.org/officeDocument/2006/relationships/image" Target="../media/image46.png"/><Relationship Id="rId4" Type="http://schemas.openxmlformats.org/officeDocument/2006/relationships/image" Target="../media/image35.png"/><Relationship Id="rId9" Type="http://schemas.openxmlformats.org/officeDocument/2006/relationships/image" Target="../media/image45.png"/><Relationship Id="rId14" Type="http://schemas.openxmlformats.org/officeDocument/2006/relationships/image" Target="../media/image31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6.png"/><Relationship Id="rId3" Type="http://schemas.openxmlformats.org/officeDocument/2006/relationships/image" Target="../media/image31.png"/><Relationship Id="rId7" Type="http://schemas.openxmlformats.org/officeDocument/2006/relationships/image" Target="../media/image55.png"/><Relationship Id="rId12" Type="http://schemas.openxmlformats.org/officeDocument/2006/relationships/image" Target="../media/image48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4.png"/><Relationship Id="rId11" Type="http://schemas.openxmlformats.org/officeDocument/2006/relationships/image" Target="../media/image43.png"/><Relationship Id="rId5" Type="http://schemas.openxmlformats.org/officeDocument/2006/relationships/image" Target="../media/image530.png"/><Relationship Id="rId10" Type="http://schemas.openxmlformats.org/officeDocument/2006/relationships/image" Target="../media/image42.png"/><Relationship Id="rId4" Type="http://schemas.openxmlformats.org/officeDocument/2006/relationships/image" Target="../media/image520.png"/><Relationship Id="rId9" Type="http://schemas.openxmlformats.org/officeDocument/2006/relationships/image" Target="../media/image57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1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3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5.png"/><Relationship Id="rId5" Type="http://schemas.openxmlformats.org/officeDocument/2006/relationships/image" Target="../media/image64.png"/><Relationship Id="rId4" Type="http://schemas.openxmlformats.org/officeDocument/2006/relationships/image" Target="../media/image63.png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9.png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006601" y="1815857"/>
            <a:ext cx="9652000" cy="1012825"/>
          </a:xfrm>
        </p:spPr>
        <p:txBody>
          <a:bodyPr/>
          <a:lstStyle/>
          <a:p>
            <a:r>
              <a:rPr lang="en-US" dirty="0"/>
              <a:t>LINK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324396" y="1292637"/>
            <a:ext cx="901640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>
                <a:solidFill>
                  <a:schemeClr val="bg1"/>
                </a:solidFill>
              </a:rPr>
              <a:t>NHẬP MÔN BIG DATA</a:t>
            </a:r>
            <a:endParaRPr lang="en-US" sz="2800" b="1" dirty="0">
              <a:solidFill>
                <a:schemeClr val="bg1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33C12F-D11B-4AA4-9103-DF348809565A}" type="slidenum">
              <a:rPr lang="en-US" smtClean="0"/>
              <a:t>1</a:t>
            </a:fld>
            <a:endParaRPr lang="en-US"/>
          </a:p>
        </p:txBody>
      </p:sp>
      <p:sp>
        <p:nvSpPr>
          <p:cNvPr id="6" name="Subtitle 5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3778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Graph and Large graph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Web graph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Link analysis</a:t>
            </a:r>
          </a:p>
          <a:p>
            <a:pPr marL="400050" lvl="1" indent="0">
              <a:buNone/>
            </a:pPr>
            <a:r>
              <a:rPr lang="en-US" dirty="0"/>
              <a:t>3.1. Introduce</a:t>
            </a:r>
          </a:p>
          <a:p>
            <a:pPr marL="400050" lvl="1" indent="0">
              <a:buNone/>
            </a:pPr>
            <a:r>
              <a:rPr lang="en-US" dirty="0"/>
              <a:t>3.2. Page rank algorithm</a:t>
            </a:r>
          </a:p>
          <a:p>
            <a:pPr marL="400050" lvl="1" indent="0">
              <a:buNone/>
            </a:pPr>
            <a:r>
              <a:rPr lang="en-US" dirty="0"/>
              <a:t>3.3. Page rank for massive data</a:t>
            </a:r>
          </a:p>
          <a:p>
            <a:pPr marL="400050" lvl="1" indent="0">
              <a:buNone/>
            </a:pPr>
            <a:r>
              <a:rPr lang="en-US" dirty="0"/>
              <a:t>3.4. Hits algorithm</a:t>
            </a:r>
          </a:p>
          <a:p>
            <a:pPr marL="400050" lvl="1" indent="0">
              <a:buNone/>
            </a:pPr>
            <a:r>
              <a:rPr lang="en-US" dirty="0"/>
              <a:t>3.5. Trust rank</a:t>
            </a:r>
          </a:p>
          <a:p>
            <a:pPr marL="400050" lvl="1" indent="0">
              <a:buNone/>
            </a:pPr>
            <a:r>
              <a:rPr lang="en-US" dirty="0"/>
              <a:t>3.6. Web spam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err="1"/>
              <a:t>Conlusion</a:t>
            </a:r>
            <a:endParaRPr lang="en-US" dirty="0"/>
          </a:p>
          <a:p>
            <a:pPr marL="514350" indent="-514350">
              <a:buFont typeface="+mj-lt"/>
              <a:buAutoNum type="arabicPeriod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33C12F-D11B-4AA4-9103-DF348809565A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53878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Graph and Large graph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33C12F-D11B-4AA4-9103-DF348809565A}" type="slidenum">
              <a:rPr lang="en-US" smtClean="0"/>
              <a:t>3</a:t>
            </a:fld>
            <a:endParaRPr lang="en-US"/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609600" y="1463040"/>
            <a:ext cx="10972800" cy="4861560"/>
          </a:xfrm>
        </p:spPr>
        <p:txBody>
          <a:bodyPr/>
          <a:lstStyle/>
          <a:p>
            <a:r>
              <a:rPr lang="en-US" dirty="0"/>
              <a:t>What is a Graph?</a:t>
            </a:r>
          </a:p>
          <a:p>
            <a:pPr marL="0" indent="0">
              <a:buNone/>
            </a:pPr>
            <a:r>
              <a:rPr lang="en-US" dirty="0"/>
              <a:t>a set of </a:t>
            </a:r>
            <a:r>
              <a:rPr lang="en-US" dirty="0">
                <a:solidFill>
                  <a:srgbClr val="00B0F0"/>
                </a:solidFill>
              </a:rPr>
              <a:t>vertices (nodes)</a:t>
            </a:r>
            <a:r>
              <a:rPr lang="en-US" dirty="0"/>
              <a:t> connected by a set of </a:t>
            </a:r>
            <a:r>
              <a:rPr lang="en-US" dirty="0">
                <a:solidFill>
                  <a:srgbClr val="00B0F0"/>
                </a:solidFill>
              </a:rPr>
              <a:t>edges (links)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51327" y="3326309"/>
            <a:ext cx="4209845" cy="2998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03806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Graph and Large graph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33C12F-D11B-4AA4-9103-DF348809565A}" type="slidenum">
              <a:rPr lang="en-US" smtClean="0"/>
              <a:t>4</a:t>
            </a:fld>
            <a:endParaRPr lang="en-US"/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609600" y="1402080"/>
            <a:ext cx="10972800" cy="4922520"/>
          </a:xfrm>
        </p:spPr>
        <p:txBody>
          <a:bodyPr/>
          <a:lstStyle/>
          <a:p>
            <a:r>
              <a:rPr lang="en-US" dirty="0"/>
              <a:t>What is a Graph?</a:t>
            </a:r>
          </a:p>
          <a:p>
            <a:pPr marL="0" indent="0">
              <a:buNone/>
            </a:pPr>
            <a:r>
              <a:rPr lang="en-US" dirty="0"/>
              <a:t>edges may be </a:t>
            </a:r>
            <a:r>
              <a:rPr lang="en-US" dirty="0">
                <a:solidFill>
                  <a:srgbClr val="00B0F0"/>
                </a:solidFill>
              </a:rPr>
              <a:t>directed </a:t>
            </a:r>
            <a:r>
              <a:rPr lang="en-US" dirty="0">
                <a:solidFill>
                  <a:srgbClr val="00B0F0"/>
                </a:solidFill>
                <a:sym typeface="Wingdings" panose="05000000000000000000" pitchFamily="2" charset="2"/>
              </a:rPr>
              <a:t> </a:t>
            </a:r>
            <a:r>
              <a:rPr lang="en-US" dirty="0">
                <a:solidFill>
                  <a:srgbClr val="00B0F0"/>
                </a:solidFill>
              </a:rPr>
              <a:t>directed graph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27502" y="2986233"/>
            <a:ext cx="4419395" cy="31475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39278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Graph and Large graph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33C12F-D11B-4AA4-9103-DF348809565A}" type="slidenum">
              <a:rPr lang="en-US" smtClean="0"/>
              <a:t>5</a:t>
            </a:fld>
            <a:endParaRPr lang="en-US"/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609600" y="1417320"/>
            <a:ext cx="10972800" cy="4907280"/>
          </a:xfrm>
        </p:spPr>
        <p:txBody>
          <a:bodyPr/>
          <a:lstStyle/>
          <a:p>
            <a:r>
              <a:rPr lang="en-US" dirty="0"/>
              <a:t>What is a Graph?</a:t>
            </a:r>
          </a:p>
          <a:p>
            <a:pPr marL="0" indent="0">
              <a:buNone/>
            </a:pPr>
            <a:r>
              <a:rPr lang="en-US" dirty="0"/>
              <a:t>edges may be </a:t>
            </a:r>
            <a:r>
              <a:rPr lang="en-US" dirty="0">
                <a:solidFill>
                  <a:srgbClr val="00B0F0"/>
                </a:solidFill>
              </a:rPr>
              <a:t>undirected </a:t>
            </a:r>
            <a:r>
              <a:rPr lang="en-US" dirty="0">
                <a:solidFill>
                  <a:srgbClr val="00B0F0"/>
                </a:solidFill>
                <a:sym typeface="Wingdings" panose="05000000000000000000" pitchFamily="2" charset="2"/>
              </a:rPr>
              <a:t></a:t>
            </a:r>
            <a:r>
              <a:rPr lang="en-US" dirty="0">
                <a:solidFill>
                  <a:srgbClr val="00B0F0"/>
                </a:solidFill>
              </a:rPr>
              <a:t>undirected graph 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51327" y="3326309"/>
            <a:ext cx="4209845" cy="2998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12842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Graph and Large graph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en-US" dirty="0"/>
              <a:t>A graph is a model used to represent many types of data, e.g.: 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dirty="0">
                <a:solidFill>
                  <a:srgbClr val="00B0F0"/>
                </a:solidFill>
              </a:rPr>
              <a:t>Internet </a:t>
            </a:r>
            <a:r>
              <a:rPr lang="en-US" dirty="0"/>
              <a:t>(i.e., the set of interconnected computers)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33C12F-D11B-4AA4-9103-DF348809565A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44051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Graph and Large graph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3"/>
          <a:srcRect t="1480"/>
          <a:stretch/>
        </p:blipFill>
        <p:spPr>
          <a:xfrm>
            <a:off x="2143394" y="1385579"/>
            <a:ext cx="7470954" cy="5010459"/>
          </a:xfrm>
          <a:prstGeom prst="rect">
            <a:avLst/>
          </a:prstGeo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33C12F-D11B-4AA4-9103-DF348809565A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60221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Graph and Large graph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A graph is a model used to represent many types of data, e.g.: 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Internet (i.e., the set of interconnected computers) 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solidFill>
                  <a:srgbClr val="00B0F0"/>
                </a:solidFill>
              </a:rPr>
              <a:t>Maps </a:t>
            </a:r>
            <a:r>
              <a:rPr lang="en-US" dirty="0"/>
              <a:t>(i.e., the set of cities and roads connecting them)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33C12F-D11B-4AA4-9103-DF348809565A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72556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Graph and Large graph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Graph Data: CORK CITY BUS SERVICES 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8433" y="2314578"/>
            <a:ext cx="9186367" cy="4081460"/>
          </a:xfrm>
          <a:prstGeom prst="rect">
            <a:avLst/>
          </a:prstGeo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33C12F-D11B-4AA4-9103-DF348809565A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30178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Graph and Large graph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A graph is a model used to represent many types of data, e.g.: 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Internet (i.e., the set of interconnected computers) 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Maps (i.e., the set of cities and roads connecting them) 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solidFill>
                  <a:srgbClr val="00B0F0"/>
                </a:solidFill>
              </a:rPr>
              <a:t>Social Networks </a:t>
            </a:r>
            <a:r>
              <a:rPr lang="en-US" dirty="0"/>
              <a:t>(i.e., the set of social connections between people)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33C12F-D11B-4AA4-9103-DF348809565A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01816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Graph and Large graph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Graph Data:</a:t>
            </a:r>
            <a:r>
              <a:rPr lang="en-US" cap="all" dirty="0"/>
              <a:t> SOCIAL NETWORK LIKE </a:t>
            </a:r>
            <a:r>
              <a:rPr lang="en-US" cap="all" dirty="0">
                <a:solidFill>
                  <a:srgbClr val="00B0F0"/>
                </a:solidFill>
              </a:rPr>
              <a:t>FACEBOOK</a:t>
            </a:r>
            <a:endParaRPr lang="en-US" dirty="0">
              <a:solidFill>
                <a:srgbClr val="00B0F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33C12F-D11B-4AA4-9103-DF348809565A}" type="slidenum">
              <a:rPr lang="en-US" smtClean="0"/>
              <a:t>11</a:t>
            </a:fld>
            <a:endParaRPr lang="en-US"/>
          </a:p>
        </p:txBody>
      </p:sp>
      <p:pic>
        <p:nvPicPr>
          <p:cNvPr id="7" name="Content Placeholder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1259634" y="1690688"/>
            <a:ext cx="8975961" cy="43555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TextBox 7"/>
          <p:cNvSpPr txBox="1"/>
          <p:nvPr/>
        </p:nvSpPr>
        <p:spPr>
          <a:xfrm>
            <a:off x="838200" y="6419461"/>
            <a:ext cx="100412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https://www.euroscientist.com/imagine-a-social-network-like-facebook-with-no-facebook/</a:t>
            </a:r>
          </a:p>
        </p:txBody>
      </p:sp>
    </p:spTree>
    <p:extLst>
      <p:ext uri="{BB962C8B-B14F-4D97-AF65-F5344CB8AC3E}">
        <p14:creationId xmlns:p14="http://schemas.microsoft.com/office/powerpoint/2010/main" val="7850520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Graph and Large graph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Graph Data: Information Nets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33C12F-D11B-4AA4-9103-DF348809565A}" type="slidenum">
              <a:rPr lang="en-US" smtClean="0"/>
              <a:t>12</a:t>
            </a:fld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00428" y="1652797"/>
            <a:ext cx="7457972" cy="4602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91919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Graph and Large graph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076326"/>
            <a:ext cx="10972800" cy="51006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A graph is a model used to represent many types of data, e.g.: 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Internet (i.e., the set of interconnected computers) 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Maps (i.e., the set of cities and roads connecting them) 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Social Networks (i.e., the set of social connections between people)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solidFill>
                  <a:srgbClr val="00B0F0"/>
                </a:solidFill>
              </a:rPr>
              <a:t>Web</a:t>
            </a:r>
            <a:r>
              <a:rPr lang="en-US" dirty="0"/>
              <a:t> (i.e., the set of hyperlinked web pages) </a:t>
            </a:r>
          </a:p>
          <a:p>
            <a:pPr marL="0" indent="0">
              <a:buNone/>
            </a:pPr>
            <a:r>
              <a:rPr lang="en-US" dirty="0"/>
              <a:t>…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33C12F-D11B-4AA4-9103-DF348809565A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39418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Graph and Large graph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Web as a directed graph </a:t>
            </a:r>
          </a:p>
          <a:p>
            <a:pPr marL="0" indent="0">
              <a:buNone/>
            </a:pPr>
            <a:r>
              <a:rPr lang="en-US" dirty="0"/>
              <a:t>Nodes: Webpages. Edges: Hyperlinks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33C12F-D11B-4AA4-9103-DF348809565A}" type="slidenum">
              <a:rPr lang="en-US" smtClean="0"/>
              <a:t>14</a:t>
            </a:fld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53114" y="2320391"/>
            <a:ext cx="8228571" cy="3980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125520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Graph and Large graph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076325"/>
            <a:ext cx="11582400" cy="5248275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A graph is a model used to represent many types of data,</a:t>
            </a:r>
          </a:p>
          <a:p>
            <a:pPr marL="0" indent="0">
              <a:buNone/>
            </a:pPr>
            <a:r>
              <a:rPr lang="en-US" dirty="0"/>
              <a:t>e.g.: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Internet (i.e., the set of interconnected computers) 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Maps (i.e., the set of cities and roads connecting them) 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Social Networks (i.e., the set of social connections between people)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Web (i.e., the set of hyperlinked web pages) </a:t>
            </a:r>
          </a:p>
          <a:p>
            <a:pPr marL="0" indent="0">
              <a:buNone/>
            </a:pPr>
            <a:r>
              <a:rPr lang="en-US" dirty="0"/>
              <a:t>…</a:t>
            </a:r>
          </a:p>
          <a:p>
            <a:pPr marL="0" indent="0">
              <a:buNone/>
            </a:pPr>
            <a:r>
              <a:rPr lang="en-US" dirty="0"/>
              <a:t>• Several "</a:t>
            </a:r>
            <a:r>
              <a:rPr lang="en-US" dirty="0">
                <a:solidFill>
                  <a:srgbClr val="00B0F0"/>
                </a:solidFill>
              </a:rPr>
              <a:t>Big Data</a:t>
            </a:r>
            <a:r>
              <a:rPr lang="en-US" dirty="0"/>
              <a:t>" tasks require us to work with </a:t>
            </a:r>
            <a:r>
              <a:rPr lang="en-US" dirty="0">
                <a:solidFill>
                  <a:srgbClr val="00B0F0"/>
                </a:solidFill>
              </a:rPr>
              <a:t>large graphs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33C12F-D11B-4AA4-9103-DF348809565A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370503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Web graph</a:t>
            </a: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3119809" y="1381415"/>
            <a:ext cx="6691456" cy="5213982"/>
          </a:xfrm>
          <a:prstGeom prst="rect">
            <a:avLst/>
          </a:prstGeom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33C12F-D11B-4AA4-9103-DF348809565A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833727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Web graph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1213485"/>
            <a:ext cx="10266845" cy="3038475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33C12F-D11B-4AA4-9103-DF348809565A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009961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Web graph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844075" y="1069439"/>
            <a:ext cx="9995849" cy="1486484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4"/>
          <a:srcRect t="9247" b="11443"/>
          <a:stretch/>
        </p:blipFill>
        <p:spPr>
          <a:xfrm>
            <a:off x="844075" y="2744976"/>
            <a:ext cx="8435026" cy="1708637"/>
          </a:xfrm>
          <a:prstGeom prst="rect">
            <a:avLst/>
          </a:prstGeom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33C12F-D11B-4AA4-9103-DF348809565A}" type="slidenum">
              <a:rPr lang="en-US" smtClean="0"/>
              <a:t>18</a:t>
            </a:fld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4075" y="4418249"/>
            <a:ext cx="7742857" cy="23142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12457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Web graph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33C12F-D11B-4AA4-9103-DF348809565A}" type="slidenum">
              <a:rPr lang="en-US" smtClean="0"/>
              <a:t>19</a:t>
            </a:fld>
            <a:endParaRPr lang="en-US"/>
          </a:p>
        </p:txBody>
      </p:sp>
      <p:sp>
        <p:nvSpPr>
          <p:cNvPr id="8" name="Content Placeholder 2"/>
          <p:cNvSpPr txBox="1">
            <a:spLocks/>
          </p:cNvSpPr>
          <p:nvPr/>
        </p:nvSpPr>
        <p:spPr bwMode="auto">
          <a:xfrm>
            <a:off x="609600" y="928688"/>
            <a:ext cx="10972800" cy="5248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v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50000"/>
              </a:lnSpc>
              <a:buNone/>
            </a:pPr>
            <a:r>
              <a:rPr lang="en-US" dirty="0"/>
              <a:t>Some Famous Graph Problems</a:t>
            </a:r>
          </a:p>
          <a:p>
            <a:pPr marL="0" indent="0" algn="just">
              <a:lnSpc>
                <a:spcPct val="150000"/>
              </a:lnSpc>
              <a:buFont typeface="Wingdings" panose="05000000000000000000" pitchFamily="2" charset="2"/>
              <a:buNone/>
            </a:pPr>
            <a:endParaRPr lang="en-US" dirty="0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5336" y="1806651"/>
            <a:ext cx="10061327" cy="37876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936254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Graph and Large graph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Web graph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Link analysis</a:t>
            </a:r>
          </a:p>
          <a:p>
            <a:pPr marL="400050" lvl="1" indent="0">
              <a:buNone/>
            </a:pPr>
            <a:r>
              <a:rPr lang="en-US" dirty="0"/>
              <a:t>3.1. Introduce</a:t>
            </a:r>
          </a:p>
          <a:p>
            <a:pPr marL="400050" lvl="1" indent="0">
              <a:buNone/>
            </a:pPr>
            <a:r>
              <a:rPr lang="en-US" dirty="0"/>
              <a:t>3.2. Page rank algorithm</a:t>
            </a:r>
          </a:p>
          <a:p>
            <a:pPr marL="400050" lvl="1" indent="0">
              <a:buNone/>
            </a:pPr>
            <a:r>
              <a:rPr lang="en-US" dirty="0"/>
              <a:t>3.3. Page rank for massive data</a:t>
            </a:r>
          </a:p>
          <a:p>
            <a:pPr marL="400050" lvl="1" indent="0">
              <a:buNone/>
            </a:pPr>
            <a:r>
              <a:rPr lang="en-US" dirty="0"/>
              <a:t>3.4. Hits algorithm</a:t>
            </a:r>
          </a:p>
          <a:p>
            <a:pPr marL="400050" lvl="1" indent="0">
              <a:buNone/>
            </a:pPr>
            <a:r>
              <a:rPr lang="en-US" dirty="0"/>
              <a:t>3.5. Trust rank</a:t>
            </a:r>
          </a:p>
          <a:p>
            <a:pPr marL="400050" lvl="1" indent="0">
              <a:buNone/>
            </a:pPr>
            <a:r>
              <a:rPr lang="en-US" dirty="0"/>
              <a:t>3.6. Web spam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err="1">
                <a:solidFill>
                  <a:schemeClr val="bg1">
                    <a:lumMod val="85000"/>
                  </a:schemeClr>
                </a:solidFill>
              </a:rPr>
              <a:t>Conlusion</a:t>
            </a:r>
            <a:endParaRPr lang="en-US" dirty="0">
              <a:solidFill>
                <a:schemeClr val="bg1">
                  <a:lumMod val="85000"/>
                </a:schemeClr>
              </a:solidFill>
            </a:endParaRPr>
          </a:p>
          <a:p>
            <a:pPr marL="514350" indent="-514350">
              <a:buFont typeface="+mj-lt"/>
              <a:buAutoNum type="arabicPeriod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33C12F-D11B-4AA4-9103-DF348809565A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506046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dirty="0">
                <a:solidFill>
                  <a:srgbClr val="00B0F0"/>
                </a:solidFill>
              </a:rPr>
              <a:t>Link Analysis</a:t>
            </a:r>
          </a:p>
          <a:p>
            <a:pPr algn="just">
              <a:lnSpc>
                <a:spcPct val="150000"/>
              </a:lnSpc>
            </a:pPr>
            <a:r>
              <a:rPr lang="en-US" dirty="0"/>
              <a:t>A data analysis technique used to evaluate relationships (connections) between nodes of a graph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33C12F-D11B-4AA4-9103-DF348809565A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139143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3"/>
          <a:srcRect r="57126" b="83409"/>
          <a:stretch/>
        </p:blipFill>
        <p:spPr>
          <a:xfrm>
            <a:off x="609602" y="960730"/>
            <a:ext cx="3688078" cy="776630"/>
          </a:xfrm>
          <a:prstGeom prst="rect">
            <a:avLst/>
          </a:prstGeom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33C12F-D11B-4AA4-9103-DF348809565A}" type="slidenum">
              <a:rPr lang="en-US" smtClean="0"/>
              <a:t>22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10EADA7-495B-4CA3-8FC2-BF598165219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65244" t="21298" b="9869"/>
          <a:stretch/>
        </p:blipFill>
        <p:spPr>
          <a:xfrm>
            <a:off x="4856480" y="1307228"/>
            <a:ext cx="5608320" cy="53645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852078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1076325"/>
            <a:ext cx="10495143" cy="5001207"/>
          </a:xfrm>
          <a:prstGeom prst="rect">
            <a:avLst/>
          </a:prstGeo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33C12F-D11B-4AA4-9103-DF348809565A}" type="slidenum">
              <a:rPr lang="en-US" smtClean="0"/>
              <a:t>23</a:t>
            </a:fld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609600" y="6581001"/>
            <a:ext cx="104648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dirty="0"/>
              <a:t>[1] Big Data Computing, </a:t>
            </a:r>
            <a:r>
              <a:rPr lang="it-IT" sz="1500" dirty="0"/>
              <a:t>Gabriele Tolomei, Department of Computer Science Sapienza Università di Roma, </a:t>
            </a:r>
            <a:r>
              <a:rPr lang="en-US" sz="1500" dirty="0"/>
              <a:t>2020-2021</a:t>
            </a:r>
          </a:p>
          <a:p>
            <a:endParaRPr lang="en-US" sz="1500" dirty="0"/>
          </a:p>
        </p:txBody>
      </p:sp>
    </p:spTree>
    <p:extLst>
      <p:ext uri="{BB962C8B-B14F-4D97-AF65-F5344CB8AC3E}">
        <p14:creationId xmlns:p14="http://schemas.microsoft.com/office/powerpoint/2010/main" val="100498444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1025526"/>
            <a:ext cx="10414727" cy="5130785"/>
          </a:xfrm>
          <a:prstGeom prst="rect">
            <a:avLst/>
          </a:prstGeom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33C12F-D11B-4AA4-9103-DF348809565A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796897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400050" lvl="1" indent="0">
              <a:buNone/>
            </a:pPr>
            <a:r>
              <a:rPr lang="en-US" dirty="0" err="1"/>
              <a:t>Pagerank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Larry Page </a:t>
            </a:r>
            <a:r>
              <a:rPr lang="en-US" b="1" dirty="0" err="1"/>
              <a:t>và</a:t>
            </a:r>
            <a:r>
              <a:rPr lang="en-US" b="1" dirty="0"/>
              <a:t> Sergey Brin - 7/1998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33C12F-D11B-4AA4-9103-DF348809565A}" type="slidenum">
              <a:rPr lang="en-US" smtClean="0"/>
              <a:t>25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44347" y="1791483"/>
            <a:ext cx="7320119" cy="49966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376308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Pagerank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39906" y="1277088"/>
            <a:ext cx="6912187" cy="5391120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33C12F-D11B-4AA4-9103-DF348809565A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006880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Pagerank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1632" y="1567062"/>
            <a:ext cx="8808765" cy="4437498"/>
          </a:xfrm>
          <a:prstGeom prst="rect">
            <a:avLst/>
          </a:prstGeo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33C12F-D11B-4AA4-9103-DF348809565A}" type="slidenum">
              <a:rPr lang="en-US" smtClean="0"/>
              <a:t>27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B3E038A-8932-4A96-B340-0DB71DA8C509}"/>
              </a:ext>
            </a:extLst>
          </p:cNvPr>
          <p:cNvSpPr txBox="1"/>
          <p:nvPr/>
        </p:nvSpPr>
        <p:spPr>
          <a:xfrm>
            <a:off x="609600" y="6581001"/>
            <a:ext cx="104648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dirty="0"/>
              <a:t>[1] Big Data Computing, </a:t>
            </a:r>
            <a:r>
              <a:rPr lang="it-IT" sz="1500" dirty="0"/>
              <a:t>Gabriele Tolomei, Department of Computer Science Sapienza Università di Roma, </a:t>
            </a:r>
            <a:r>
              <a:rPr lang="en-US" sz="1500" dirty="0"/>
              <a:t>2020-2021</a:t>
            </a:r>
          </a:p>
          <a:p>
            <a:endParaRPr lang="en-US" sz="1500" dirty="0"/>
          </a:p>
        </p:txBody>
      </p:sp>
    </p:spTree>
    <p:extLst>
      <p:ext uri="{BB962C8B-B14F-4D97-AF65-F5344CB8AC3E}">
        <p14:creationId xmlns:p14="http://schemas.microsoft.com/office/powerpoint/2010/main" val="165504317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Pagerank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5520" y="1497142"/>
            <a:ext cx="9200960" cy="4406640"/>
          </a:xfrm>
          <a:prstGeom prst="rect">
            <a:avLst/>
          </a:prstGeom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33C12F-D11B-4AA4-9103-DF348809565A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587780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Pagerank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9103" y="1665043"/>
            <a:ext cx="9393794" cy="4409865"/>
          </a:xfrm>
          <a:prstGeom prst="rect">
            <a:avLst/>
          </a:prstGeo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33C12F-D11B-4AA4-9103-DF348809565A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278008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Pagerank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0678" y="1820430"/>
            <a:ext cx="9470644" cy="4504170"/>
          </a:xfrm>
          <a:prstGeom prst="rect">
            <a:avLst/>
          </a:prstGeo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33C12F-D11B-4AA4-9103-DF348809565A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941767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Pagerank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86366" y="1467052"/>
            <a:ext cx="8000585" cy="3885998"/>
          </a:xfrm>
          <a:prstGeom prst="rect">
            <a:avLst/>
          </a:prstGeo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33C12F-D11B-4AA4-9103-DF348809565A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716350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Pagerank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18118" y="1586016"/>
            <a:ext cx="8646682" cy="4192330"/>
          </a:xfrm>
          <a:prstGeom prst="rect">
            <a:avLst/>
          </a:prstGeo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33C12F-D11B-4AA4-9103-DF348809565A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770523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Pagerank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“Flow” model	</a:t>
            </a:r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1486" y="1971830"/>
            <a:ext cx="5035064" cy="3233301"/>
          </a:xfrm>
          <a:prstGeom prst="rect">
            <a:avLst/>
          </a:prstGeo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33C12F-D11B-4AA4-9103-DF348809565A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00867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Pagerank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“Flow” model	</a:t>
            </a:r>
          </a:p>
          <a:p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35984" y="1865600"/>
            <a:ext cx="5736266" cy="4076534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33C12F-D11B-4AA4-9103-DF348809565A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811849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Pagerank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“Flow” model	</a:t>
            </a:r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05330" y="2268313"/>
            <a:ext cx="7673340" cy="3307475"/>
          </a:xfrm>
          <a:prstGeom prst="rect">
            <a:avLst/>
          </a:prstGeo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33C12F-D11B-4AA4-9103-DF348809565A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356308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Pagerank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“Flow” model	</a:t>
            </a:r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48280" y="2190914"/>
            <a:ext cx="7305269" cy="2956384"/>
          </a:xfrm>
          <a:prstGeom prst="rect">
            <a:avLst/>
          </a:prstGeo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33C12F-D11B-4AA4-9103-DF348809565A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1805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Pagerank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“Flow” model	</a:t>
            </a:r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1030" y="1724270"/>
            <a:ext cx="7513475" cy="3114512"/>
          </a:xfrm>
          <a:prstGeom prst="rect">
            <a:avLst/>
          </a:prstGeom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33C12F-D11B-4AA4-9103-DF348809565A}" type="slidenum">
              <a:rPr lang="en-US" smtClean="0"/>
              <a:t>37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061C105-B490-4E95-8892-6FB82573E941}"/>
              </a:ext>
            </a:extLst>
          </p:cNvPr>
          <p:cNvSpPr txBox="1"/>
          <p:nvPr/>
        </p:nvSpPr>
        <p:spPr>
          <a:xfrm>
            <a:off x="5708880" y="4838782"/>
            <a:ext cx="6191250" cy="12185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600" dirty="0"/>
              <a:t>3 equations, 3 unknowns, </a:t>
            </a:r>
            <a:r>
              <a:rPr lang="en-US" sz="2600" dirty="0" err="1"/>
              <a:t>r</a:t>
            </a:r>
            <a:r>
              <a:rPr lang="en-US" sz="2600" baseline="-25000" dirty="0" err="1"/>
              <a:t>v</a:t>
            </a:r>
            <a:r>
              <a:rPr lang="en-US" sz="2600" dirty="0"/>
              <a:t>, </a:t>
            </a:r>
            <a:r>
              <a:rPr lang="en-US" sz="2600" dirty="0" err="1"/>
              <a:t>r</a:t>
            </a:r>
            <a:r>
              <a:rPr lang="en-US" sz="2600" baseline="-25000" dirty="0" err="1"/>
              <a:t>w</a:t>
            </a:r>
            <a:r>
              <a:rPr lang="en-US" sz="2600" dirty="0"/>
              <a:t>, and </a:t>
            </a:r>
            <a:r>
              <a:rPr lang="en-US" sz="2600" dirty="0" err="1"/>
              <a:t>r</a:t>
            </a:r>
            <a:r>
              <a:rPr lang="en-US" sz="2600" baseline="-25000" dirty="0" err="1"/>
              <a:t>x</a:t>
            </a:r>
            <a:endParaRPr lang="en-US" sz="2600" baseline="-25000" dirty="0"/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600" dirty="0"/>
              <a:t>No unique solution</a:t>
            </a:r>
          </a:p>
        </p:txBody>
      </p:sp>
    </p:spTree>
    <p:extLst>
      <p:ext uri="{BB962C8B-B14F-4D97-AF65-F5344CB8AC3E}">
        <p14:creationId xmlns:p14="http://schemas.microsoft.com/office/powerpoint/2010/main" val="185297343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Pagerank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“Flow” model	</a:t>
            </a:r>
          </a:p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33C12F-D11B-4AA4-9103-DF348809565A}" type="slidenum">
              <a:rPr lang="en-US" smtClean="0"/>
              <a:t>38</a:t>
            </a:fld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3"/>
          <a:srcRect l="36076" t="24304" r="16740" b="54093"/>
          <a:stretch/>
        </p:blipFill>
        <p:spPr>
          <a:xfrm>
            <a:off x="778242" y="2459998"/>
            <a:ext cx="10804158" cy="27825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7695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Pagerank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“Flow” model	</a:t>
            </a:r>
          </a:p>
          <a:p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3381" y="1620972"/>
            <a:ext cx="9365238" cy="3024053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2969433"/>
            <a:ext cx="2752381" cy="99047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90600" y="4838700"/>
            <a:ext cx="105918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This may work for small examples (e.g., using Gaussian elimination), but we need a better method for </a:t>
            </a:r>
            <a:r>
              <a:rPr lang="en-US" sz="2400" dirty="0">
                <a:solidFill>
                  <a:srgbClr val="00B0F0"/>
                </a:solidFill>
              </a:rPr>
              <a:t>large web-size graphs</a:t>
            </a:r>
            <a:r>
              <a:rPr lang="en-US" sz="2400" dirty="0"/>
              <a:t>.</a:t>
            </a:r>
          </a:p>
          <a:p>
            <a:r>
              <a:rPr lang="en-US" sz="2400" dirty="0">
                <a:solidFill>
                  <a:srgbClr val="00B0F0"/>
                </a:solidFill>
              </a:rPr>
              <a:t>We need a new formulation!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33C12F-D11B-4AA4-9103-DF348809565A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638480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Pagerank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Matrix formulation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1515" y="4427139"/>
            <a:ext cx="4572001" cy="113881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36871" y="4568172"/>
            <a:ext cx="17145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(If w </a:t>
            </a:r>
            <a:r>
              <a:rPr lang="en-US" dirty="0">
                <a:sym typeface="Wingdings" panose="05000000000000000000" pitchFamily="2" charset="2"/>
              </a:rPr>
              <a:t> v)</a:t>
            </a: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5282" y="1824698"/>
            <a:ext cx="7848601" cy="2364433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8162" y="5692980"/>
            <a:ext cx="2333487" cy="631620"/>
          </a:xfrm>
          <a:prstGeom prst="rect">
            <a:avLst/>
          </a:prstGeom>
        </p:spPr>
      </p:pic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33C12F-D11B-4AA4-9103-DF348809565A}" type="slidenum">
              <a:rPr lang="en-US" smtClean="0"/>
              <a:t>40</a:t>
            </a:fld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672E8B8-AE5C-406D-9D45-CD7247A80D6B}"/>
              </a:ext>
            </a:extLst>
          </p:cNvPr>
          <p:cNvSpPr txBox="1"/>
          <p:nvPr/>
        </p:nvSpPr>
        <p:spPr>
          <a:xfrm>
            <a:off x="609600" y="6581001"/>
            <a:ext cx="104648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dirty="0"/>
              <a:t>[2] Big Data Computing, </a:t>
            </a:r>
            <a:r>
              <a:rPr lang="it-IT" sz="1500" dirty="0"/>
              <a:t>Gabriele Tolomei, Department of Computer Science Sapienza Università di Roma, </a:t>
            </a:r>
            <a:r>
              <a:rPr lang="en-US" sz="1500" dirty="0"/>
              <a:t>2020-2021</a:t>
            </a:r>
          </a:p>
          <a:p>
            <a:endParaRPr lang="en-US" sz="1500" dirty="0"/>
          </a:p>
        </p:txBody>
      </p:sp>
    </p:spTree>
    <p:extLst>
      <p:ext uri="{BB962C8B-B14F-4D97-AF65-F5344CB8AC3E}">
        <p14:creationId xmlns:p14="http://schemas.microsoft.com/office/powerpoint/2010/main" val="366040401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Pagerank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Matrix formulation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222" t="-151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599" y="4126508"/>
            <a:ext cx="4435688" cy="11048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45287" y="4309606"/>
            <a:ext cx="17145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(If w </a:t>
            </a:r>
            <a:r>
              <a:rPr lang="en-US" dirty="0">
                <a:sym typeface="Wingdings" panose="05000000000000000000" pitchFamily="2" charset="2"/>
              </a:rPr>
              <a:t> v)</a:t>
            </a: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599" y="1839522"/>
            <a:ext cx="7110009" cy="214192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/>
              <p:cNvSpPr/>
              <p:nvPr/>
            </p:nvSpPr>
            <p:spPr>
              <a:xfrm>
                <a:off x="8026822" y="4239974"/>
                <a:ext cx="1921936" cy="98405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f>
                                  <m:fPr>
                                    <m:type m:val="lin"/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i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i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e>
                              <m:e>
                                <m:r>
                                  <a:rPr lang="en-US" i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f>
                                  <m:fPr>
                                    <m:type m:val="lin"/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i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i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e>
                              <m:e>
                                <m:f>
                                  <m:fPr>
                                    <m:type m:val="lin"/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i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i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e>
                              <m:e>
                                <m:r>
                                  <a:rPr lang="en-US" i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f>
                                  <m:fPr>
                                    <m:type m:val="lin"/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i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i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e>
                              <m:e>
                                <m:r>
                                  <a:rPr lang="en-US" i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i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" name="Rectangle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26822" y="4239974"/>
                <a:ext cx="1921936" cy="98405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10"/>
              <p:cNvSpPr/>
              <p:nvPr/>
            </p:nvSpPr>
            <p:spPr>
              <a:xfrm>
                <a:off x="8089899" y="1824778"/>
                <a:ext cx="1376531" cy="82490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i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i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i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i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1" name="Rectangle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89899" y="1824778"/>
                <a:ext cx="1376531" cy="824906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/>
              <p:cNvSpPr/>
              <p:nvPr/>
            </p:nvSpPr>
            <p:spPr>
              <a:xfrm>
                <a:off x="8089898" y="2875556"/>
                <a:ext cx="1376531" cy="82490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b="0" i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en-US" i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i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2" name="Rectangle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89898" y="2875556"/>
                <a:ext cx="1376531" cy="824906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le 12"/>
              <p:cNvSpPr/>
              <p:nvPr/>
            </p:nvSpPr>
            <p:spPr>
              <a:xfrm>
                <a:off x="4657935" y="5572223"/>
                <a:ext cx="1860638" cy="85029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/2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b="0" i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1/2</m:t>
                                </m:r>
                              </m:e>
                              <m:e>
                                <m:r>
                                  <a:rPr lang="en-US" i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i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3" name="Rectangle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57935" y="5572223"/>
                <a:ext cx="1860638" cy="850297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Rectangle 13"/>
              <p:cNvSpPr/>
              <p:nvPr/>
            </p:nvSpPr>
            <p:spPr>
              <a:xfrm>
                <a:off x="6301353" y="5597614"/>
                <a:ext cx="1376531" cy="82490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i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i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i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i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4" name="Rectangle 1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01353" y="5597614"/>
                <a:ext cx="1376531" cy="824906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Rectangle 14"/>
              <p:cNvSpPr/>
              <p:nvPr/>
            </p:nvSpPr>
            <p:spPr>
              <a:xfrm>
                <a:off x="7918374" y="5527961"/>
                <a:ext cx="2130647" cy="86215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f>
                                  <m:fPr>
                                    <m:type m:val="lin"/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i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i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e>
                              <m:e>
                                <m:r>
                                  <a:rPr lang="en-US" i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en-US" b="0" i="0" smtClean="0">
                                    <a:latin typeface="Cambria Math" panose="02040503050406030204" pitchFamily="18" charset="0"/>
                                  </a:rPr>
                                  <m:t>/2</m:t>
                                </m:r>
                              </m:e>
                            </m:mr>
                            <m:mr>
                              <m:e>
                                <m:f>
                                  <m:fPr>
                                    <m:type m:val="lin"/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i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i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e>
                              <m:e>
                                <m:f>
                                  <m:fPr>
                                    <m:type m:val="lin"/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i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i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e>
                              <m:e>
                                <m:r>
                                  <a:rPr lang="en-US" i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i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i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5" name="Rectangle 1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18374" y="5527961"/>
                <a:ext cx="2130647" cy="862159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/>
              <p:cNvSpPr txBox="1"/>
              <p:nvPr/>
            </p:nvSpPr>
            <p:spPr>
              <a:xfrm>
                <a:off x="7696199" y="5829300"/>
                <a:ext cx="181185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96199" y="5829300"/>
                <a:ext cx="181185" cy="276999"/>
              </a:xfrm>
              <a:prstGeom prst="rect">
                <a:avLst/>
              </a:prstGeom>
              <a:blipFill>
                <a:blip r:embed="rId13"/>
                <a:stretch>
                  <a:fillRect l="-23333" r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7" name="Picture 16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217841" y="102395"/>
            <a:ext cx="3539897" cy="1467371"/>
          </a:xfrm>
          <a:prstGeom prst="rect">
            <a:avLst/>
          </a:prstGeom>
        </p:spPr>
      </p:pic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33C12F-D11B-4AA4-9103-DF348809565A}" type="slidenum">
              <a:rPr lang="en-US" smtClean="0"/>
              <a:t>41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Rectangle 18"/>
              <p:cNvSpPr/>
              <p:nvPr/>
            </p:nvSpPr>
            <p:spPr>
              <a:xfrm>
                <a:off x="10022840" y="5483424"/>
                <a:ext cx="1921936" cy="98405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f>
                                  <m:fPr>
                                    <m:type m:val="lin"/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i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i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e>
                              <m:e>
                                <m:r>
                                  <a:rPr lang="en-US" i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f>
                                  <m:fPr>
                                    <m:type m:val="lin"/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i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i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e>
                              <m:e>
                                <m:f>
                                  <m:fPr>
                                    <m:type m:val="lin"/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i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i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e>
                              <m:e>
                                <m:r>
                                  <a:rPr lang="en-US" i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f>
                                  <m:fPr>
                                    <m:type m:val="lin"/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i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i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e>
                              <m:e>
                                <m:r>
                                  <a:rPr lang="en-US" i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i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9" name="Rectangle 1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22840" y="5483424"/>
                <a:ext cx="1921936" cy="984052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Rectangle 9"/>
          <p:cNvSpPr/>
          <p:nvPr/>
        </p:nvSpPr>
        <p:spPr>
          <a:xfrm>
            <a:off x="9827909" y="5803362"/>
            <a:ext cx="42191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ym typeface="Wingdings" panose="05000000000000000000" pitchFamily="2" charset="2"/>
              </a:rPr>
              <a:t></a:t>
            </a:r>
            <a:endParaRPr lang="en-US" dirty="0"/>
          </a:p>
        </p:txBody>
      </p:sp>
      <p:pic>
        <p:nvPicPr>
          <p:cNvPr id="20" name="Picture 19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04275" y="5694257"/>
            <a:ext cx="2333487" cy="6316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531066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Pagerank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“Flow” model	</a:t>
            </a:r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6198" y="2030449"/>
            <a:ext cx="9899604" cy="4294151"/>
          </a:xfrm>
          <a:prstGeom prst="rect">
            <a:avLst/>
          </a:prstGeo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33C12F-D11B-4AA4-9103-DF348809565A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622853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Pagerank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“Flow” model	</a:t>
            </a:r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316" y="1811497"/>
            <a:ext cx="5993555" cy="248447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895350" y="4664075"/>
                <a:ext cx="1921936" cy="98405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f>
                                  <m:fPr>
                                    <m:type m:val="lin"/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i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i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e>
                              <m:e>
                                <m:r>
                                  <a:rPr lang="en-US" i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f>
                                  <m:fPr>
                                    <m:type m:val="lin"/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i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i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e>
                              <m:e>
                                <m:f>
                                  <m:fPr>
                                    <m:type m:val="lin"/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i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i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e>
                              <m:e>
                                <m:r>
                                  <a:rPr lang="en-US" i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f>
                                  <m:fPr>
                                    <m:type m:val="lin"/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i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i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e>
                              <m:e>
                                <m:r>
                                  <a:rPr lang="en-US" i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i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5350" y="4664075"/>
                <a:ext cx="1921936" cy="98405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/>
              <p:cNvSpPr/>
              <p:nvPr/>
            </p:nvSpPr>
            <p:spPr>
              <a:xfrm>
                <a:off x="2817286" y="4690701"/>
                <a:ext cx="859364" cy="98860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2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sz="2200" i="1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sz="2200"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sSub>
                                <m:sSubPr>
                                  <m:ctrlP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  <m:sub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sub>
                              </m:sSub>
                            </m:e>
                            <m:e>
                              <m:r>
                                <a:rPr lang="en-US" sz="2200" i="0"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sSub>
                                <m:sSubPr>
                                  <m:ctrlP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  <m:sub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sub>
                              </m:sSub>
                            </m:e>
                            <m:e>
                              <m:r>
                                <a:rPr lang="en-US" sz="2200" i="0"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sSub>
                                <m:sSubPr>
                                  <m:ctrlP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  <m:sub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sub>
                              </m:sSub>
                            </m:e>
                          </m:eqArr>
                        </m:e>
                      </m:d>
                    </m:oMath>
                  </m:oMathPara>
                </a14:m>
                <a:endParaRPr lang="en-US" sz="2200" dirty="0"/>
              </a:p>
            </p:txBody>
          </p:sp>
        </mc:Choice>
        <mc:Fallback xmlns="">
          <p:sp>
            <p:nvSpPr>
              <p:cNvPr id="8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17286" y="4690701"/>
                <a:ext cx="859364" cy="98860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/>
              <p:cNvSpPr/>
              <p:nvPr/>
            </p:nvSpPr>
            <p:spPr>
              <a:xfrm>
                <a:off x="5743791" y="4690700"/>
                <a:ext cx="859364" cy="98860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2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sz="2200" i="1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sz="2200"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sSub>
                                <m:sSubPr>
                                  <m:ctrlP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  <m:sub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sub>
                              </m:sSub>
                            </m:e>
                            <m:e>
                              <m:r>
                                <a:rPr lang="en-US" sz="2200" i="0"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sSub>
                                <m:sSubPr>
                                  <m:ctrlP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  <m:sub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sub>
                              </m:sSub>
                            </m:e>
                            <m:e>
                              <m:r>
                                <a:rPr lang="en-US" sz="2200" i="0"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sSub>
                                <m:sSubPr>
                                  <m:ctrlP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  <m:sub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sub>
                              </m:sSub>
                            </m:e>
                          </m:eqArr>
                        </m:e>
                      </m:d>
                    </m:oMath>
                  </m:oMathPara>
                </a14:m>
                <a:endParaRPr lang="en-US" sz="2200" dirty="0"/>
              </a:p>
            </p:txBody>
          </p:sp>
        </mc:Choice>
        <mc:Fallback xmlns="">
          <p:sp>
            <p:nvSpPr>
              <p:cNvPr id="9" name="Rectangle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43791" y="4690700"/>
                <a:ext cx="859364" cy="98860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3811909" y="4993888"/>
                <a:ext cx="181185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1909" y="4993888"/>
                <a:ext cx="181185" cy="276999"/>
              </a:xfrm>
              <a:prstGeom prst="rect">
                <a:avLst/>
              </a:prstGeom>
              <a:blipFill>
                <a:blip r:embed="rId7"/>
                <a:stretch>
                  <a:fillRect l="-23333" r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/>
              <p:cNvSpPr/>
              <p:nvPr/>
            </p:nvSpPr>
            <p:spPr>
              <a:xfrm>
                <a:off x="4096359" y="4390169"/>
                <a:ext cx="1281056" cy="158966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f>
                                <m:f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𝑟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𝑤</m:t>
                                      </m:r>
                                    </m:sub>
                                  </m:sSub>
                                </m:num>
                                <m:den>
                                  <m:r>
                                    <a:rPr lang="en-US" i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  <m:r>
                                <a:rPr lang="en-US" i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sub>
                              </m:sSub>
                            </m:e>
                            <m:e>
                              <m:r>
                                <a:rPr lang="en-US" i="0"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f>
                                <m:f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𝑟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𝑣</m:t>
                                      </m:r>
                                    </m:sub>
                                  </m:sSub>
                                </m:num>
                                <m:den>
                                  <m:r>
                                    <a:rPr lang="en-US" i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  <m:r>
                                <a:rPr lang="en-US" i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𝑟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𝑤</m:t>
                                      </m:r>
                                    </m:sub>
                                  </m:sSub>
                                </m:num>
                                <m:den>
                                  <m:r>
                                    <a:rPr lang="en-US" i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  <m:e>
                              <m:r>
                                <a:rPr lang="en-US" i="0"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f>
                                <m:f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𝑟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𝑣</m:t>
                                      </m:r>
                                    </m:sub>
                                  </m:sSub>
                                </m:num>
                                <m:den>
                                  <m:r>
                                    <a:rPr lang="en-US" i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eqAr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2" name="Rectangle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96359" y="4390169"/>
                <a:ext cx="1281056" cy="1589666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5548205" y="5046503"/>
                <a:ext cx="181185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48205" y="5046503"/>
                <a:ext cx="181185" cy="276999"/>
              </a:xfrm>
              <a:prstGeom prst="rect">
                <a:avLst/>
              </a:prstGeom>
              <a:blipFill>
                <a:blip r:embed="rId9"/>
                <a:stretch>
                  <a:fillRect l="-23333" r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4" name="Picture 13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570603" y="6091408"/>
            <a:ext cx="571429" cy="380952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028911" y="6129503"/>
            <a:ext cx="323810" cy="342857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011568" y="6129503"/>
            <a:ext cx="323810" cy="342857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467269" y="6191266"/>
            <a:ext cx="323810" cy="266667"/>
          </a:xfrm>
          <a:prstGeom prst="rect">
            <a:avLst/>
          </a:prstGeo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33C12F-D11B-4AA4-9103-DF348809565A}" type="slidenum">
              <a:rPr lang="en-US" smtClean="0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57700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Pagerank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Matrix formulation</a:t>
            </a:r>
          </a:p>
          <a:p>
            <a:pPr marL="0" indent="0">
              <a:buNone/>
            </a:pPr>
            <a:r>
              <a:rPr lang="en-US" dirty="0"/>
              <a:t>	</a:t>
            </a:r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0723" y="2756154"/>
            <a:ext cx="8105226" cy="2077104"/>
          </a:xfrm>
          <a:prstGeom prst="rect">
            <a:avLst/>
          </a:prstGeo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33C12F-D11B-4AA4-9103-DF348809565A}" type="slidenum">
              <a:rPr lang="en-US" smtClean="0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744936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Pagerank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00B0F0"/>
                </a:solidFill>
              </a:rPr>
              <a:t>Power iteration method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1280" y="2034562"/>
            <a:ext cx="6381345" cy="2419234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84446" y="5136554"/>
            <a:ext cx="4493054" cy="1524845"/>
          </a:xfrm>
          <a:prstGeom prst="rect">
            <a:avLst/>
          </a:prstGeom>
        </p:spPr>
      </p:pic>
      <p:cxnSp>
        <p:nvCxnSpPr>
          <p:cNvPr id="16" name="Straight Arrow Connector 15"/>
          <p:cNvCxnSpPr>
            <a:cxnSpLocks/>
          </p:cNvCxnSpPr>
          <p:nvPr/>
        </p:nvCxnSpPr>
        <p:spPr>
          <a:xfrm>
            <a:off x="3176265" y="4242165"/>
            <a:ext cx="1911377" cy="76006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8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33C12F-D11B-4AA4-9103-DF348809565A}" type="slidenum">
              <a:rPr lang="en-US" smtClean="0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02864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Pagerank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Power iteration method: Example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33C12F-D11B-4AA4-9103-DF348809565A}" type="slidenum">
              <a:rPr lang="en-US" smtClean="0"/>
              <a:t>46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3863" y="1951158"/>
            <a:ext cx="9460937" cy="3574983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92915" y="5719816"/>
            <a:ext cx="6606170" cy="6762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4727916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Pagerank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 Exercise 1: Example of an adjacency matrix representing the links between 5 websites (X, Y, Z, W, V)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33C12F-D11B-4AA4-9103-DF348809565A}" type="slidenum">
              <a:rPr lang="en-US" smtClean="0"/>
              <a:t>47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3"/>
          <a:srcRect l="36076" t="34262" r="16551" b="41096"/>
          <a:stretch/>
        </p:blipFill>
        <p:spPr>
          <a:xfrm>
            <a:off x="801288" y="2671435"/>
            <a:ext cx="11255245" cy="3293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8278918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Pagerank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 Exercise 2: Example of an adjacency matrix representing the links between 7 websites (A, B, C, D, E, F, G)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33C12F-D11B-4AA4-9103-DF348809565A}" type="slidenum">
              <a:rPr lang="en-US" smtClean="0"/>
              <a:t>48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2"/>
          <a:srcRect l="36076" t="33418" r="16646" b="34009"/>
          <a:stretch/>
        </p:blipFill>
        <p:spPr>
          <a:xfrm>
            <a:off x="1341578" y="2581154"/>
            <a:ext cx="9292555" cy="36013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2768410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Pageranks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lnSpc>
                <a:spcPct val="200000"/>
              </a:lnSpc>
              <a:buNone/>
            </a:pPr>
            <a:r>
              <a:rPr lang="en-US" dirty="0" err="1"/>
              <a:t>Pagerank</a:t>
            </a:r>
            <a:r>
              <a:rPr lang="en-US" dirty="0"/>
              <a:t>: Problems</a:t>
            </a:r>
          </a:p>
          <a:p>
            <a:pPr marL="514350" indent="-514350">
              <a:lnSpc>
                <a:spcPct val="200000"/>
              </a:lnSpc>
              <a:buFont typeface="+mj-lt"/>
              <a:buAutoNum type="arabicPeriod"/>
            </a:pPr>
            <a:r>
              <a:rPr lang="en-US" dirty="0">
                <a:solidFill>
                  <a:srgbClr val="00B0F0"/>
                </a:solidFill>
              </a:rPr>
              <a:t>Dead ends </a:t>
            </a:r>
            <a:r>
              <a:rPr lang="en-US" dirty="0"/>
              <a:t>(have no out-links)</a:t>
            </a:r>
          </a:p>
          <a:p>
            <a:pPr marL="514350" indent="-514350">
              <a:lnSpc>
                <a:spcPct val="200000"/>
              </a:lnSpc>
              <a:buFont typeface="+mj-lt"/>
              <a:buAutoNum type="arabicPeriod"/>
            </a:pPr>
            <a:r>
              <a:rPr lang="en-US" dirty="0">
                <a:solidFill>
                  <a:srgbClr val="00B0F0"/>
                </a:solidFill>
              </a:rPr>
              <a:t>Spider traps </a:t>
            </a:r>
            <a:r>
              <a:rPr lang="en-US" dirty="0"/>
              <a:t>(all out-links are within the group)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33C12F-D11B-4AA4-9103-DF348809565A}" type="slidenum">
              <a:rPr lang="en-US" smtClean="0"/>
              <a:t>49</a:t>
            </a:fld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609600" y="6372781"/>
            <a:ext cx="109728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[3] Mining of Massive Datasets, Jure </a:t>
            </a:r>
            <a:r>
              <a:rPr lang="en-US" dirty="0" err="1"/>
              <a:t>Leskovec</a:t>
            </a:r>
            <a:r>
              <a:rPr lang="en-US" dirty="0"/>
              <a:t>, Anand Rajaraman, Jeff Ullman Stanford University</a:t>
            </a:r>
          </a:p>
        </p:txBody>
      </p:sp>
    </p:spTree>
    <p:extLst>
      <p:ext uri="{BB962C8B-B14F-4D97-AF65-F5344CB8AC3E}">
        <p14:creationId xmlns:p14="http://schemas.microsoft.com/office/powerpoint/2010/main" val="2019338890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Pageranks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958849"/>
            <a:ext cx="10972800" cy="5365751"/>
          </a:xfrm>
        </p:spPr>
        <p:txBody>
          <a:bodyPr/>
          <a:lstStyle/>
          <a:p>
            <a:r>
              <a:rPr lang="en-US" dirty="0">
                <a:solidFill>
                  <a:srgbClr val="00B0F0"/>
                </a:solidFill>
              </a:rPr>
              <a:t>Dead ends problem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33C12F-D11B-4AA4-9103-DF348809565A}" type="slidenum">
              <a:rPr lang="en-US" smtClean="0"/>
              <a:t>50</a:t>
            </a:fld>
            <a:endParaRPr lang="en-US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23744" y="1441938"/>
            <a:ext cx="6877456" cy="50030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2408938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Pageranks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00B0F0"/>
                </a:solidFill>
              </a:rPr>
              <a:t>Spider traps problem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33C12F-D11B-4AA4-9103-DF348809565A}" type="slidenum">
              <a:rPr lang="en-US" smtClean="0"/>
              <a:t>51</a:t>
            </a:fld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58462" y="1549962"/>
            <a:ext cx="8212015" cy="4968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2471535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Pagerank</a:t>
            </a:r>
            <a:endParaRPr lang="en-US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609600" y="970518"/>
            <a:ext cx="6780463" cy="2012950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33C12F-D11B-4AA4-9103-DF348809565A}" type="slidenum">
              <a:rPr lang="en-US" smtClean="0"/>
              <a:t>52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0563" y="1870655"/>
            <a:ext cx="2035252" cy="1009613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5"/>
          <a:srcRect b="44184"/>
          <a:stretch/>
        </p:blipFill>
        <p:spPr>
          <a:xfrm>
            <a:off x="718818" y="3595956"/>
            <a:ext cx="7912102" cy="1870156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33883" y="4040735"/>
            <a:ext cx="3392187" cy="1033982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609600" y="6555344"/>
            <a:ext cx="109728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[3] Mining of Massive Datasets, Jure </a:t>
            </a:r>
            <a:r>
              <a:rPr lang="en-US" dirty="0" err="1"/>
              <a:t>Leskovec</a:t>
            </a:r>
            <a:r>
              <a:rPr lang="en-US" dirty="0"/>
              <a:t>, Anand Rajaraman, Jeff Ullman Stanford University</a:t>
            </a:r>
          </a:p>
        </p:txBody>
      </p:sp>
    </p:spTree>
    <p:extLst>
      <p:ext uri="{BB962C8B-B14F-4D97-AF65-F5344CB8AC3E}">
        <p14:creationId xmlns:p14="http://schemas.microsoft.com/office/powerpoint/2010/main" val="4116464120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Pagerank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33C12F-D11B-4AA4-9103-DF348809565A}" type="slidenum">
              <a:rPr lang="en-US" smtClean="0"/>
              <a:t>53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5825" y="1042856"/>
            <a:ext cx="10039350" cy="551284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85825" y="1295400"/>
            <a:ext cx="20658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ym typeface="Symbol" panose="05050102010706020507" pitchFamily="18" charset="2"/>
              </a:rPr>
              <a:t> = 0.8</a:t>
            </a:r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3825692234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0BA2EE-A1EA-4CC8-BCBE-BDBC75378A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Pagerank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57FFAF-C49F-4532-A8AC-EF5F89626B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33C12F-D11B-4AA4-9103-DF348809565A}" type="slidenum">
              <a:rPr lang="en-US" smtClean="0"/>
              <a:t>54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A6B86C4-D4B2-4870-B2CE-E5C905D40FC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1857" t="16566" r="57983" b="48403"/>
          <a:stretch/>
        </p:blipFill>
        <p:spPr>
          <a:xfrm>
            <a:off x="1737360" y="2956560"/>
            <a:ext cx="2849880" cy="2407920"/>
          </a:xfrm>
          <a:prstGeom prst="rect">
            <a:avLst/>
          </a:prstGeom>
        </p:spPr>
      </p:pic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2CE82856-332D-4028-8FC4-CB475E10CFF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53139" t="4239" r="11962" b="63263"/>
          <a:stretch/>
        </p:blipFill>
        <p:spPr>
          <a:xfrm>
            <a:off x="5675948" y="2846070"/>
            <a:ext cx="3857627" cy="26289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2603218-8A0B-4CAB-A0AD-4B8AF2849D5D}"/>
              </a:ext>
            </a:extLst>
          </p:cNvPr>
          <p:cNvSpPr txBox="1"/>
          <p:nvPr/>
        </p:nvSpPr>
        <p:spPr>
          <a:xfrm>
            <a:off x="822960" y="1247298"/>
            <a:ext cx="611124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600" b="1" dirty="0"/>
              <a:t>Exercise 3: The google Matrix </a:t>
            </a:r>
          </a:p>
        </p:txBody>
      </p:sp>
    </p:spTree>
    <p:extLst>
      <p:ext uri="{BB962C8B-B14F-4D97-AF65-F5344CB8AC3E}">
        <p14:creationId xmlns:p14="http://schemas.microsoft.com/office/powerpoint/2010/main" val="2003552929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Pagerank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</a:t>
            </a:r>
            <a:r>
              <a:rPr lang="en-US" dirty="0" err="1"/>
              <a:t>pagerank</a:t>
            </a:r>
            <a:r>
              <a:rPr lang="en-US" dirty="0"/>
              <a:t> </a:t>
            </a:r>
            <a:r>
              <a:rPr lang="en-US" dirty="0" err="1"/>
              <a:t>Algrorithm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33C12F-D11B-4AA4-9103-DF348809565A}" type="slidenum">
              <a:rPr lang="en-US" smtClean="0"/>
              <a:t>55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3695" y="1676358"/>
            <a:ext cx="8362950" cy="4691662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609600" y="6518275"/>
            <a:ext cx="109728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[3] Mining of Massive Datasets, Jure </a:t>
            </a:r>
            <a:r>
              <a:rPr lang="en-US" dirty="0" err="1"/>
              <a:t>Leskovec</a:t>
            </a:r>
            <a:r>
              <a:rPr lang="en-US" dirty="0"/>
              <a:t>, Anand Rajaraman, Jeff Ullman Stanford University</a:t>
            </a:r>
          </a:p>
        </p:txBody>
      </p:sp>
    </p:spTree>
    <p:extLst>
      <p:ext uri="{BB962C8B-B14F-4D97-AF65-F5344CB8AC3E}">
        <p14:creationId xmlns:p14="http://schemas.microsoft.com/office/powerpoint/2010/main" val="1463074409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Pagerank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Example: </a:t>
            </a:r>
            <a:r>
              <a:rPr lang="en-US" dirty="0" err="1"/>
              <a:t>pagerank</a:t>
            </a:r>
            <a:r>
              <a:rPr lang="en-US" dirty="0"/>
              <a:t> </a:t>
            </a:r>
            <a:r>
              <a:rPr lang="en-US" dirty="0" err="1"/>
              <a:t>Algrorithm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33C12F-D11B-4AA4-9103-DF348809565A}" type="slidenum">
              <a:rPr lang="en-US" smtClean="0"/>
              <a:t>56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03F9A4C-D5AC-4AB3-9C4A-99DED198560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6076" t="24304" r="16740" b="54093"/>
          <a:stretch/>
        </p:blipFill>
        <p:spPr>
          <a:xfrm>
            <a:off x="693921" y="2222197"/>
            <a:ext cx="10804158" cy="27825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788616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Pagerank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Example: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33C12F-D11B-4AA4-9103-DF348809565A}" type="slidenum">
              <a:rPr lang="en-US" smtClean="0"/>
              <a:t>57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9962BC5-ED0D-4483-95E8-13ECC993EFD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6076" t="24304" r="16740" b="54093"/>
          <a:stretch/>
        </p:blipFill>
        <p:spPr>
          <a:xfrm>
            <a:off x="6597875" y="1025526"/>
            <a:ext cx="5458658" cy="140585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62B79C1-F1C3-4ED0-8E00-05527DC00C64}"/>
              </a:ext>
            </a:extLst>
          </p:cNvPr>
          <p:cNvSpPr txBox="1"/>
          <p:nvPr/>
        </p:nvSpPr>
        <p:spPr>
          <a:xfrm>
            <a:off x="1277597" y="2134275"/>
            <a:ext cx="6440905" cy="44935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dirty="0"/>
              <a:t>    r(0)=[0.25,0.25,0.25,0.25]</a:t>
            </a:r>
          </a:p>
          <a:p>
            <a:r>
              <a:rPr lang="en-US" sz="2200" b="1" dirty="0" err="1"/>
              <a:t>Lần</a:t>
            </a:r>
            <a:r>
              <a:rPr lang="en-US" sz="2200" b="1" dirty="0"/>
              <a:t> 1: </a:t>
            </a:r>
          </a:p>
          <a:p>
            <a:r>
              <a:rPr lang="en-US" sz="2200" dirty="0"/>
              <a:t>   r(0)=[0.20,0.20,0.10,0.30]</a:t>
            </a:r>
          </a:p>
          <a:p>
            <a:r>
              <a:rPr lang="en-US" sz="2200" dirty="0"/>
              <a:t>   S=0.20+0.20+0.10+0.30=0.80</a:t>
            </a:r>
          </a:p>
          <a:p>
            <a:r>
              <a:rPr lang="pt-BR" sz="2200" dirty="0"/>
              <a:t>   r(1)=r(0)+(1-0.8)/4 = [0.25,0.25,0.15,0.35]</a:t>
            </a:r>
          </a:p>
          <a:p>
            <a:r>
              <a:rPr lang="pt-BR" sz="2200" b="1" dirty="0"/>
              <a:t>Lần 2:</a:t>
            </a:r>
          </a:p>
          <a:p>
            <a:r>
              <a:rPr lang="pt-BR" sz="2200" dirty="0"/>
              <a:t>   r(1)=</a:t>
            </a:r>
            <a:r>
              <a:rPr lang="en-US" sz="2200" dirty="0"/>
              <a:t>[0.24,0.24,0.10,0.22]</a:t>
            </a:r>
          </a:p>
          <a:p>
            <a:r>
              <a:rPr lang="en-US" sz="2200" dirty="0"/>
              <a:t>   S=0.8</a:t>
            </a:r>
          </a:p>
          <a:p>
            <a:r>
              <a:rPr lang="pt-BR" sz="2200" dirty="0"/>
              <a:t>   r(2)=r(1)+(1-0.8)/4 =</a:t>
            </a:r>
            <a:r>
              <a:rPr lang="en-US" sz="2200" dirty="0"/>
              <a:t>[0.29,0.29,0.15,0.27]</a:t>
            </a:r>
          </a:p>
          <a:p>
            <a:r>
              <a:rPr lang="pt-BR" sz="2200" b="1" dirty="0"/>
              <a:t>Lần 3:</a:t>
            </a:r>
          </a:p>
          <a:p>
            <a:r>
              <a:rPr lang="pt-BR" sz="2200" dirty="0"/>
              <a:t>   r(2)=</a:t>
            </a:r>
            <a:r>
              <a:rPr lang="en-US" sz="2200" dirty="0"/>
              <a:t>[0.224,0.224,0.116,0.236]</a:t>
            </a:r>
          </a:p>
          <a:p>
            <a:r>
              <a:rPr lang="en-US" sz="2200" dirty="0"/>
              <a:t>   S=0.8</a:t>
            </a:r>
          </a:p>
          <a:p>
            <a:r>
              <a:rPr lang="pt-BR" sz="2200" dirty="0"/>
              <a:t>   r(3)=r(2)+(1-0.8)/4 =</a:t>
            </a:r>
            <a:r>
              <a:rPr lang="en-US" sz="2200" dirty="0"/>
              <a:t>[0.274,0.274,0.166,0.286]</a:t>
            </a:r>
          </a:p>
        </p:txBody>
      </p:sp>
    </p:spTree>
    <p:extLst>
      <p:ext uri="{BB962C8B-B14F-4D97-AF65-F5344CB8AC3E}">
        <p14:creationId xmlns:p14="http://schemas.microsoft.com/office/powerpoint/2010/main" val="1224784198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0BA2EE-A1EA-4CC8-BCBE-BDBC75378A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Pagerank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57FFAF-C49F-4532-A8AC-EF5F89626B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33C12F-D11B-4AA4-9103-DF348809565A}" type="slidenum">
              <a:rPr lang="en-US" smtClean="0"/>
              <a:t>58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A6B86C4-D4B2-4870-B2CE-E5C905D40FC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1857" t="16566" r="57983" b="48403"/>
          <a:stretch/>
        </p:blipFill>
        <p:spPr>
          <a:xfrm>
            <a:off x="1737360" y="2956560"/>
            <a:ext cx="2849880" cy="2407920"/>
          </a:xfrm>
          <a:prstGeom prst="rect">
            <a:avLst/>
          </a:prstGeom>
        </p:spPr>
      </p:pic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2CE82856-332D-4028-8FC4-CB475E10CFF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53139" t="4239" r="11962" b="63263"/>
          <a:stretch/>
        </p:blipFill>
        <p:spPr>
          <a:xfrm>
            <a:off x="5675948" y="2846070"/>
            <a:ext cx="3857627" cy="26289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2603218-8A0B-4CAB-A0AD-4B8AF2849D5D}"/>
              </a:ext>
            </a:extLst>
          </p:cNvPr>
          <p:cNvSpPr txBox="1"/>
          <p:nvPr/>
        </p:nvSpPr>
        <p:spPr>
          <a:xfrm>
            <a:off x="822960" y="1247298"/>
            <a:ext cx="611124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600" b="1" dirty="0"/>
              <a:t>Exercise 4: </a:t>
            </a:r>
            <a:r>
              <a:rPr lang="en-US" sz="2600" dirty="0"/>
              <a:t>The </a:t>
            </a:r>
            <a:r>
              <a:rPr lang="en-US" sz="2600" dirty="0" err="1"/>
              <a:t>pagerank</a:t>
            </a:r>
            <a:r>
              <a:rPr lang="en-US" sz="2600" dirty="0"/>
              <a:t> </a:t>
            </a:r>
            <a:r>
              <a:rPr lang="en-US" sz="2600" dirty="0" err="1"/>
              <a:t>Algrorithm</a:t>
            </a:r>
            <a:r>
              <a:rPr lang="en-US" sz="26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575249819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HITS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025527"/>
            <a:ext cx="10972800" cy="5299074"/>
          </a:xfrm>
        </p:spPr>
        <p:txBody>
          <a:bodyPr/>
          <a:lstStyle/>
          <a:p>
            <a:r>
              <a:rPr lang="en-US" dirty="0"/>
              <a:t> HITS (Hypertext-Induced Topic Selection)</a:t>
            </a:r>
          </a:p>
          <a:p>
            <a:pPr marL="0" indent="0">
              <a:buNone/>
            </a:pPr>
            <a:r>
              <a:rPr lang="en-US" dirty="0"/>
              <a:t>Ranking:</a:t>
            </a:r>
          </a:p>
          <a:p>
            <a:pPr marL="0" indent="0">
              <a:buNone/>
            </a:pPr>
            <a:r>
              <a:rPr lang="en-US" dirty="0"/>
              <a:t>    1. </a:t>
            </a:r>
            <a:r>
              <a:rPr lang="en-US" dirty="0">
                <a:solidFill>
                  <a:srgbClr val="00B0F0"/>
                </a:solidFill>
              </a:rPr>
              <a:t>Authority</a:t>
            </a:r>
            <a:r>
              <a:rPr lang="en-US" dirty="0"/>
              <a:t>:</a:t>
            </a:r>
          </a:p>
          <a:p>
            <a:pPr marL="0" indent="0">
              <a:buNone/>
            </a:pPr>
            <a:r>
              <a:rPr lang="en-US" dirty="0"/>
              <a:t>	 Sum of hub scores of pages pointing to it</a:t>
            </a:r>
          </a:p>
          <a:p>
            <a:pPr marL="0" indent="0">
              <a:buNone/>
            </a:pPr>
            <a:r>
              <a:rPr lang="en-US" dirty="0"/>
              <a:t>    </a:t>
            </a:r>
          </a:p>
          <a:p>
            <a:pPr marL="0" indent="0">
              <a:buNone/>
            </a:pPr>
            <a:r>
              <a:rPr lang="en-US" dirty="0"/>
              <a:t>    2. </a:t>
            </a:r>
            <a:r>
              <a:rPr lang="en-US" dirty="0">
                <a:solidFill>
                  <a:srgbClr val="00B0F0"/>
                </a:solidFill>
              </a:rPr>
              <a:t>Hub</a:t>
            </a:r>
            <a:r>
              <a:rPr lang="en-US" dirty="0"/>
              <a:t>:</a:t>
            </a:r>
          </a:p>
          <a:p>
            <a:pPr marL="0" indent="0">
              <a:buNone/>
            </a:pPr>
            <a:r>
              <a:rPr lang="en-US" dirty="0"/>
              <a:t>	 Sum of authority scores of pages it points to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33C12F-D11B-4AA4-9103-DF348809565A}" type="slidenum">
              <a:rPr lang="en-US" smtClean="0"/>
              <a:t>59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3"/>
          <a:srcRect l="5147" r="14147"/>
          <a:stretch/>
        </p:blipFill>
        <p:spPr>
          <a:xfrm>
            <a:off x="9403080" y="1688948"/>
            <a:ext cx="2377440" cy="2273686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4"/>
          <a:srcRect l="4476" r="7177"/>
          <a:stretch/>
        </p:blipFill>
        <p:spPr>
          <a:xfrm>
            <a:off x="9403080" y="3918832"/>
            <a:ext cx="2377440" cy="2273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1534176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HITS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800" dirty="0"/>
              <a:t>Algorithm HITS:</a:t>
            </a:r>
          </a:p>
          <a:p>
            <a:r>
              <a:rPr lang="en-US" sz="2800" b="1" dirty="0"/>
              <a:t>Step 1</a:t>
            </a:r>
            <a:r>
              <a:rPr lang="en-US" sz="2800" dirty="0"/>
              <a:t>: </a:t>
            </a:r>
            <a:r>
              <a:rPr lang="en-US" sz="2800" b="1" dirty="0"/>
              <a:t>Create the Initial Set</a:t>
            </a:r>
          </a:p>
          <a:p>
            <a:pPr marL="0" indent="0">
              <a:buNone/>
            </a:pPr>
            <a:r>
              <a:rPr lang="en-US" sz="2800" b="1" dirty="0"/>
              <a:t>      Input:</a:t>
            </a:r>
            <a:r>
              <a:rPr lang="en-US" sz="2800" dirty="0"/>
              <a:t> A search query or a specific topic.</a:t>
            </a:r>
          </a:p>
          <a:p>
            <a:pPr marL="0" indent="0">
              <a:buNone/>
            </a:pPr>
            <a:r>
              <a:rPr lang="en-US" sz="2800" b="1" dirty="0"/>
              <a:t>      Create the Initial Set:</a:t>
            </a:r>
            <a:r>
              <a:rPr lang="en-US" sz="2800" dirty="0"/>
              <a:t> Start by creating an initial set of web pages related to the query.</a:t>
            </a:r>
          </a:p>
          <a:p>
            <a:r>
              <a:rPr lang="en-US" sz="2800" b="1" dirty="0"/>
              <a:t>Step 2: Construct the Link Graph</a:t>
            </a:r>
          </a:p>
          <a:p>
            <a:pPr marL="0" indent="0">
              <a:buNone/>
            </a:pPr>
            <a:r>
              <a:rPr lang="en-US" sz="2800" b="1" dirty="0"/>
              <a:t>      Build the Link Graph:</a:t>
            </a:r>
            <a:r>
              <a:rPr lang="en-US" sz="2800" dirty="0"/>
              <a:t> From the initial set, build a link graph</a:t>
            </a:r>
          </a:p>
          <a:p>
            <a:r>
              <a:rPr lang="en-US" sz="2800" b="1" dirty="0"/>
              <a:t>Step 3</a:t>
            </a:r>
            <a:r>
              <a:rPr lang="en-US" sz="2800" dirty="0"/>
              <a:t>: Initialize Hub and Authority Scores</a:t>
            </a:r>
            <a:endParaRPr lang="en-US" sz="2800" dirty="0">
              <a:solidFill>
                <a:srgbClr val="00B0F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33C12F-D11B-4AA4-9103-DF348809565A}" type="slidenum">
              <a:rPr lang="en-US" smtClean="0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156693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HITS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b="1" dirty="0"/>
              <a:t>Step 4: Update Hub and Authority Scores</a:t>
            </a:r>
          </a:p>
          <a:p>
            <a:endParaRPr lang="en-US" sz="2800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33C12F-D11B-4AA4-9103-DF348809565A}" type="slidenum">
              <a:rPr lang="en-US" smtClean="0"/>
              <a:t>61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3"/>
          <a:srcRect l="38639" t="32574" r="16930" b="19663"/>
          <a:stretch/>
        </p:blipFill>
        <p:spPr>
          <a:xfrm>
            <a:off x="1321097" y="1652518"/>
            <a:ext cx="9143703" cy="5135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0281331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HITS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594338"/>
            <a:ext cx="10972800" cy="4273062"/>
          </a:xfrm>
        </p:spPr>
        <p:txBody>
          <a:bodyPr/>
          <a:lstStyle/>
          <a:p>
            <a:r>
              <a:rPr lang="en-US" sz="2800" b="1" dirty="0"/>
              <a:t>Step 5:</a:t>
            </a:r>
            <a:r>
              <a:rPr lang="en-US" sz="2800" dirty="0"/>
              <a:t> Normalize the Scores</a:t>
            </a:r>
          </a:p>
          <a:p>
            <a:r>
              <a:rPr lang="en-US" sz="2800" b="1" dirty="0"/>
              <a:t>Step 6: </a:t>
            </a:r>
            <a:r>
              <a:rPr lang="en-US" sz="2800" dirty="0"/>
              <a:t>Convergence</a:t>
            </a:r>
          </a:p>
          <a:p>
            <a:pPr marL="0" indent="0">
              <a:buNone/>
            </a:pPr>
            <a:r>
              <a:rPr lang="en-US" sz="2800" dirty="0"/>
              <a:t>	Repeat Step 4 and Step 5 until the scores converge</a:t>
            </a:r>
          </a:p>
          <a:p>
            <a:r>
              <a:rPr lang="en-US" sz="2800" b="1" dirty="0"/>
              <a:t>Step 7</a:t>
            </a:r>
            <a:r>
              <a:rPr lang="en-US" sz="2800" dirty="0"/>
              <a:t>: Ranking and Results</a:t>
            </a:r>
          </a:p>
          <a:p>
            <a:pPr marL="0" indent="0">
              <a:buNone/>
            </a:pPr>
            <a:r>
              <a:rPr lang="en-US" altLang="en-US" sz="2800" b="1" dirty="0">
                <a:latin typeface="Arial" panose="020B0604020202020204" pitchFamily="34" charset="0"/>
              </a:rPr>
              <a:t>      Authorities:</a:t>
            </a:r>
            <a:r>
              <a:rPr lang="en-US" altLang="en-US" sz="2800" dirty="0">
                <a:latin typeface="Arial" panose="020B0604020202020204" pitchFamily="34" charset="0"/>
              </a:rPr>
              <a:t> Pages with high Authority scores are considered authoritative on the topic.</a:t>
            </a:r>
          </a:p>
          <a:p>
            <a:pPr marL="0" indent="0">
              <a:buNone/>
            </a:pPr>
            <a:r>
              <a:rPr lang="en-US" altLang="en-US" sz="2800" b="1" dirty="0">
                <a:latin typeface="Arial" panose="020B0604020202020204" pitchFamily="34" charset="0"/>
              </a:rPr>
              <a:t>      Hubs:</a:t>
            </a:r>
            <a:r>
              <a:rPr lang="en-US" altLang="en-US" sz="2800" dirty="0">
                <a:latin typeface="Arial" panose="020B0604020202020204" pitchFamily="34" charset="0"/>
              </a:rPr>
              <a:t> Pages with high Hub scores are those that effectively link to authoritative pages.</a:t>
            </a:r>
            <a:endParaRPr lang="en-US" sz="2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33C12F-D11B-4AA4-9103-DF348809565A}" type="slidenum">
              <a:rPr lang="en-US" smtClean="0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6318466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HITS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Example: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00B0F0"/>
                </a:solidFill>
              </a:rPr>
              <a:t>Authority?</a:t>
            </a:r>
          </a:p>
          <a:p>
            <a:pPr marL="0" indent="0">
              <a:buNone/>
            </a:pPr>
            <a:r>
              <a:rPr lang="en-US" dirty="0">
                <a:solidFill>
                  <a:srgbClr val="00B0F0"/>
                </a:solidFill>
              </a:rPr>
              <a:t>Hub?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33C12F-D11B-4AA4-9103-DF348809565A}" type="slidenum">
              <a:rPr lang="en-US" smtClean="0"/>
              <a:t>63</a:t>
            </a:fld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99252" y="1076324"/>
            <a:ext cx="5132861" cy="3472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4484522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0BA2EE-A1EA-4CC8-BCBE-BDBC75378A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HITS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57FFAF-C49F-4532-A8AC-EF5F89626B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33C12F-D11B-4AA4-9103-DF348809565A}" type="slidenum">
              <a:rPr lang="en-US" smtClean="0"/>
              <a:t>64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A6B86C4-D4B2-4870-B2CE-E5C905D40FC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1857" t="16566" r="57983" b="48403"/>
          <a:stretch/>
        </p:blipFill>
        <p:spPr>
          <a:xfrm>
            <a:off x="3878580" y="2104389"/>
            <a:ext cx="4358640" cy="368270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2603218-8A0B-4CAB-A0AD-4B8AF2849D5D}"/>
              </a:ext>
            </a:extLst>
          </p:cNvPr>
          <p:cNvSpPr txBox="1"/>
          <p:nvPr/>
        </p:nvSpPr>
        <p:spPr>
          <a:xfrm>
            <a:off x="822960" y="1247298"/>
            <a:ext cx="611124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600" b="1" dirty="0"/>
              <a:t>Exercise 5: </a:t>
            </a:r>
          </a:p>
        </p:txBody>
      </p:sp>
    </p:spTree>
    <p:extLst>
      <p:ext uri="{BB962C8B-B14F-4D97-AF65-F5344CB8AC3E}">
        <p14:creationId xmlns:p14="http://schemas.microsoft.com/office/powerpoint/2010/main" val="965910075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0BA2EE-A1EA-4CC8-BCBE-BDBC75378A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/>
              <a:t>HITS # PageRank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57FFAF-C49F-4532-A8AC-EF5F89626B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33C12F-D11B-4AA4-9103-DF348809565A}" type="slidenum">
              <a:rPr lang="en-US" smtClean="0"/>
              <a:t>65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2603218-8A0B-4CAB-A0AD-4B8AF2849D5D}"/>
              </a:ext>
            </a:extLst>
          </p:cNvPr>
          <p:cNvSpPr txBox="1"/>
          <p:nvPr/>
        </p:nvSpPr>
        <p:spPr>
          <a:xfrm>
            <a:off x="807720" y="1582340"/>
            <a:ext cx="10576560" cy="32932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600" b="1" dirty="0"/>
              <a:t>PageRank:</a:t>
            </a:r>
          </a:p>
          <a:p>
            <a:r>
              <a:rPr lang="en-US" sz="2600" dirty="0"/>
              <a:t>It is a global, query-independent link analysis algorithm.</a:t>
            </a:r>
          </a:p>
          <a:p>
            <a:r>
              <a:rPr lang="en-US" sz="2600" dirty="0"/>
              <a:t>It is not used directly for ranking, stored as a static feature.</a:t>
            </a:r>
          </a:p>
          <a:p>
            <a:endParaRPr lang="en-US" sz="2600" dirty="0"/>
          </a:p>
          <a:p>
            <a:r>
              <a:rPr lang="en-US" sz="2600" b="1" dirty="0"/>
              <a:t>HITS:</a:t>
            </a:r>
          </a:p>
          <a:p>
            <a:r>
              <a:rPr lang="en-US" sz="2600" dirty="0"/>
              <a:t>It is a query-dependent link analysis algorithm.</a:t>
            </a:r>
          </a:p>
          <a:p>
            <a:r>
              <a:rPr lang="en-US" sz="2600" dirty="0"/>
              <a:t>It is applied after a user query is issued, operating on a subset of pages relevant to the query.</a:t>
            </a:r>
          </a:p>
        </p:txBody>
      </p:sp>
    </p:spTree>
    <p:extLst>
      <p:ext uri="{BB962C8B-B14F-4D97-AF65-F5344CB8AC3E}">
        <p14:creationId xmlns:p14="http://schemas.microsoft.com/office/powerpoint/2010/main" val="3915786638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Graph and Large graph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Web graph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Link analysis</a:t>
            </a:r>
          </a:p>
          <a:p>
            <a:pPr marL="400050" lvl="1" indent="0">
              <a:buNone/>
            </a:pP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3.1. Introduce</a:t>
            </a:r>
          </a:p>
          <a:p>
            <a:pPr marL="400050" lvl="1" indent="0">
              <a:buNone/>
            </a:pP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3.2. Page rank algorithm</a:t>
            </a:r>
          </a:p>
          <a:p>
            <a:pPr marL="400050" lvl="1" indent="0">
              <a:buNone/>
            </a:pP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3.3. Page rank for massive data</a:t>
            </a:r>
          </a:p>
          <a:p>
            <a:pPr marL="400050" lvl="1" indent="0">
              <a:buNone/>
            </a:pP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3.4. Hits algorithm</a:t>
            </a:r>
          </a:p>
          <a:p>
            <a:pPr marL="400050" lvl="1" indent="0">
              <a:buNone/>
            </a:pPr>
            <a:r>
              <a:rPr lang="en-US" dirty="0"/>
              <a:t>3.5. Trust rank</a:t>
            </a:r>
          </a:p>
          <a:p>
            <a:pPr marL="400050" lvl="1" indent="0">
              <a:buNone/>
            </a:pPr>
            <a:r>
              <a:rPr lang="en-US" dirty="0"/>
              <a:t>3.6. Web spam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err="1">
                <a:solidFill>
                  <a:schemeClr val="bg1">
                    <a:lumMod val="65000"/>
                  </a:schemeClr>
                </a:solidFill>
              </a:rPr>
              <a:t>Conlusion</a:t>
            </a:r>
            <a:endParaRPr lang="en-US" dirty="0">
              <a:solidFill>
                <a:schemeClr val="bg1">
                  <a:lumMod val="65000"/>
                </a:schemeClr>
              </a:solidFill>
            </a:endParaRPr>
          </a:p>
          <a:p>
            <a:pPr marL="514350" indent="-514350">
              <a:buFont typeface="+mj-lt"/>
              <a:buAutoNum type="arabicPeriod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33C12F-D11B-4AA4-9103-DF348809565A}" type="slidenum">
              <a:rPr lang="en-US" smtClean="0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3161323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Trust rank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467853"/>
            <a:ext cx="11002028" cy="4338587"/>
          </a:xfrm>
        </p:spPr>
        <p:txBody>
          <a:bodyPr/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800" dirty="0"/>
              <a:t> What is Trust Rank?</a:t>
            </a:r>
          </a:p>
          <a:p>
            <a:pPr marL="0" indent="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2800" dirty="0"/>
              <a:t>Trust Rank is an algorithm used to evaluate the trustworthiness of websites</a:t>
            </a:r>
          </a:p>
          <a:p>
            <a:pPr marL="0" indent="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2800" b="1" dirty="0"/>
              <a:t>Purpose:</a:t>
            </a:r>
            <a:endParaRPr lang="en-US" altLang="en-US" sz="2800" b="1" dirty="0">
              <a:latin typeface="Arial" panose="020B0604020202020204" pitchFamily="34" charset="0"/>
            </a:endParaRPr>
          </a:p>
          <a:p>
            <a:pPr marL="463550" lvl="0" indent="0" eaLnBrk="0" hangingPunct="0">
              <a:spcBef>
                <a:spcPts val="600"/>
              </a:spcBef>
              <a:spcAft>
                <a:spcPts val="600"/>
              </a:spcAft>
              <a:buClrTx/>
              <a:buFontTx/>
              <a:buChar char="•"/>
            </a:pPr>
            <a:r>
              <a:rPr lang="en-US" altLang="en-US" sz="2800" dirty="0">
                <a:latin typeface="Arial" panose="020B0604020202020204" pitchFamily="34" charset="0"/>
              </a:rPr>
              <a:t>To differentiate between legitimate websites and spam or low-quality sites.</a:t>
            </a:r>
          </a:p>
          <a:p>
            <a:pPr marL="463550" lvl="0" indent="0" eaLnBrk="0" hangingPunct="0">
              <a:spcBef>
                <a:spcPts val="600"/>
              </a:spcBef>
              <a:spcAft>
                <a:spcPts val="600"/>
              </a:spcAft>
              <a:buClrTx/>
              <a:buFontTx/>
              <a:buChar char="•"/>
            </a:pPr>
            <a:r>
              <a:rPr lang="en-US" altLang="en-US" sz="2800" dirty="0">
                <a:latin typeface="Arial" panose="020B0604020202020204" pitchFamily="34" charset="0"/>
              </a:rPr>
              <a:t>To improve the quality of search engine results by promoting reliable sources</a:t>
            </a:r>
            <a:endParaRPr lang="en-US" altLang="en-US" sz="2800" b="1" dirty="0">
              <a:latin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33C12F-D11B-4AA4-9103-DF348809565A}" type="slidenum">
              <a:rPr lang="en-US" smtClean="0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560127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Trust rank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599" y="1202499"/>
            <a:ext cx="11446933" cy="5655501"/>
          </a:xfrm>
        </p:spPr>
        <p:txBody>
          <a:bodyPr/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800" dirty="0">
                <a:latin typeface="+mj-lt"/>
              </a:rPr>
              <a:t> How Does Trust Rank Work?</a:t>
            </a:r>
          </a:p>
          <a:p>
            <a:pPr marL="0" lvl="0" indent="0" eaLnBrk="0" hangingPunct="0">
              <a:spcBef>
                <a:spcPts val="600"/>
              </a:spcBef>
              <a:spcAft>
                <a:spcPts val="600"/>
              </a:spcAft>
              <a:buClrTx/>
              <a:buNone/>
            </a:pPr>
            <a:r>
              <a:rPr lang="en-US" altLang="en-US" sz="2800" b="1" dirty="0">
                <a:latin typeface="+mj-lt"/>
              </a:rPr>
              <a:t>Seed Pages:</a:t>
            </a:r>
            <a:endParaRPr lang="en-US" altLang="en-US" sz="2800" dirty="0">
              <a:latin typeface="+mj-lt"/>
            </a:endParaRPr>
          </a:p>
          <a:p>
            <a:pPr marL="463550" lvl="0" indent="0" eaLnBrk="0" hangingPunct="0">
              <a:spcBef>
                <a:spcPts val="600"/>
              </a:spcBef>
              <a:spcAft>
                <a:spcPts val="600"/>
              </a:spcAft>
              <a:buClrTx/>
              <a:buNone/>
            </a:pPr>
            <a:r>
              <a:rPr lang="en-US" altLang="en-US" sz="2800" dirty="0">
                <a:latin typeface="+mj-lt"/>
              </a:rPr>
              <a:t>Starts with a set of highly trusted websites known as "seed pages" (e.g., government sites, educational institutions, reputable organizations).</a:t>
            </a:r>
          </a:p>
          <a:p>
            <a:pPr marL="0" lvl="0" indent="0" eaLnBrk="0" hangingPunct="0">
              <a:spcBef>
                <a:spcPts val="600"/>
              </a:spcBef>
              <a:spcAft>
                <a:spcPts val="600"/>
              </a:spcAft>
              <a:buClrTx/>
              <a:buNone/>
            </a:pPr>
            <a:r>
              <a:rPr lang="en-US" altLang="en-US" sz="2800" b="1" dirty="0">
                <a:latin typeface="+mj-lt"/>
              </a:rPr>
              <a:t>Trust Propagation:</a:t>
            </a:r>
            <a:endParaRPr lang="en-US" altLang="en-US" sz="2800" dirty="0">
              <a:latin typeface="+mj-lt"/>
            </a:endParaRPr>
          </a:p>
          <a:p>
            <a:pPr marL="514350" lvl="0" indent="0" eaLnBrk="0" hangingPunct="0">
              <a:spcBef>
                <a:spcPts val="600"/>
              </a:spcBef>
              <a:spcAft>
                <a:spcPts val="600"/>
              </a:spcAft>
              <a:buClrTx/>
              <a:buFontTx/>
              <a:buChar char="•"/>
            </a:pPr>
            <a:r>
              <a:rPr lang="en-US" altLang="en-US" sz="2800" dirty="0">
                <a:latin typeface="+mj-lt"/>
              </a:rPr>
              <a:t>Trustworthiness is passed from seed pages to other sites through hyperlinks.</a:t>
            </a:r>
          </a:p>
          <a:p>
            <a:pPr marL="514350" lvl="0" indent="0" eaLnBrk="0" hangingPunct="0">
              <a:spcBef>
                <a:spcPts val="600"/>
              </a:spcBef>
              <a:spcAft>
                <a:spcPts val="600"/>
              </a:spcAft>
              <a:buClrTx/>
              <a:buFontTx/>
              <a:buChar char="•"/>
            </a:pPr>
            <a:r>
              <a:rPr lang="en-US" altLang="en-US" sz="2800" dirty="0">
                <a:latin typeface="+mj-lt"/>
              </a:rPr>
              <a:t>Websites linked by trusted sites inherit a higher Trust Rank.</a:t>
            </a:r>
          </a:p>
          <a:p>
            <a:pPr marL="514350" lvl="0" indent="0" eaLnBrk="0" hangingPunct="0">
              <a:spcBef>
                <a:spcPts val="600"/>
              </a:spcBef>
              <a:spcAft>
                <a:spcPts val="600"/>
              </a:spcAft>
              <a:buClrTx/>
              <a:buFontTx/>
              <a:buChar char="•"/>
            </a:pPr>
            <a:r>
              <a:rPr lang="en-US" altLang="en-US" sz="2800" dirty="0">
                <a:latin typeface="+mj-lt"/>
              </a:rPr>
              <a:t>The further a site is from the seed pages in the link structure, the lower its Trust Rank.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33C12F-D11B-4AA4-9103-DF348809565A}" type="slidenum">
              <a:rPr lang="en-US" smtClean="0"/>
              <a:t>68</a:t>
            </a:fld>
            <a:endParaRPr lang="en-US"/>
          </a:p>
        </p:txBody>
      </p:sp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91402669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Trust rank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478071"/>
            <a:ext cx="11582400" cy="4846530"/>
          </a:xfrm>
        </p:spPr>
        <p:txBody>
          <a:bodyPr/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800" dirty="0">
                <a:latin typeface="+mj-lt"/>
              </a:rPr>
              <a:t> </a:t>
            </a:r>
            <a:r>
              <a:rPr lang="en-US" sz="2800" dirty="0"/>
              <a:t>Example of Trust Rank Propagation</a:t>
            </a:r>
          </a:p>
          <a:p>
            <a:pPr marL="0" lvl="0" indent="0" eaLnBrk="0" hangingPunct="0">
              <a:spcBef>
                <a:spcPts val="600"/>
              </a:spcBef>
              <a:spcAft>
                <a:spcPts val="600"/>
              </a:spcAft>
              <a:buClrTx/>
              <a:buNone/>
            </a:pPr>
            <a:r>
              <a:rPr lang="en-US" altLang="en-US" sz="2800" b="1" dirty="0">
                <a:latin typeface="Arial" panose="020B0604020202020204" pitchFamily="34" charset="0"/>
              </a:rPr>
              <a:t>Step 1: Trusted Site A</a:t>
            </a:r>
            <a:r>
              <a:rPr lang="en-US" altLang="en-US" sz="2800" dirty="0">
                <a:latin typeface="Arial" panose="020B0604020202020204" pitchFamily="34" charset="0"/>
              </a:rPr>
              <a:t> serves as a seed page with high Trust Rank.</a:t>
            </a:r>
          </a:p>
          <a:p>
            <a:pPr marL="0" lvl="0" indent="0" eaLnBrk="0" hangingPunct="0">
              <a:spcBef>
                <a:spcPts val="600"/>
              </a:spcBef>
              <a:spcAft>
                <a:spcPts val="600"/>
              </a:spcAft>
              <a:buClrTx/>
              <a:buNone/>
            </a:pPr>
            <a:r>
              <a:rPr lang="en-US" altLang="en-US" sz="2800" b="1" dirty="0">
                <a:latin typeface="Arial" panose="020B0604020202020204" pitchFamily="34" charset="0"/>
              </a:rPr>
              <a:t>Step 2: Website B</a:t>
            </a:r>
            <a:r>
              <a:rPr lang="en-US" altLang="en-US" sz="2800" dirty="0">
                <a:latin typeface="Arial" panose="020B0604020202020204" pitchFamily="34" charset="0"/>
              </a:rPr>
              <a:t> links directly from Trusted Site A, receiving a high Trust Rank.</a:t>
            </a:r>
          </a:p>
          <a:p>
            <a:pPr marL="0" lvl="0" indent="0" eaLnBrk="0" hangingPunct="0">
              <a:spcBef>
                <a:spcPts val="600"/>
              </a:spcBef>
              <a:spcAft>
                <a:spcPts val="600"/>
              </a:spcAft>
              <a:buClrTx/>
              <a:buNone/>
            </a:pPr>
            <a:r>
              <a:rPr lang="en-US" altLang="en-US" sz="2800" b="1" dirty="0">
                <a:latin typeface="Arial" panose="020B0604020202020204" pitchFamily="34" charset="0"/>
              </a:rPr>
              <a:t>Step 3: Website C</a:t>
            </a:r>
            <a:r>
              <a:rPr lang="en-US" altLang="en-US" sz="2800" dirty="0">
                <a:latin typeface="Arial" panose="020B0604020202020204" pitchFamily="34" charset="0"/>
              </a:rPr>
              <a:t> links from Website B, receiving a moderate Trust Rank.</a:t>
            </a:r>
          </a:p>
          <a:p>
            <a:pPr marL="0" lvl="0" indent="0" eaLnBrk="0" hangingPunct="0">
              <a:spcBef>
                <a:spcPts val="600"/>
              </a:spcBef>
              <a:spcAft>
                <a:spcPts val="600"/>
              </a:spcAft>
              <a:buClrTx/>
              <a:buNone/>
            </a:pPr>
            <a:r>
              <a:rPr lang="en-US" altLang="en-US" sz="2800" b="1" dirty="0">
                <a:latin typeface="Arial" panose="020B0604020202020204" pitchFamily="34" charset="0"/>
              </a:rPr>
              <a:t>Observation:</a:t>
            </a:r>
            <a:r>
              <a:rPr lang="en-US" altLang="en-US" sz="2800" dirty="0">
                <a:latin typeface="Arial" panose="020B0604020202020204" pitchFamily="34" charset="0"/>
              </a:rPr>
              <a:t> Spam sites typically have limited or no links from trusted sources, resulting in low Trust Rank.</a:t>
            </a:r>
          </a:p>
          <a:p>
            <a:pPr marL="0" lvl="0" indent="0" eaLnBrk="0" hangingPunct="0">
              <a:spcBef>
                <a:spcPct val="0"/>
              </a:spcBef>
              <a:buClrTx/>
              <a:buNone/>
            </a:pPr>
            <a:endParaRPr lang="en-US" altLang="en-US" sz="2800" dirty="0">
              <a:latin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33C12F-D11B-4AA4-9103-DF348809565A}" type="slidenum">
              <a:rPr lang="en-US" smtClean="0"/>
              <a:t>69</a:t>
            </a:fld>
            <a:endParaRPr lang="en-US"/>
          </a:p>
        </p:txBody>
      </p:sp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13651238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8B9A8A-D361-4C6A-9022-19CD50D4F2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Search Engine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581AF2-230D-44A0-A183-FD95C33434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600" b="1" dirty="0"/>
              <a:t>Pipeline</a:t>
            </a:r>
          </a:p>
          <a:p>
            <a:pPr>
              <a:buFont typeface="+mj-lt"/>
              <a:buAutoNum type="arabicPeriod"/>
            </a:pPr>
            <a:r>
              <a:rPr lang="en-US" sz="2600" dirty="0"/>
              <a:t>User Query</a:t>
            </a:r>
          </a:p>
          <a:p>
            <a:pPr>
              <a:buFont typeface="+mj-lt"/>
              <a:buAutoNum type="arabicPeriod"/>
            </a:pPr>
            <a:r>
              <a:rPr lang="en-US" sz="2600" dirty="0"/>
              <a:t>Retrieval (Content relevance)</a:t>
            </a:r>
          </a:p>
          <a:p>
            <a:pPr marL="457200" lvl="1" indent="0">
              <a:buNone/>
            </a:pPr>
            <a:r>
              <a:rPr lang="en-US" sz="2600" dirty="0"/>
              <a:t>Retrieve N candidate web pages based on textual or semantic relevance</a:t>
            </a:r>
          </a:p>
          <a:p>
            <a:pPr>
              <a:buFont typeface="+mj-lt"/>
              <a:buAutoNum type="arabicPeriod"/>
            </a:pPr>
            <a:r>
              <a:rPr lang="en-US" sz="2600" dirty="0"/>
              <a:t>Global Ranking Signals: PageRank, Trust / Freshness</a:t>
            </a:r>
          </a:p>
          <a:p>
            <a:pPr>
              <a:buFont typeface="+mj-lt"/>
              <a:buAutoNum type="arabicPeriod"/>
            </a:pPr>
            <a:r>
              <a:rPr lang="en-US" sz="2600" dirty="0"/>
              <a:t>Topic-specific Analysis:</a:t>
            </a:r>
          </a:p>
          <a:p>
            <a:pPr marL="457200" lvl="1" indent="0">
              <a:buNone/>
            </a:pPr>
            <a:r>
              <a:rPr lang="en-US" sz="2600" dirty="0"/>
              <a:t>HITS → Hub &amp; Authority</a:t>
            </a:r>
          </a:p>
          <a:p>
            <a:pPr>
              <a:buFont typeface="+mj-lt"/>
              <a:buAutoNum type="arabicPeriod"/>
            </a:pPr>
            <a:r>
              <a:rPr lang="en-US" sz="2600" dirty="0"/>
              <a:t>Final Re-ranking: Produce the final ranking by combining</a:t>
            </a:r>
          </a:p>
          <a:p>
            <a:pPr marL="457200" lvl="1" indent="0">
              <a:buNone/>
            </a:pPr>
            <a:r>
              <a:rPr lang="en-US" sz="2600" dirty="0"/>
              <a:t>Relevance + PageRank + HITS + other signals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D1C364-DC74-498A-A6DB-6F537F078F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33C12F-D11B-4AA4-9103-DF348809565A}" type="slidenum">
              <a:rPr lang="en-US" smtClean="0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689208"/>
      </p:ext>
    </p:extLst>
  </p:cSld>
  <p:clrMapOvr>
    <a:masterClrMapping/>
  </p:clrMapOvr>
</p:sld>
</file>

<file path=ppt/theme/theme1.xml><?xml version="1.0" encoding="utf-8"?>
<a:theme xmlns:a="http://schemas.openxmlformats.org/drawingml/2006/main" name="Theme1">
  <a:themeElements>
    <a:clrScheme name="Office Theme 1">
      <a:dk1>
        <a:srgbClr val="1D4940"/>
      </a:dk1>
      <a:lt1>
        <a:srgbClr val="FFFFFF"/>
      </a:lt1>
      <a:dk2>
        <a:srgbClr val="3F716F"/>
      </a:dk2>
      <a:lt2>
        <a:srgbClr val="C0C0C0"/>
      </a:lt2>
      <a:accent1>
        <a:srgbClr val="669E86"/>
      </a:accent1>
      <a:accent2>
        <a:srgbClr val="A2CAB4"/>
      </a:accent2>
      <a:accent3>
        <a:srgbClr val="FFFFFF"/>
      </a:accent3>
      <a:accent4>
        <a:srgbClr val="173D35"/>
      </a:accent4>
      <a:accent5>
        <a:srgbClr val="B8CCC3"/>
      </a:accent5>
      <a:accent6>
        <a:srgbClr val="92B7A3"/>
      </a:accent6>
      <a:hlink>
        <a:srgbClr val="8CA35F"/>
      </a:hlink>
      <a:folHlink>
        <a:srgbClr val="C1B05D"/>
      </a:folHlink>
    </a:clrScheme>
    <a:fontScheme name="Office Them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2">
          <a:schemeClr val="accent5">
            <a:shade val="50000"/>
          </a:schemeClr>
        </a:lnRef>
        <a:fillRef idx="1">
          <a:schemeClr val="accent5"/>
        </a:fillRef>
        <a:effectRef idx="0">
          <a:schemeClr val="accent5"/>
        </a:effectRef>
        <a:fontRef idx="minor">
          <a:schemeClr val="lt1"/>
        </a:fontRef>
      </a:style>
    </a:spDef>
    <a:lnDef>
      <a:spPr>
        <a:ln w="9525">
          <a:solidFill>
            <a:schemeClr val="tx1"/>
          </a:solidFill>
        </a:ln>
      </a:spPr>
      <a:bodyPr/>
      <a:lstStyle/>
      <a:style>
        <a:lnRef idx="3">
          <a:schemeClr val="accent4"/>
        </a:lnRef>
        <a:fillRef idx="0">
          <a:schemeClr val="accent4"/>
        </a:fillRef>
        <a:effectRef idx="2">
          <a:schemeClr val="accent4"/>
        </a:effectRef>
        <a:fontRef idx="minor">
          <a:schemeClr val="tx1"/>
        </a:fontRef>
      </a:style>
    </a:lnDef>
  </a:objectDefaults>
  <a:extraClrSchemeLst>
    <a:extraClrScheme>
      <a:clrScheme name="Office Theme 1">
        <a:dk1>
          <a:srgbClr val="1D4940"/>
        </a:dk1>
        <a:lt1>
          <a:srgbClr val="FFFFFF"/>
        </a:lt1>
        <a:dk2>
          <a:srgbClr val="3F716F"/>
        </a:dk2>
        <a:lt2>
          <a:srgbClr val="C0C0C0"/>
        </a:lt2>
        <a:accent1>
          <a:srgbClr val="669E86"/>
        </a:accent1>
        <a:accent2>
          <a:srgbClr val="A2CAB4"/>
        </a:accent2>
        <a:accent3>
          <a:srgbClr val="FFFFFF"/>
        </a:accent3>
        <a:accent4>
          <a:srgbClr val="173D35"/>
        </a:accent4>
        <a:accent5>
          <a:srgbClr val="B8CCC3"/>
        </a:accent5>
        <a:accent6>
          <a:srgbClr val="92B7A3"/>
        </a:accent6>
        <a:hlink>
          <a:srgbClr val="8CA35F"/>
        </a:hlink>
        <a:folHlink>
          <a:srgbClr val="C1B05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2">
        <a:dk1>
          <a:srgbClr val="093575"/>
        </a:dk1>
        <a:lt1>
          <a:srgbClr val="FFFFFF"/>
        </a:lt1>
        <a:dk2>
          <a:srgbClr val="000066"/>
        </a:dk2>
        <a:lt2>
          <a:srgbClr val="808080"/>
        </a:lt2>
        <a:accent1>
          <a:srgbClr val="4B92E1"/>
        </a:accent1>
        <a:accent2>
          <a:srgbClr val="99CCFF"/>
        </a:accent2>
        <a:accent3>
          <a:srgbClr val="FFFFFF"/>
        </a:accent3>
        <a:accent4>
          <a:srgbClr val="062C63"/>
        </a:accent4>
        <a:accent5>
          <a:srgbClr val="B1C7EE"/>
        </a:accent5>
        <a:accent6>
          <a:srgbClr val="8AB9E7"/>
        </a:accent6>
        <a:hlink>
          <a:srgbClr val="0066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3">
        <a:dk1>
          <a:srgbClr val="0B4C5B"/>
        </a:dk1>
        <a:lt1>
          <a:srgbClr val="FFFFFF"/>
        </a:lt1>
        <a:dk2>
          <a:srgbClr val="000000"/>
        </a:dk2>
        <a:lt2>
          <a:srgbClr val="969696"/>
        </a:lt2>
        <a:accent1>
          <a:srgbClr val="E3BE05"/>
        </a:accent1>
        <a:accent2>
          <a:srgbClr val="81C200"/>
        </a:accent2>
        <a:accent3>
          <a:srgbClr val="FFFFFF"/>
        </a:accent3>
        <a:accent4>
          <a:srgbClr val="08404C"/>
        </a:accent4>
        <a:accent5>
          <a:srgbClr val="EFDBAA"/>
        </a:accent5>
        <a:accent6>
          <a:srgbClr val="74B000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Theme1" id="{CB019962-4658-412D-8B18-ABB798200294}" vid="{F1265831-A753-4B43-9E6E-C33546119D0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Theme1</Template>
  <TotalTime>9854</TotalTime>
  <Words>1738</Words>
  <Application>Microsoft Office PowerPoint</Application>
  <PresentationFormat>Widescreen</PresentationFormat>
  <Paragraphs>405</Paragraphs>
  <Slides>70</Slides>
  <Notes>64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70</vt:i4>
      </vt:variant>
    </vt:vector>
  </HeadingPairs>
  <TitlesOfParts>
    <vt:vector size="75" baseType="lpstr">
      <vt:lpstr>Arial</vt:lpstr>
      <vt:lpstr>Calibri</vt:lpstr>
      <vt:lpstr>Cambria Math</vt:lpstr>
      <vt:lpstr>Wingdings</vt:lpstr>
      <vt:lpstr>Theme1</vt:lpstr>
      <vt:lpstr>LINK ANALYSIS</vt:lpstr>
      <vt:lpstr>Content</vt:lpstr>
      <vt:lpstr>Graph and Large graph</vt:lpstr>
      <vt:lpstr>Graph and Large graph</vt:lpstr>
      <vt:lpstr>Graph and Large graph</vt:lpstr>
      <vt:lpstr>Graph and Large graph</vt:lpstr>
      <vt:lpstr>Graph and Large graph</vt:lpstr>
      <vt:lpstr>Graph and Large graph</vt:lpstr>
      <vt:lpstr>Graph and Large graph</vt:lpstr>
      <vt:lpstr>Graph and Large graph</vt:lpstr>
      <vt:lpstr>Graph and Large graph</vt:lpstr>
      <vt:lpstr>Graph and Large graph</vt:lpstr>
      <vt:lpstr>Graph and Large graph</vt:lpstr>
      <vt:lpstr>Graph and Large graph</vt:lpstr>
      <vt:lpstr>Graph and Large graph</vt:lpstr>
      <vt:lpstr>Web graph</vt:lpstr>
      <vt:lpstr>Web graph</vt:lpstr>
      <vt:lpstr>Web graph</vt:lpstr>
      <vt:lpstr>Web graph</vt:lpstr>
      <vt:lpstr>Content</vt:lpstr>
      <vt:lpstr>Introduce</vt:lpstr>
      <vt:lpstr>Introduce</vt:lpstr>
      <vt:lpstr>Introduce</vt:lpstr>
      <vt:lpstr>Introduce</vt:lpstr>
      <vt:lpstr>Pagerank</vt:lpstr>
      <vt:lpstr>Pagerank</vt:lpstr>
      <vt:lpstr>Pagerank</vt:lpstr>
      <vt:lpstr>Pagerank</vt:lpstr>
      <vt:lpstr>Pagerank</vt:lpstr>
      <vt:lpstr>Pagerank</vt:lpstr>
      <vt:lpstr>Pagerank</vt:lpstr>
      <vt:lpstr>Pagerank</vt:lpstr>
      <vt:lpstr>Pagerank</vt:lpstr>
      <vt:lpstr>Pagerank</vt:lpstr>
      <vt:lpstr>Pagerank</vt:lpstr>
      <vt:lpstr>Pagerank</vt:lpstr>
      <vt:lpstr>Pagerank</vt:lpstr>
      <vt:lpstr>Pagerank</vt:lpstr>
      <vt:lpstr>Pagerank</vt:lpstr>
      <vt:lpstr>Pagerank</vt:lpstr>
      <vt:lpstr>Pagerank</vt:lpstr>
      <vt:lpstr>Pagerank</vt:lpstr>
      <vt:lpstr>Pagerank</vt:lpstr>
      <vt:lpstr>Pagerank</vt:lpstr>
      <vt:lpstr>Pagerank</vt:lpstr>
      <vt:lpstr>Pagerank</vt:lpstr>
      <vt:lpstr>Pagerank</vt:lpstr>
      <vt:lpstr>Pagerank</vt:lpstr>
      <vt:lpstr>Pageranks</vt:lpstr>
      <vt:lpstr>Pageranks</vt:lpstr>
      <vt:lpstr>Pageranks</vt:lpstr>
      <vt:lpstr>Pagerank</vt:lpstr>
      <vt:lpstr>Pagerank</vt:lpstr>
      <vt:lpstr>Pagerank</vt:lpstr>
      <vt:lpstr>Pagerank</vt:lpstr>
      <vt:lpstr>Pagerank</vt:lpstr>
      <vt:lpstr>Pagerank</vt:lpstr>
      <vt:lpstr>Pagerank</vt:lpstr>
      <vt:lpstr>HITS</vt:lpstr>
      <vt:lpstr>HITS</vt:lpstr>
      <vt:lpstr>HITS</vt:lpstr>
      <vt:lpstr>HITS</vt:lpstr>
      <vt:lpstr>HITS</vt:lpstr>
      <vt:lpstr>HITS</vt:lpstr>
      <vt:lpstr>HITS # PageRank</vt:lpstr>
      <vt:lpstr>Content</vt:lpstr>
      <vt:lpstr>Trust rank</vt:lpstr>
      <vt:lpstr>Trust rank</vt:lpstr>
      <vt:lpstr>Trust rank</vt:lpstr>
      <vt:lpstr>Search Engine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Links Analysis</dc:title>
  <dc:creator>Nhu Y</dc:creator>
  <cp:lastModifiedBy>HP</cp:lastModifiedBy>
  <cp:revision>659</cp:revision>
  <cp:lastPrinted>2024-08-24T09:08:36Z</cp:lastPrinted>
  <dcterms:created xsi:type="dcterms:W3CDTF">2021-09-22T02:45:39Z</dcterms:created>
  <dcterms:modified xsi:type="dcterms:W3CDTF">2026-08-03T03:37:23Z</dcterms:modified>
</cp:coreProperties>
</file>