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89" r:id="rId2"/>
  </p:sldMasterIdLst>
  <p:notesMasterIdLst>
    <p:notesMasterId r:id="rId25"/>
  </p:notesMasterIdLst>
  <p:handoutMasterIdLst>
    <p:handoutMasterId r:id="rId26"/>
  </p:handoutMasterIdLst>
  <p:sldIdLst>
    <p:sldId id="256" r:id="rId3"/>
    <p:sldId id="363" r:id="rId4"/>
    <p:sldId id="380" r:id="rId5"/>
    <p:sldId id="397" r:id="rId6"/>
    <p:sldId id="398" r:id="rId7"/>
    <p:sldId id="399" r:id="rId8"/>
    <p:sldId id="400" r:id="rId9"/>
    <p:sldId id="401" r:id="rId10"/>
    <p:sldId id="403" r:id="rId11"/>
    <p:sldId id="404" r:id="rId12"/>
    <p:sldId id="405" r:id="rId13"/>
    <p:sldId id="407" r:id="rId14"/>
    <p:sldId id="408" r:id="rId15"/>
    <p:sldId id="415" r:id="rId16"/>
    <p:sldId id="406" r:id="rId17"/>
    <p:sldId id="411" r:id="rId18"/>
    <p:sldId id="412" r:id="rId19"/>
    <p:sldId id="413" r:id="rId20"/>
    <p:sldId id="416" r:id="rId21"/>
    <p:sldId id="409" r:id="rId22"/>
    <p:sldId id="410" r:id="rId23"/>
    <p:sldId id="417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CA58"/>
    <a:srgbClr val="000066"/>
    <a:srgbClr val="820000"/>
    <a:srgbClr val="0000CC"/>
    <a:srgbClr val="CC0066"/>
    <a:srgbClr val="CC0099"/>
    <a:srgbClr val="FF0000"/>
    <a:srgbClr val="CC3300"/>
    <a:srgbClr val="6600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68778" autoAdjust="0"/>
  </p:normalViewPr>
  <p:slideViewPr>
    <p:cSldViewPr>
      <p:cViewPr varScale="1">
        <p:scale>
          <a:sx n="63" d="100"/>
          <a:sy n="63" d="100"/>
        </p:scale>
        <p:origin x="45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4BF82-6142-421B-9D27-4459658F29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278BB-0CAB-4A1F-A984-8FD2D911E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72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9B5B886-5471-401E-84F6-62AB41E67698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DB2990B-FECD-4C00-917F-2D9B625F7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38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12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59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03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47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16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7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2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6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05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6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63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84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58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3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45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4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12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80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69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Spark</a:t>
            </a:r>
          </a:p>
          <a:p>
            <a:r>
              <a:rPr lang="en-US" dirty="0"/>
              <a:t>Spark bao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r>
              <a:rPr lang="en-US" dirty="0"/>
              <a:t>Spark Core      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/>
              <a:t>Spark SQL       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</a:p>
          <a:p>
            <a:r>
              <a:rPr lang="en-US" dirty="0" err="1"/>
              <a:t>SQLSpark</a:t>
            </a:r>
            <a:r>
              <a:rPr lang="en-US" dirty="0"/>
              <a:t> Streaming            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endParaRPr lang="en-US" dirty="0"/>
          </a:p>
          <a:p>
            <a:r>
              <a:rPr lang="en-US" dirty="0" err="1"/>
              <a:t>MLlibMachine</a:t>
            </a:r>
            <a:r>
              <a:rPr lang="en-US" dirty="0"/>
              <a:t> </a:t>
            </a:r>
            <a:r>
              <a:rPr lang="en-US" dirty="0" err="1"/>
              <a:t>LearningGraphXphân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990B-FECD-4C00-917F-2D9B625F7B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9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1"/>
            <a:ext cx="8001000" cy="12953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86100" y="6492875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BM KHDL&amp;TTNT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‹#›</a:t>
            </a:fld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0" y="1825625"/>
            <a:ext cx="913257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593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16275"/>
          </a:xfrm>
        </p:spPr>
        <p:txBody>
          <a:bodyPr>
            <a:normAutofit/>
          </a:bodyPr>
          <a:lstStyle>
            <a:lvl1pPr>
              <a:defRPr sz="5000">
                <a:solidFill>
                  <a:srgbClr val="C00000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62000" y="5181600"/>
            <a:ext cx="7848600" cy="1524000"/>
          </a:xfrm>
        </p:spPr>
        <p:txBody>
          <a:bodyPr>
            <a:noAutofit/>
          </a:bodyPr>
          <a:lstStyle>
            <a:lvl1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>
              <a:defRPr sz="3500">
                <a:solidFill>
                  <a:schemeClr val="tx1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5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6492875"/>
            <a:ext cx="9132570" cy="365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25625"/>
            <a:ext cx="91325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71800" y="649287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rgbClr val="8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BM KHDL&amp;TTNT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800" kern="1200" smtClean="0">
                <a:solidFill>
                  <a:srgbClr val="82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53378AA8-78D2-4BCA-9541-9DE0B9F7454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143000" cy="114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9" name="Straight Connector 8"/>
          <p:cNvCxnSpPr/>
          <p:nvPr userDrawn="1"/>
        </p:nvCxnSpPr>
        <p:spPr>
          <a:xfrm>
            <a:off x="1143000" y="1295400"/>
            <a:ext cx="8001000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1"/>
            <a:ext cx="8001000" cy="129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703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BM KHMT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99C50-9B02-4DB4-972A-BA2B85D88F8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7"/>
          <p:cNvSpPr>
            <a:spLocks noChangeArrowheads="1"/>
          </p:cNvSpPr>
          <p:nvPr userDrawn="1"/>
        </p:nvSpPr>
        <p:spPr bwMode="white">
          <a:xfrm>
            <a:off x="0" y="6349"/>
            <a:ext cx="9144000" cy="4138613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18"/>
          <p:cNvSpPr>
            <a:spLocks noChangeArrowheads="1"/>
          </p:cNvSpPr>
          <p:nvPr userDrawn="1"/>
        </p:nvSpPr>
        <p:spPr bwMode="white">
          <a:xfrm>
            <a:off x="0" y="4916488"/>
            <a:ext cx="9163050" cy="19415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Freeform 19" descr="108a"/>
          <p:cNvSpPr>
            <a:spLocks/>
          </p:cNvSpPr>
          <p:nvPr userDrawn="1"/>
        </p:nvSpPr>
        <p:spPr bwMode="gray">
          <a:xfrm>
            <a:off x="-4763" y="3554412"/>
            <a:ext cx="9148763" cy="1279525"/>
          </a:xfrm>
          <a:custGeom>
            <a:avLst/>
            <a:gdLst/>
            <a:ahLst/>
            <a:cxnLst>
              <a:cxn ang="0">
                <a:pos x="0" y="586"/>
              </a:cxn>
              <a:cxn ang="0">
                <a:pos x="2929" y="18"/>
              </a:cxn>
              <a:cxn ang="0">
                <a:pos x="5763" y="593"/>
              </a:cxn>
              <a:cxn ang="0">
                <a:pos x="5763" y="1756"/>
              </a:cxn>
              <a:cxn ang="0">
                <a:pos x="0" y="1752"/>
              </a:cxn>
              <a:cxn ang="0">
                <a:pos x="0" y="586"/>
              </a:cxn>
            </a:cxnLst>
            <a:rect l="0" t="0" r="r" b="b"/>
            <a:pathLst>
              <a:path w="5763" h="1756">
                <a:moveTo>
                  <a:pt x="0" y="586"/>
                </a:moveTo>
                <a:cubicBezTo>
                  <a:pt x="693" y="340"/>
                  <a:pt x="1521" y="0"/>
                  <a:pt x="2929" y="18"/>
                </a:cubicBezTo>
                <a:cubicBezTo>
                  <a:pt x="4337" y="36"/>
                  <a:pt x="5292" y="322"/>
                  <a:pt x="5763" y="593"/>
                </a:cubicBezTo>
                <a:lnTo>
                  <a:pt x="5763" y="1756"/>
                </a:lnTo>
                <a:lnTo>
                  <a:pt x="0" y="1752"/>
                </a:lnTo>
                <a:lnTo>
                  <a:pt x="0" y="58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57150" cmpd="sng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Rectangle 20"/>
          <p:cNvSpPr>
            <a:spLocks noChangeArrowheads="1"/>
          </p:cNvSpPr>
          <p:nvPr userDrawn="1"/>
        </p:nvSpPr>
        <p:spPr bwMode="gray">
          <a:xfrm>
            <a:off x="0" y="4826000"/>
            <a:ext cx="9156700" cy="1682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9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b="1" dirty="0">
                <a:solidFill>
                  <a:schemeClr val="accent4"/>
                </a:solidFill>
              </a:rPr>
              <a:t>XỬ LÝ DỮ LIỆU LỚN TRÊN APACHE SPARK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05000" y="5334000"/>
            <a:ext cx="7239000" cy="15240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		GV: Ngô Dương Hà</a:t>
            </a:r>
          </a:p>
          <a:p>
            <a:pPr marL="0" indent="0">
              <a:buNone/>
            </a:pPr>
            <a:r>
              <a:rPr lang="en-US"/>
              <a:t>		Mail:  hand@huit.edu.vn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2133600"/>
            <a:ext cx="9132570" cy="4359275"/>
          </a:xfrm>
        </p:spPr>
        <p:txBody>
          <a:bodyPr>
            <a:noAutofit/>
          </a:bodyPr>
          <a:lstStyle/>
          <a:p>
            <a:pPr marL="45720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/>
              <a:t>1. </a:t>
            </a:r>
            <a:r>
              <a:rPr lang="en-US" dirty="0"/>
              <a:t>MapReduce</a:t>
            </a:r>
          </a:p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2. Apache Spark</a:t>
            </a:r>
          </a:p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3. RDD</a:t>
            </a:r>
          </a:p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4. </a:t>
            </a:r>
            <a:r>
              <a:rPr lang="en-US" dirty="0" err="1"/>
              <a:t>DataFrame</a:t>
            </a:r>
            <a:endParaRPr lang="en-US" dirty="0"/>
          </a:p>
          <a:p>
            <a:pPr marL="4572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5. Spark Streaming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348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MapReduce is a distributed programming model used to process large datasets across multiple computers in a cluster.</a:t>
            </a:r>
          </a:p>
          <a:p>
            <a:pPr marL="0" indent="0">
              <a:buNone/>
            </a:pPr>
            <a:r>
              <a:rPr lang="en-US" dirty="0"/>
              <a:t>Main idea: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Map: Processes input data and generates key–value pairs.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Shuffle: Groups the data based on the key.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Reduce: Aggregates or summarizes the results.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05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  <a:r>
              <a:rPr lang="en-US" dirty="0"/>
              <a:t>: Calculating total revenue by product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Assume each record has the following format: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 err="1"/>
              <a:t>Order_ID</a:t>
            </a:r>
            <a:r>
              <a:rPr lang="en-US" altLang="en-US" dirty="0"/>
              <a:t>, </a:t>
            </a:r>
            <a:r>
              <a:rPr lang="en-US" altLang="en-US" dirty="0" err="1"/>
              <a:t>Product_Name</a:t>
            </a:r>
            <a:r>
              <a:rPr lang="en-US" altLang="en-US" dirty="0"/>
              <a:t>, Quantity, </a:t>
            </a:r>
            <a:r>
              <a:rPr lang="en-US" altLang="en-US" dirty="0" err="1"/>
              <a:t>Unit_Price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	001, Laptop, 2, 1500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	002, Mouse, 3,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	003, Laptop, 1, 1500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14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828800"/>
            <a:ext cx="9132570" cy="4664075"/>
          </a:xfrm>
        </p:spPr>
        <p:txBody>
          <a:bodyPr>
            <a:normAutofit fontScale="850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Map Output</a:t>
            </a:r>
            <a:r>
              <a:rPr lang="en-US" altLang="en-US" dirty="0"/>
              <a:t>: The Map phase reads each record, calculates the revenue for that product (Quantity × </a:t>
            </a:r>
            <a:r>
              <a:rPr lang="en-US" altLang="en-US" dirty="0" err="1"/>
              <a:t>Unit_Price</a:t>
            </a:r>
            <a:r>
              <a:rPr lang="en-US" altLang="en-US" dirty="0"/>
              <a:t>):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(Laptop, 3000)</a:t>
            </a:r>
            <a:br>
              <a:rPr lang="en-US" altLang="en-US" dirty="0"/>
            </a:br>
            <a:r>
              <a:rPr lang="en-US" altLang="en-US" dirty="0"/>
              <a:t>(Mouse, 60)</a:t>
            </a:r>
            <a:br>
              <a:rPr lang="en-US" altLang="en-US" dirty="0"/>
            </a:br>
            <a:r>
              <a:rPr lang="en-US" altLang="en-US" dirty="0"/>
              <a:t>(Laptop, 1500)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Shuffle Phase</a:t>
            </a:r>
            <a:r>
              <a:rPr lang="en-US" altLang="en-US" dirty="0"/>
              <a:t>: The Shuffle phase groups all values that share the same key:</a:t>
            </a:r>
          </a:p>
          <a:p>
            <a:pPr marL="45720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Laptop → [3000, 1500]</a:t>
            </a:r>
            <a:br>
              <a:rPr lang="en-US" altLang="en-US" dirty="0"/>
            </a:br>
            <a:r>
              <a:rPr lang="en-US" altLang="en-US" dirty="0"/>
              <a:t>Mouse → [60]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Reduce Phase</a:t>
            </a:r>
            <a:r>
              <a:rPr lang="en-US" altLang="en-US" dirty="0"/>
              <a:t>: The Reduce phase aggregates the values for each key by summing them to obtain the total revenue per product:</a:t>
            </a:r>
          </a:p>
          <a:p>
            <a:pPr marL="45720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(Laptop, 4500)</a:t>
            </a:r>
            <a:br>
              <a:rPr lang="en-US" altLang="en-US" dirty="0"/>
            </a:br>
            <a:r>
              <a:rPr lang="en-US" altLang="en-US" dirty="0"/>
              <a:t>(Mouse, 60)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3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6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  <a:r>
              <a:rPr lang="en-US" dirty="0"/>
              <a:t>: Joining data from two tables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Users Table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1, An</a:t>
            </a:r>
            <a:br>
              <a:rPr lang="en-US" altLang="en-US" dirty="0"/>
            </a:br>
            <a:r>
              <a:rPr lang="en-US" altLang="en-US" dirty="0"/>
              <a:t>2, </a:t>
            </a:r>
            <a:r>
              <a:rPr lang="en-US" altLang="en-US" dirty="0" err="1"/>
              <a:t>Binh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Orders Table</a:t>
            </a:r>
          </a:p>
          <a:p>
            <a:pPr marL="45720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101, 1, Laptop</a:t>
            </a:r>
            <a:br>
              <a:rPr lang="en-US" altLang="en-US" dirty="0"/>
            </a:br>
            <a:r>
              <a:rPr lang="en-US" altLang="en-US" dirty="0"/>
              <a:t>102, 2, Mouse</a:t>
            </a:r>
            <a:br>
              <a:rPr lang="en-US" altLang="en-US" dirty="0"/>
            </a:br>
            <a:r>
              <a:rPr lang="en-US" altLang="en-US" dirty="0"/>
              <a:t>103, 1, Keyboard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95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7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496110"/>
            <a:ext cx="9132570" cy="4996765"/>
          </a:xfrm>
        </p:spPr>
        <p:txBody>
          <a:bodyPr>
            <a:normAutofit fontScale="32500" lnSpcReduction="20000"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8000" b="1" dirty="0"/>
              <a:t>Map Processing</a:t>
            </a:r>
            <a:r>
              <a:rPr lang="en-US" sz="8000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dirty="0"/>
              <a:t>Map for the Users table</a:t>
            </a: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dirty="0"/>
              <a:t>(1, </a:t>
            </a:r>
            <a:r>
              <a:rPr lang="en-US" altLang="en-US" sz="8000" dirty="0" err="1"/>
              <a:t>USER:An</a:t>
            </a:r>
            <a:r>
              <a:rPr lang="en-US" altLang="en-US" sz="8000" dirty="0"/>
              <a:t>)</a:t>
            </a:r>
            <a:br>
              <a:rPr lang="en-US" altLang="en-US" sz="8000" dirty="0"/>
            </a:br>
            <a:r>
              <a:rPr lang="en-US" altLang="en-US" sz="8000" dirty="0"/>
              <a:t>(2, </a:t>
            </a:r>
            <a:r>
              <a:rPr lang="en-US" altLang="en-US" sz="8000" dirty="0" err="1"/>
              <a:t>USER:Binh</a:t>
            </a:r>
            <a:r>
              <a:rPr lang="en-US" altLang="en-US" sz="80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dirty="0"/>
              <a:t>Map for the Orders table</a:t>
            </a: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dirty="0"/>
              <a:t>(1, </a:t>
            </a:r>
            <a:r>
              <a:rPr lang="en-US" altLang="en-US" sz="8000" dirty="0" err="1"/>
              <a:t>ORDER:Laptop</a:t>
            </a:r>
            <a:r>
              <a:rPr lang="en-US" altLang="en-US" sz="8000" dirty="0"/>
              <a:t>)</a:t>
            </a:r>
            <a:br>
              <a:rPr lang="en-US" altLang="en-US" sz="8000" dirty="0"/>
            </a:br>
            <a:r>
              <a:rPr lang="en-US" altLang="en-US" sz="8000" dirty="0"/>
              <a:t>(2, </a:t>
            </a:r>
            <a:r>
              <a:rPr lang="en-US" altLang="en-US" sz="8000" dirty="0" err="1"/>
              <a:t>ORDER:Mouse</a:t>
            </a:r>
            <a:r>
              <a:rPr lang="en-US" altLang="en-US" sz="8000" dirty="0"/>
              <a:t>)</a:t>
            </a:r>
            <a:br>
              <a:rPr lang="en-US" altLang="en-US" sz="8000" dirty="0"/>
            </a:br>
            <a:r>
              <a:rPr lang="en-US" altLang="en-US" sz="8000" dirty="0"/>
              <a:t>(1, </a:t>
            </a:r>
            <a:r>
              <a:rPr lang="en-US" altLang="en-US" sz="8000" dirty="0" err="1"/>
              <a:t>ORDER:Keyboard</a:t>
            </a:r>
            <a:r>
              <a:rPr lang="en-US" altLang="en-US" sz="8000" dirty="0"/>
              <a:t>)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b="1" dirty="0"/>
              <a:t>Shuffle Phase</a:t>
            </a:r>
            <a:r>
              <a:rPr lang="en-US" altLang="en-US" sz="8000" dirty="0"/>
              <a:t>:</a:t>
            </a: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dirty="0"/>
              <a:t>1 → [</a:t>
            </a:r>
            <a:r>
              <a:rPr lang="en-US" altLang="en-US" sz="8000" dirty="0" err="1"/>
              <a:t>USER:An</a:t>
            </a:r>
            <a:r>
              <a:rPr lang="en-US" altLang="en-US" sz="8000" dirty="0"/>
              <a:t>, </a:t>
            </a:r>
            <a:r>
              <a:rPr lang="en-US" altLang="en-US" sz="8000" dirty="0" err="1"/>
              <a:t>ORDER:Laptop</a:t>
            </a:r>
            <a:r>
              <a:rPr lang="en-US" altLang="en-US" sz="8000" dirty="0"/>
              <a:t>, </a:t>
            </a:r>
            <a:r>
              <a:rPr lang="en-US" altLang="en-US" sz="8000" dirty="0" err="1"/>
              <a:t>ORDER:Keyboard</a:t>
            </a:r>
            <a:r>
              <a:rPr lang="en-US" altLang="en-US" sz="8000" dirty="0"/>
              <a:t>]</a:t>
            </a:r>
          </a:p>
          <a:p>
            <a:pPr marL="45720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0" dirty="0"/>
              <a:t>2 → [</a:t>
            </a:r>
            <a:r>
              <a:rPr lang="en-US" altLang="en-US" sz="8000" dirty="0" err="1"/>
              <a:t>USER:Binh</a:t>
            </a:r>
            <a:r>
              <a:rPr lang="en-US" altLang="en-US" sz="8000" dirty="0"/>
              <a:t>, </a:t>
            </a:r>
            <a:r>
              <a:rPr lang="en-US" altLang="en-US" sz="8000" dirty="0" err="1"/>
              <a:t>ORDER:Mouse</a:t>
            </a:r>
            <a:r>
              <a:rPr lang="en-US" altLang="en-US" sz="8000" dirty="0"/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73F1E-1FDE-4624-B951-B8644F33306A}"/>
              </a:ext>
            </a:extLst>
          </p:cNvPr>
          <p:cNvSpPr txBox="1"/>
          <p:nvPr/>
        </p:nvSpPr>
        <p:spPr>
          <a:xfrm>
            <a:off x="5410202" y="1752600"/>
            <a:ext cx="4152898" cy="1970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Phase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→ Laptop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→ Keyboard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Mouse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5DFD32-5F31-4BB1-B555-A10A25B54A2F}"/>
              </a:ext>
            </a:extLst>
          </p:cNvPr>
          <p:cNvCxnSpPr/>
          <p:nvPr/>
        </p:nvCxnSpPr>
        <p:spPr>
          <a:xfrm>
            <a:off x="5143500" y="1496111"/>
            <a:ext cx="0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23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8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MapReduce is effective for large-scale, parallel data processing tasks such as:</a:t>
            </a:r>
          </a:p>
          <a:p>
            <a:pPr marL="0" indent="0">
              <a:buNone/>
            </a:pPr>
            <a:r>
              <a:rPr lang="en-US" sz="2600" b="1" dirty="0"/>
              <a:t>1. Data Aggregation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600" dirty="0"/>
              <a:t>Counting occurrences (Word Count)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600" dirty="0"/>
              <a:t>Calculating totals, averages, or statistics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600" dirty="0"/>
              <a:t>Log analysis</a:t>
            </a:r>
          </a:p>
        </p:txBody>
      </p:sp>
    </p:spTree>
    <p:extLst>
      <p:ext uri="{BB962C8B-B14F-4D97-AF65-F5344CB8AC3E}">
        <p14:creationId xmlns:p14="http://schemas.microsoft.com/office/powerpoint/2010/main" val="303749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9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76400"/>
            <a:ext cx="9132570" cy="4816476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b="1" dirty="0"/>
              <a:t>2. Data Transformation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Converting raw data into structured formats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ETL pipelines (Extract – Transform – 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b="1" dirty="0"/>
              <a:t>Example</a:t>
            </a:r>
            <a:r>
              <a:rPr lang="en-US" altLang="en-US" sz="3200" dirty="0"/>
              <a:t>: Normalizing Website Access Log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dirty="0"/>
              <a:t>Problem: A website system stores access logs in raw format as follows: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dirty="0"/>
              <a:t>2026/03/15 10:20:01, user123, login, 192.168.1.5</a:t>
            </a:r>
            <a:br>
              <a:rPr lang="en-US" altLang="en-US" sz="3200" dirty="0"/>
            </a:br>
            <a:r>
              <a:rPr lang="en-US" altLang="en-US" sz="3200" dirty="0"/>
              <a:t>2026/03/15 10:21:10, user456, logout, 192.168.1.8</a:t>
            </a:r>
            <a:br>
              <a:rPr lang="en-US" altLang="en-US" sz="3200" dirty="0"/>
            </a:br>
            <a:r>
              <a:rPr lang="en-US" altLang="en-US" sz="3200" dirty="0"/>
              <a:t>2026/03/15 10:22:30, user123, </a:t>
            </a:r>
            <a:r>
              <a:rPr lang="en-US" altLang="en-US" sz="3200" dirty="0" err="1"/>
              <a:t>upload_file</a:t>
            </a:r>
            <a:r>
              <a:rPr lang="en-US" altLang="en-US" sz="3200" dirty="0"/>
              <a:t>, 192.168.1.5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b="1" dirty="0"/>
              <a:t>Map phase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dirty="0"/>
              <a:t>(user123, 2026-03-15 login)</a:t>
            </a:r>
            <a:br>
              <a:rPr lang="en-US" altLang="en-US" sz="3200" dirty="0"/>
            </a:br>
            <a:r>
              <a:rPr lang="en-US" altLang="en-US" sz="3200" dirty="0"/>
              <a:t>(user456, 2026-03-15 logout)</a:t>
            </a:r>
            <a:br>
              <a:rPr lang="en-US" altLang="en-US" sz="3200" dirty="0"/>
            </a:br>
            <a:r>
              <a:rPr lang="en-US" altLang="en-US" sz="3200" dirty="0"/>
              <a:t>(user123, 2026-03-15 </a:t>
            </a:r>
            <a:r>
              <a:rPr lang="en-US" altLang="en-US" sz="3200" dirty="0" err="1"/>
              <a:t>upload_file</a:t>
            </a:r>
            <a:r>
              <a:rPr lang="en-US" altLang="en-US" sz="3200" dirty="0"/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b="1" dirty="0"/>
              <a:t>Shuffle phase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3200" dirty="0"/>
              <a:t>user123 → [2026-03-15 login, 2026-03-15 </a:t>
            </a:r>
            <a:r>
              <a:rPr lang="en-US" altLang="en-US" sz="3200" dirty="0" err="1"/>
              <a:t>upload_file</a:t>
            </a:r>
            <a:r>
              <a:rPr lang="en-US" altLang="en-US" sz="3200" dirty="0"/>
              <a:t>]</a:t>
            </a:r>
            <a:br>
              <a:rPr lang="en-US" altLang="en-US" sz="3200" dirty="0"/>
            </a:br>
            <a:r>
              <a:rPr lang="en-US" altLang="en-US" sz="3200" dirty="0"/>
              <a:t>user456 → [2026-03-15 logout]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BCCCC-05C4-4FF8-97A7-BE9BF5FB7805}"/>
              </a:ext>
            </a:extLst>
          </p:cNvPr>
          <p:cNvSpPr txBox="1"/>
          <p:nvPr/>
        </p:nvSpPr>
        <p:spPr>
          <a:xfrm>
            <a:off x="4724400" y="4207636"/>
            <a:ext cx="493395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phase</a:t>
            </a:r>
          </a:p>
          <a:p>
            <a:pPr marL="228600"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user123 → 2026-03-15 login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user123 → 2026-03-15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upload_file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user456 → 2026-03-15 logout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B85AF3-E7C9-4DF2-AEBC-EFE30E9F9295}"/>
              </a:ext>
            </a:extLst>
          </p:cNvPr>
          <p:cNvCxnSpPr/>
          <p:nvPr/>
        </p:nvCxnSpPr>
        <p:spPr>
          <a:xfrm>
            <a:off x="4724400" y="4144708"/>
            <a:ext cx="0" cy="1646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436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10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/>
              <a:t>3. Search and Indexing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600" dirty="0"/>
              <a:t>Building inverted indexes for search engines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600" dirty="0"/>
              <a:t>Document indexing for large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 b="1" dirty="0"/>
              <a:t>Example</a:t>
            </a:r>
            <a:r>
              <a:rPr lang="en-US" altLang="en-US" sz="2600" dirty="0"/>
              <a:t>: Building an inverted index for documents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 dirty="0"/>
              <a:t>Problem: Assume there are several text documents in a system.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600" dirty="0"/>
              <a:t>doc1: Hadoop supports big data</a:t>
            </a:r>
          </a:p>
          <a:p>
            <a:pPr marL="4572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600" dirty="0"/>
              <a:t>doc2: Big data processing with Hadoop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 dirty="0"/>
              <a:t>- The goal is to build an inverted index to determine which documents contain each word.</a:t>
            </a:r>
            <a:br>
              <a:rPr lang="en-US" altLang="en-US" sz="2600" dirty="0"/>
            </a:br>
            <a:r>
              <a:rPr lang="en-US" altLang="en-US" sz="2600" dirty="0"/>
              <a:t>- This allows the search system to quickly retrieve relevant documents when a user enters a keyword.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279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11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32570" cy="4968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Data Filtering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Extracting specific records from large datasets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Detecting errors or anomalies in system logs</a:t>
            </a:r>
          </a:p>
          <a:p>
            <a:pPr marL="0" indent="0">
              <a:buNone/>
            </a:pPr>
            <a:r>
              <a:rPr lang="en-US" b="1" dirty="0"/>
              <a:t>5. Data Joining and Integration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Joining large tables (users, transactions, logs)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Integrating datasets from multiple sources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46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12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447800"/>
            <a:ext cx="9132570" cy="50450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6. Graph and Network Analysis</a:t>
            </a:r>
          </a:p>
          <a:p>
            <a:pPr marL="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PageRank computation</a:t>
            </a:r>
          </a:p>
          <a:p>
            <a:pPr marL="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Social network analysis</a:t>
            </a:r>
          </a:p>
          <a:p>
            <a:pPr marL="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Link analysis in web graphs</a:t>
            </a:r>
          </a:p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1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Pagerank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computation for web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Assume there are three web pages with the following links: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→ B, C </a:t>
            </a:r>
            <a:b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→ C </a:t>
            </a:r>
            <a:b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page initially has a PageRank value, for example: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= 1.0 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= 1.0 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 = 1.0</a:t>
            </a:r>
          </a:p>
        </p:txBody>
      </p:sp>
    </p:spTree>
    <p:extLst>
      <p:ext uri="{BB962C8B-B14F-4D97-AF65-F5344CB8AC3E}">
        <p14:creationId xmlns:p14="http://schemas.microsoft.com/office/powerpoint/2010/main" val="4016229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13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32570" cy="4892676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Map phase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 A: (B, 0.5), (C, 0.5)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 B: (C, 1.0)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 C: (A, 1.0)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Shuffle phase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→ [1.0] 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→ [0.5] 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 → [0.5, 1.0]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/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/>
              <a:t>Reduce phase</a:t>
            </a:r>
          </a:p>
          <a:p>
            <a:pPr marL="4572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/>
              <a:t>A → 1.0</a:t>
            </a:r>
            <a:br>
              <a:rPr lang="en-US" sz="2200" dirty="0"/>
            </a:br>
            <a:r>
              <a:rPr lang="en-US" sz="2200" dirty="0"/>
              <a:t>B → 0.5</a:t>
            </a:r>
            <a:br>
              <a:rPr lang="en-US" sz="2200" dirty="0"/>
            </a:br>
            <a:r>
              <a:rPr lang="en-US" sz="2200" dirty="0"/>
              <a:t>C → 1.5</a:t>
            </a:r>
          </a:p>
          <a:p>
            <a:pPr marL="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01824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14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447800"/>
            <a:ext cx="9132570" cy="504507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2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Pagerank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computation for web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Assume there are three web pages with the following links: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 1: A → B, C </a:t>
            </a:r>
            <a:b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 2: B → C, C →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page initially has a PageRank value, for example: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= 1.0 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= 1.0 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 = 1.0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42C2E1-5173-467B-A3AB-F961A8D31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817217"/>
            <a:ext cx="3466256" cy="101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94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15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32570" cy="49688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7. Machine Learning Preprocessing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Feature extraction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dirty="0"/>
              <a:t>Data preparation for large-scale machine learning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Example</a:t>
            </a:r>
            <a:r>
              <a:rPr lang="en-US" dirty="0"/>
              <a:t>: Feature extraction from user behavior logs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Assume we have user behavior data as follows: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user1, </a:t>
            </a:r>
            <a:r>
              <a:rPr lang="en-US" dirty="0" err="1"/>
              <a:t>view_product</a:t>
            </a:r>
            <a:br>
              <a:rPr lang="en-US" dirty="0"/>
            </a:br>
            <a:r>
              <a:rPr lang="en-US" dirty="0"/>
              <a:t>user1, </a:t>
            </a:r>
            <a:r>
              <a:rPr lang="en-US" dirty="0" err="1"/>
              <a:t>add_to_cart</a:t>
            </a:r>
            <a:br>
              <a:rPr lang="en-US" dirty="0"/>
            </a:br>
            <a:r>
              <a:rPr lang="en-US" dirty="0"/>
              <a:t>user1, purchase</a:t>
            </a:r>
            <a:br>
              <a:rPr lang="en-US" dirty="0"/>
            </a:br>
            <a:r>
              <a:rPr lang="en-US" dirty="0"/>
              <a:t>user2, </a:t>
            </a:r>
            <a:r>
              <a:rPr lang="en-US" dirty="0" err="1"/>
              <a:t>view_product</a:t>
            </a:r>
            <a:br>
              <a:rPr lang="en-US" dirty="0"/>
            </a:br>
            <a:r>
              <a:rPr lang="en-US" dirty="0"/>
              <a:t>user2, </a:t>
            </a:r>
            <a:r>
              <a:rPr lang="en-US" dirty="0" err="1"/>
              <a:t>view_product</a:t>
            </a:r>
            <a:br>
              <a:rPr lang="en-US" dirty="0"/>
            </a:br>
            <a:r>
              <a:rPr lang="en-US" dirty="0"/>
              <a:t>user3, </a:t>
            </a:r>
            <a:r>
              <a:rPr lang="en-US" dirty="0" err="1"/>
              <a:t>view_product</a:t>
            </a:r>
            <a:br>
              <a:rPr lang="en-US" dirty="0"/>
            </a:br>
            <a:r>
              <a:rPr lang="en-US" dirty="0"/>
              <a:t>user3, </a:t>
            </a:r>
            <a:r>
              <a:rPr lang="en-US" dirty="0" err="1"/>
              <a:t>add_to_cart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0F074-8661-4BC3-928C-F8D60FF283FB}"/>
              </a:ext>
            </a:extLst>
          </p:cNvPr>
          <p:cNvSpPr txBox="1"/>
          <p:nvPr/>
        </p:nvSpPr>
        <p:spPr>
          <a:xfrm>
            <a:off x="4629150" y="4870737"/>
            <a:ext cx="47577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phase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user1 → (view=1, cart=1, purchase=1)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user2 → (view=2, cart=0, purchase=0)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user3 → (view=1, cart=1, purchase=0)</a:t>
            </a:r>
          </a:p>
        </p:txBody>
      </p:sp>
    </p:spTree>
    <p:extLst>
      <p:ext uri="{BB962C8B-B14F-4D97-AF65-F5344CB8AC3E}">
        <p14:creationId xmlns:p14="http://schemas.microsoft.com/office/powerpoint/2010/main" val="313215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16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32570" cy="4968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1</a:t>
            </a:r>
            <a:r>
              <a:rPr lang="en-US" sz="2400" dirty="0"/>
              <a:t>: Training a linear regression model with </a:t>
            </a:r>
            <a:r>
              <a:rPr lang="en-US" sz="2400" dirty="0" err="1"/>
              <a:t>mapreduce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Use MapReduce to train a Linear Regression model to find a function that predicts house price based on land area.</a:t>
            </a:r>
          </a:p>
          <a:p>
            <a:pPr marL="0" indent="0">
              <a:buNone/>
            </a:pPr>
            <a:r>
              <a:rPr lang="en-US" sz="2400" dirty="0"/>
              <a:t>Training data distributed across nodes:</a:t>
            </a:r>
          </a:p>
          <a:p>
            <a:pPr marL="457200" lvl="1" indent="0">
              <a:buNone/>
            </a:pPr>
            <a:r>
              <a:rPr lang="en-US" sz="2400" dirty="0"/>
              <a:t>Node 1: (50, 100), (60, 120)</a:t>
            </a:r>
          </a:p>
          <a:p>
            <a:pPr marL="457200" lvl="1" indent="0">
              <a:buNone/>
            </a:pPr>
            <a:r>
              <a:rPr lang="en-US" sz="2400" dirty="0"/>
              <a:t>Node 2: (80, 160), (100, 200)</a:t>
            </a:r>
          </a:p>
          <a:p>
            <a:pPr marL="0" indent="0">
              <a:buNone/>
            </a:pPr>
            <a:r>
              <a:rPr lang="en-US" sz="2400" dirty="0"/>
              <a:t>Initial parameters: w=1, b=0, </a:t>
            </a:r>
            <a:r>
              <a:rPr lang="el-GR" sz="2400" dirty="0"/>
              <a:t>α=0.000001</a:t>
            </a:r>
          </a:p>
          <a:p>
            <a:pPr marL="0" indent="0">
              <a:buNone/>
            </a:pPr>
            <a:r>
              <a:rPr lang="en-US" sz="2400" dirty="0"/>
              <a:t>Linear Regression model: y=</a:t>
            </a:r>
            <a:r>
              <a:rPr lang="en-US" sz="2400" dirty="0" err="1"/>
              <a:t>wx+b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Loss function:</a:t>
            </a:r>
          </a:p>
          <a:p>
            <a:pPr marL="0" indent="0">
              <a:buNone/>
            </a:pPr>
            <a:r>
              <a:rPr lang="en-US" sz="2400" dirty="0"/>
              <a:t>Gradients: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7C507-C976-4669-B486-32263F0B96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81250" y="4926011"/>
            <a:ext cx="2133600" cy="479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0FBF44-003A-49D1-A0EA-3BB272C0E6D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00300" y="5451472"/>
            <a:ext cx="2057400" cy="104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86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17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32570" cy="496887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Map Phase: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Node 1: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Point 1 (50, 100)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/>
              <a:t>y_pred</a:t>
            </a:r>
            <a:r>
              <a:rPr lang="en-US" sz="1800" dirty="0"/>
              <a:t>=50</a:t>
            </a:r>
            <a:br>
              <a:rPr lang="en-US" sz="1800" dirty="0"/>
            </a:br>
            <a:r>
              <a:rPr lang="en-US" sz="1800" dirty="0"/>
              <a:t>error = 100-50 = 50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gw1 = -2*50*50 = -5000</a:t>
            </a:r>
            <a:br>
              <a:rPr lang="en-US" sz="1800" dirty="0"/>
            </a:br>
            <a:r>
              <a:rPr lang="en-US" sz="1800" dirty="0"/>
              <a:t>gb1 = -2*50 = -100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Point 2 (60, 120)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/>
              <a:t>y_pred</a:t>
            </a:r>
            <a:r>
              <a:rPr lang="en-US" sz="1800" dirty="0"/>
              <a:t>=60</a:t>
            </a:r>
            <a:br>
              <a:rPr lang="en-US" sz="1800" dirty="0"/>
            </a:br>
            <a:r>
              <a:rPr lang="en-US" sz="1800" dirty="0"/>
              <a:t>error = 60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gw2 = -2*60*60 = -7200</a:t>
            </a:r>
            <a:br>
              <a:rPr lang="en-US" sz="1800" dirty="0"/>
            </a:br>
            <a:r>
              <a:rPr lang="en-US" sz="1800" dirty="0"/>
              <a:t>gb2 = -120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(</a:t>
            </a:r>
            <a:r>
              <a:rPr lang="en-US" sz="1800" dirty="0" err="1"/>
              <a:t>gradient_w</a:t>
            </a:r>
            <a:r>
              <a:rPr lang="en-US" sz="1800" dirty="0"/>
              <a:t>, -12200)</a:t>
            </a:r>
            <a:br>
              <a:rPr lang="en-US" sz="1800" dirty="0"/>
            </a:br>
            <a:r>
              <a:rPr lang="en-US" sz="1800" dirty="0"/>
              <a:t>(</a:t>
            </a:r>
            <a:r>
              <a:rPr lang="en-US" sz="1800" dirty="0" err="1"/>
              <a:t>gradient_b</a:t>
            </a:r>
            <a:r>
              <a:rPr lang="en-US" sz="1800" dirty="0"/>
              <a:t>, -220)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(error = 110)</a:t>
            </a:r>
          </a:p>
        </p:txBody>
      </p:sp>
    </p:spTree>
    <p:extLst>
      <p:ext uri="{BB962C8B-B14F-4D97-AF65-F5344CB8AC3E}">
        <p14:creationId xmlns:p14="http://schemas.microsoft.com/office/powerpoint/2010/main" val="2080210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18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32570" cy="49688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/>
              <a:t>Node 2: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(</a:t>
            </a:r>
            <a:r>
              <a:rPr lang="en-US" sz="1800" dirty="0" err="1"/>
              <a:t>gradient_w</a:t>
            </a:r>
            <a:r>
              <a:rPr lang="en-US" sz="1800" dirty="0"/>
              <a:t>, -32800)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(</a:t>
            </a:r>
            <a:r>
              <a:rPr lang="en-US" sz="1800" dirty="0" err="1"/>
              <a:t>gradient_b</a:t>
            </a:r>
            <a:r>
              <a:rPr lang="en-US" sz="1800" dirty="0"/>
              <a:t>, -360)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(error = 180)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Shuffle phase: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/>
              <a:t>gradient_w</a:t>
            </a:r>
            <a:r>
              <a:rPr lang="en-US" sz="1800" dirty="0"/>
              <a:t> → [-12200, -32800]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/>
              <a:t>gradient_b</a:t>
            </a:r>
            <a:r>
              <a:rPr lang="en-US" sz="1800" dirty="0"/>
              <a:t> → [-220, -360]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Reduce phase: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/>
              <a:t>g_total_w</a:t>
            </a:r>
            <a:r>
              <a:rPr lang="en-US" sz="1800" dirty="0"/>
              <a:t> = -45000</a:t>
            </a:r>
            <a:br>
              <a:rPr lang="en-US" sz="1800" dirty="0"/>
            </a:br>
            <a:r>
              <a:rPr lang="en-US" sz="1800" dirty="0" err="1"/>
              <a:t>g_total_b</a:t>
            </a:r>
            <a:r>
              <a:rPr lang="en-US" sz="1800" dirty="0"/>
              <a:t> = -580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error = 290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/>
              <a:t>Model Update (Iteration 1):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ea typeface="Calibri" panose="020F0502020204030204" pitchFamily="34" charset="0"/>
              </a:rPr>
              <a:t>w = 1 - α*(-45000) = 1.045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ea typeface="Calibri" panose="020F0502020204030204" pitchFamily="34" charset="0"/>
              </a:rPr>
              <a:t>b = 0 - α*(-580) = 0.00058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MapReduce repeats this process for multiple iterations until the model converges: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error &lt; threshold</a:t>
            </a:r>
          </a:p>
        </p:txBody>
      </p:sp>
    </p:spTree>
    <p:extLst>
      <p:ext uri="{BB962C8B-B14F-4D97-AF65-F5344CB8AC3E}">
        <p14:creationId xmlns:p14="http://schemas.microsoft.com/office/powerpoint/2010/main" val="217432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19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32570" cy="4968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2</a:t>
            </a:r>
            <a:r>
              <a:rPr lang="en-US" sz="2400" dirty="0"/>
              <a:t>: Training a linear regression model with </a:t>
            </a:r>
            <a:r>
              <a:rPr lang="en-US" sz="2400" dirty="0" err="1"/>
              <a:t>mapreduce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Use MapReduce to train a Linear Regression model to find a function that predicts house price based on land area.</a:t>
            </a:r>
          </a:p>
          <a:p>
            <a:pPr marL="0" indent="0">
              <a:buNone/>
            </a:pPr>
            <a:r>
              <a:rPr lang="en-US" sz="2400" dirty="0"/>
              <a:t>Training data distributed across nodes:</a:t>
            </a:r>
          </a:p>
          <a:p>
            <a:pPr marL="457200" lvl="1" indent="0">
              <a:buNone/>
            </a:pPr>
            <a:r>
              <a:rPr lang="en-US" sz="2400" dirty="0"/>
              <a:t>Node 1: (40, 95), (55, 115)</a:t>
            </a:r>
          </a:p>
          <a:p>
            <a:pPr marL="457200" lvl="1" indent="0">
              <a:buNone/>
            </a:pPr>
            <a:r>
              <a:rPr lang="en-US" sz="2400" dirty="0"/>
              <a:t>Node 2: (70, 150), (90, 180)</a:t>
            </a:r>
          </a:p>
          <a:p>
            <a:pPr marL="457200" lvl="1" indent="0">
              <a:buNone/>
            </a:pPr>
            <a:r>
              <a:rPr lang="en-US" sz="2400" dirty="0"/>
              <a:t>Node 3: (110, 210), (130, 250)</a:t>
            </a:r>
          </a:p>
          <a:p>
            <a:pPr marL="457200" lvl="1" indent="0">
              <a:buNone/>
            </a:pPr>
            <a:r>
              <a:rPr lang="en-US" sz="2400" dirty="0"/>
              <a:t>Initial parameters: w=0.8, b=5, </a:t>
            </a:r>
            <a:r>
              <a:rPr lang="el-GR" sz="2400" dirty="0"/>
              <a:t>α=0.000001</a:t>
            </a:r>
          </a:p>
          <a:p>
            <a:pPr marL="0" indent="0">
              <a:buNone/>
            </a:pPr>
            <a:r>
              <a:rPr lang="en-US" sz="2400" dirty="0"/>
              <a:t>Linear Regression model: y=</a:t>
            </a:r>
            <a:r>
              <a:rPr lang="en-US" sz="2400" dirty="0" err="1"/>
              <a:t>wx+b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Loss function:</a:t>
            </a:r>
          </a:p>
          <a:p>
            <a:pPr marL="0" indent="0">
              <a:buNone/>
            </a:pPr>
            <a:r>
              <a:rPr lang="en-US" sz="2400" dirty="0"/>
              <a:t>					Gradients: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7C507-C976-4669-B486-32263F0B96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019300" y="5280019"/>
            <a:ext cx="2133600" cy="479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0FBF44-003A-49D1-A0EA-3BB272C0E6D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00800" y="5280019"/>
            <a:ext cx="2057400" cy="104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37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MapReduce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20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Limitations of MapReduce</a:t>
            </a:r>
            <a:endParaRPr lang="en-US" dirty="0"/>
          </a:p>
          <a:p>
            <a:pPr marL="400050">
              <a:buFont typeface="Arial" panose="020B0604020202020204" pitchFamily="34" charset="0"/>
              <a:buChar char="•"/>
            </a:pPr>
            <a:r>
              <a:rPr lang="en-US" dirty="0"/>
              <a:t>Slow processing due to frequent disk read/write operations.</a:t>
            </a:r>
          </a:p>
          <a:p>
            <a:pPr marL="400050">
              <a:buFont typeface="Arial" panose="020B0604020202020204" pitchFamily="34" charset="0"/>
              <a:buChar char="•"/>
            </a:pPr>
            <a:r>
              <a:rPr lang="en-US" dirty="0"/>
              <a:t>Limited support for interactive processing.</a:t>
            </a:r>
          </a:p>
          <a:p>
            <a:pPr marL="400050">
              <a:buFont typeface="Arial" panose="020B0604020202020204" pitchFamily="34" charset="0"/>
              <a:buChar char="•"/>
            </a:pPr>
            <a:r>
              <a:rPr lang="en-US" dirty="0"/>
              <a:t>Not optimized for machine learning.</a:t>
            </a:r>
          </a:p>
          <a:p>
            <a:pPr marL="400050">
              <a:buFont typeface="Arial" panose="020B0604020202020204" pitchFamily="34" charset="0"/>
              <a:buChar char="•"/>
            </a:pPr>
            <a:r>
              <a:rPr lang="en-US" dirty="0"/>
              <a:t>Not suitable for streaming data processing.</a:t>
            </a:r>
          </a:p>
          <a:p>
            <a:pPr marL="0" indent="0">
              <a:buNone/>
            </a:pPr>
            <a:r>
              <a:rPr lang="en-US" dirty="0"/>
              <a:t>→ Apache Spark was developed to address these limitations.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94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Apache Spark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21</a:t>
            </a:fld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825625"/>
            <a:ext cx="9144000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600" dirty="0"/>
              <a:t>Apache Spark is a fast and distributed big data processing framework.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600" dirty="0"/>
              <a:t>Key features: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In-memory computing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Faster than Hadoop MapReduce</a:t>
            </a:r>
          </a:p>
          <a:p>
            <a:pPr marL="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Supports multiple APIs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600" dirty="0"/>
              <a:t>Supported languages: Python, Scala, Java, R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03947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1295399"/>
          </a:xfrm>
        </p:spPr>
        <p:txBody>
          <a:bodyPr>
            <a:normAutofit/>
          </a:bodyPr>
          <a:lstStyle/>
          <a:p>
            <a:r>
              <a:rPr lang="en-US" sz="3500" dirty="0"/>
              <a:t>Apache Spark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BM KHDL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Trang </a:t>
            </a:r>
            <a:fld id="{53378AA8-78D2-4BCA-9541-9DE0B9F74541}" type="slidenum">
              <a:rPr smtClean="0"/>
              <a:pPr/>
              <a:t>22</a:t>
            </a:fld>
            <a:endParaRPr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BD4824AA-4A35-4F03-9196-8608803F4D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603597"/>
              </p:ext>
            </p:extLst>
          </p:nvPr>
        </p:nvGraphicFramePr>
        <p:xfrm>
          <a:off x="838200" y="2952345"/>
          <a:ext cx="7543800" cy="2651760"/>
        </p:xfrm>
        <a:graphic>
          <a:graphicData uri="http://schemas.openxmlformats.org/drawingml/2006/table">
            <a:tbl>
              <a:tblPr/>
              <a:tblGrid>
                <a:gridCol w="2321169">
                  <a:extLst>
                    <a:ext uri="{9D8B030D-6E8A-4147-A177-3AD203B41FA5}">
                      <a16:colId xmlns:a16="http://schemas.microsoft.com/office/drawing/2014/main" val="4160120123"/>
                    </a:ext>
                  </a:extLst>
                </a:gridCol>
                <a:gridCol w="5222631">
                  <a:extLst>
                    <a:ext uri="{9D8B030D-6E8A-4147-A177-3AD203B41FA5}">
                      <a16:colId xmlns:a16="http://schemas.microsoft.com/office/drawing/2014/main" val="1689438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224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Spark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and analyzing 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157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MLlib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algorithms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16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GraphX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processing and graph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61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Spark Streaming</a:t>
                      </a:r>
                    </a:p>
                    <a:p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Spark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stream processing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710609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4B2A056D-72AD-441F-AAEF-A3CC8292E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1723762"/>
            <a:ext cx="901065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Ecosystem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2649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cdb2004108l</Template>
  <TotalTime>19302</TotalTime>
  <Words>1671</Words>
  <Application>Microsoft Office PowerPoint</Application>
  <PresentationFormat>On-screen Show (4:3)</PresentationFormat>
  <Paragraphs>279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Georgia</vt:lpstr>
      <vt:lpstr>Times New Roman</vt:lpstr>
      <vt:lpstr>Verdana</vt:lpstr>
      <vt:lpstr>Custom Design</vt:lpstr>
      <vt:lpstr>1_Custom Design</vt:lpstr>
      <vt:lpstr>XỬ LÝ DỮ LIỆU LỚN TRÊN APACHE SPARK</vt:lpstr>
      <vt:lpstr>CONTENT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MapReduce Model</vt:lpstr>
      <vt:lpstr>Apache Spark</vt:lpstr>
      <vt:lpstr>Apache Spark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VÀ GIẢI THUẬT</dc:title>
  <dc:creator>Sony</dc:creator>
  <cp:lastModifiedBy>HP</cp:lastModifiedBy>
  <cp:revision>443</cp:revision>
  <cp:lastPrinted>2024-08-22T02:09:11Z</cp:lastPrinted>
  <dcterms:created xsi:type="dcterms:W3CDTF">2011-02-16T03:20:26Z</dcterms:created>
  <dcterms:modified xsi:type="dcterms:W3CDTF">2026-08-03T03:55:15Z</dcterms:modified>
</cp:coreProperties>
</file>