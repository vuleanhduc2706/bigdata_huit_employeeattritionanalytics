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689" r:id="rId2"/>
  </p:sldMasterIdLst>
  <p:notesMasterIdLst>
    <p:notesMasterId r:id="rId18"/>
  </p:notesMasterIdLst>
  <p:handoutMasterIdLst>
    <p:handoutMasterId r:id="rId19"/>
  </p:handoutMasterIdLst>
  <p:sldIdLst>
    <p:sldId id="256" r:id="rId3"/>
    <p:sldId id="363" r:id="rId4"/>
    <p:sldId id="380" r:id="rId5"/>
    <p:sldId id="383" r:id="rId6"/>
    <p:sldId id="391" r:id="rId7"/>
    <p:sldId id="381" r:id="rId8"/>
    <p:sldId id="392" r:id="rId9"/>
    <p:sldId id="382" r:id="rId10"/>
    <p:sldId id="393" r:id="rId11"/>
    <p:sldId id="385" r:id="rId12"/>
    <p:sldId id="386" r:id="rId13"/>
    <p:sldId id="387" r:id="rId14"/>
    <p:sldId id="388" r:id="rId15"/>
    <p:sldId id="389" r:id="rId16"/>
    <p:sldId id="390" r:id="rId17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CA58"/>
    <a:srgbClr val="000066"/>
    <a:srgbClr val="820000"/>
    <a:srgbClr val="0000CC"/>
    <a:srgbClr val="CC0066"/>
    <a:srgbClr val="CC0099"/>
    <a:srgbClr val="FF0000"/>
    <a:srgbClr val="CC3300"/>
    <a:srgbClr val="6600CC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64276" autoAdjust="0"/>
  </p:normalViewPr>
  <p:slideViewPr>
    <p:cSldViewPr>
      <p:cViewPr varScale="1">
        <p:scale>
          <a:sx n="58" d="100"/>
          <a:sy n="58" d="100"/>
        </p:scale>
        <p:origin x="6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4BF82-6142-421B-9D27-4459658F298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E278BB-0CAB-4A1F-A984-8FD2D911E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72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9B5B886-5471-401E-84F6-62AB41E67698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DB2990B-FECD-4C00-917F-2D9B625F7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34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38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12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59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12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91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81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560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54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037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7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534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9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2251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255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76201"/>
            <a:ext cx="8001000" cy="12953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086100" y="6492875"/>
            <a:ext cx="30861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BM KHDL&amp;TTNT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‹#›</a:t>
            </a:fld>
            <a:endParaRPr/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0" y="1825625"/>
            <a:ext cx="913257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593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216275"/>
          </a:xfrm>
        </p:spPr>
        <p:txBody>
          <a:bodyPr>
            <a:normAutofit/>
          </a:bodyPr>
          <a:lstStyle>
            <a:lvl1pPr>
              <a:defRPr sz="5000">
                <a:solidFill>
                  <a:srgbClr val="C00000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762000" y="5181600"/>
            <a:ext cx="7848600" cy="1524000"/>
          </a:xfrm>
        </p:spPr>
        <p:txBody>
          <a:bodyPr>
            <a:noAutofit/>
          </a:bodyPr>
          <a:lstStyle>
            <a:lvl1pPr>
              <a:defRPr sz="35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>
              <a:defRPr sz="350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>
              <a:defRPr sz="35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>
              <a:defRPr sz="3500"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>
              <a:defRPr sz="3500">
                <a:solidFill>
                  <a:schemeClr val="tx1"/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056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6492875"/>
            <a:ext cx="9132570" cy="365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825625"/>
            <a:ext cx="91325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71800" y="649287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rgbClr val="8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BM KHDL&amp;TTNT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800" kern="1200" smtClean="0">
                <a:solidFill>
                  <a:srgbClr val="82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fld id="{53378AA8-78D2-4BCA-9541-9DE0B9F7454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143000" cy="1143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9" name="Straight Connector 8"/>
          <p:cNvCxnSpPr/>
          <p:nvPr userDrawn="1"/>
        </p:nvCxnSpPr>
        <p:spPr>
          <a:xfrm>
            <a:off x="1143000" y="1295400"/>
            <a:ext cx="8001000" cy="0"/>
          </a:xfrm>
          <a:prstGeom prst="line">
            <a:avLst/>
          </a:prstGeom>
          <a:ln w="444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1"/>
            <a:ext cx="8001000" cy="1295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7030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0000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C0000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C0000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C0000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C0000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BM KHMT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99C50-9B02-4DB4-972A-BA2B85D88F8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7"/>
          <p:cNvSpPr>
            <a:spLocks noChangeArrowheads="1"/>
          </p:cNvSpPr>
          <p:nvPr userDrawn="1"/>
        </p:nvSpPr>
        <p:spPr bwMode="white">
          <a:xfrm>
            <a:off x="0" y="6349"/>
            <a:ext cx="9144000" cy="4138613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18"/>
          <p:cNvSpPr>
            <a:spLocks noChangeArrowheads="1"/>
          </p:cNvSpPr>
          <p:nvPr userDrawn="1"/>
        </p:nvSpPr>
        <p:spPr bwMode="white">
          <a:xfrm>
            <a:off x="0" y="4916488"/>
            <a:ext cx="9163050" cy="19415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Freeform 19" descr="108a"/>
          <p:cNvSpPr>
            <a:spLocks/>
          </p:cNvSpPr>
          <p:nvPr userDrawn="1"/>
        </p:nvSpPr>
        <p:spPr bwMode="gray">
          <a:xfrm>
            <a:off x="-4763" y="3554412"/>
            <a:ext cx="9148763" cy="1279525"/>
          </a:xfrm>
          <a:custGeom>
            <a:avLst/>
            <a:gdLst/>
            <a:ahLst/>
            <a:cxnLst>
              <a:cxn ang="0">
                <a:pos x="0" y="586"/>
              </a:cxn>
              <a:cxn ang="0">
                <a:pos x="2929" y="18"/>
              </a:cxn>
              <a:cxn ang="0">
                <a:pos x="5763" y="593"/>
              </a:cxn>
              <a:cxn ang="0">
                <a:pos x="5763" y="1756"/>
              </a:cxn>
              <a:cxn ang="0">
                <a:pos x="0" y="1752"/>
              </a:cxn>
              <a:cxn ang="0">
                <a:pos x="0" y="586"/>
              </a:cxn>
            </a:cxnLst>
            <a:rect l="0" t="0" r="r" b="b"/>
            <a:pathLst>
              <a:path w="5763" h="1756">
                <a:moveTo>
                  <a:pt x="0" y="586"/>
                </a:moveTo>
                <a:cubicBezTo>
                  <a:pt x="693" y="340"/>
                  <a:pt x="1521" y="0"/>
                  <a:pt x="2929" y="18"/>
                </a:cubicBezTo>
                <a:cubicBezTo>
                  <a:pt x="4337" y="36"/>
                  <a:pt x="5292" y="322"/>
                  <a:pt x="5763" y="593"/>
                </a:cubicBezTo>
                <a:lnTo>
                  <a:pt x="5763" y="1756"/>
                </a:lnTo>
                <a:lnTo>
                  <a:pt x="0" y="1752"/>
                </a:lnTo>
                <a:lnTo>
                  <a:pt x="0" y="58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57150" cmpd="sng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Rectangle 20"/>
          <p:cNvSpPr>
            <a:spLocks noChangeArrowheads="1"/>
          </p:cNvSpPr>
          <p:nvPr userDrawn="1"/>
        </p:nvSpPr>
        <p:spPr bwMode="gray">
          <a:xfrm>
            <a:off x="0" y="4826000"/>
            <a:ext cx="9156700" cy="1682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9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dirty="0">
                <a:solidFill>
                  <a:schemeClr val="accent4"/>
                </a:solidFill>
              </a:rPr>
              <a:t>KỸ THUẬT LƯU TRỮ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05000" y="5334000"/>
            <a:ext cx="7239000" cy="1524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	GV:</a:t>
            </a:r>
          </a:p>
          <a:p>
            <a:pPr marL="0" indent="0">
              <a:buNone/>
            </a:pPr>
            <a:r>
              <a:rPr lang="en-US" dirty="0"/>
              <a:t>		Mail: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2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2133600"/>
            <a:ext cx="9132570" cy="4359275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en-US" dirty="0"/>
              <a:t>1. Cluster Structure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en-US" dirty="0"/>
              <a:t>2. Distributed File Systems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en-US" dirty="0"/>
              <a:t>3. </a:t>
            </a:r>
            <a:r>
              <a:rPr lang="en-US" altLang="en-US" dirty="0" err="1"/>
              <a:t>Sharding</a:t>
            </a:r>
            <a:r>
              <a:rPr lang="en-US" altLang="en-US" dirty="0"/>
              <a:t> and Replication Techniques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en-US" dirty="0"/>
              <a:t>4. Parallel Data Processing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en-US" dirty="0"/>
              <a:t>5. Distributed Data Processing</a:t>
            </a:r>
          </a:p>
        </p:txBody>
      </p:sp>
    </p:spTree>
    <p:extLst>
      <p:ext uri="{BB962C8B-B14F-4D97-AF65-F5344CB8AC3E}">
        <p14:creationId xmlns:p14="http://schemas.microsoft.com/office/powerpoint/2010/main" val="623481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dirty="0"/>
              <a:t>Cluster Structure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3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Introduction to Clusters</a:t>
            </a:r>
            <a:endParaRPr lang="en-US" dirty="0"/>
          </a:p>
          <a:p>
            <a:r>
              <a:rPr lang="en-US" b="1" dirty="0"/>
              <a:t>Definition:</a:t>
            </a:r>
            <a:r>
              <a:rPr lang="en-US" dirty="0"/>
              <a:t> A cluster is a collection of interconnected computers (or nodes) that work together as a single system to perform tasks like data processing, storage, and computation.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/>
              <a:t>The main goals of clusters in Big Data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/>
              <a:t>- Improving processing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/>
              <a:t>- Enabling flexible scalability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/>
              <a:t>- Enhancing reliability and fault tolerance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051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dirty="0"/>
              <a:t>Cluster Structure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4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32570" cy="48926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 dirty="0"/>
              <a:t>Types of Clusters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 dirty="0"/>
              <a:t>High Available Cluster</a:t>
            </a:r>
            <a:endParaRPr lang="en-US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/>
              <a:t>Clusters are designed to ensure that the system never goes down.</a:t>
            </a:r>
          </a:p>
          <a:p>
            <a:pPr marL="0" indent="0">
              <a:buNone/>
            </a:pPr>
            <a:r>
              <a:rPr lang="en-US" dirty="0"/>
              <a:t>They are used in critical systems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Banking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E-commerce platforms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Hospital data systems</a:t>
            </a:r>
          </a:p>
        </p:txBody>
      </p:sp>
    </p:spTree>
    <p:extLst>
      <p:ext uri="{BB962C8B-B14F-4D97-AF65-F5344CB8AC3E}">
        <p14:creationId xmlns:p14="http://schemas.microsoft.com/office/powerpoint/2010/main" val="1862735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dirty="0"/>
              <a:t>Cluster Structure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5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32570" cy="48926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 dirty="0"/>
              <a:t>Types of Clusters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 dirty="0"/>
              <a:t>High Available Cluster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Technologies supporting High Availability Clusters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Hadoop </a:t>
            </a:r>
            <a:r>
              <a:rPr lang="en-US" dirty="0" err="1"/>
              <a:t>NameNode</a:t>
            </a:r>
            <a:r>
              <a:rPr lang="en-US" dirty="0"/>
              <a:t> High Availability: If the </a:t>
            </a:r>
            <a:r>
              <a:rPr lang="en-US" dirty="0" err="1"/>
              <a:t>NameNode</a:t>
            </a:r>
            <a:r>
              <a:rPr lang="en-US" dirty="0"/>
              <a:t> fails, an active standby </a:t>
            </a:r>
            <a:r>
              <a:rPr lang="en-US" dirty="0" err="1"/>
              <a:t>NameNode</a:t>
            </a:r>
            <a:r>
              <a:rPr lang="en-US" dirty="0"/>
              <a:t> takes over through automatic failover.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Apache </a:t>
            </a:r>
            <a:r>
              <a:rPr lang="en-US" dirty="0" err="1"/>
              <a:t>ZooKeeper</a:t>
            </a:r>
            <a:r>
              <a:rPr lang="en-US" dirty="0"/>
              <a:t>: Monitors nodes, performs leader election, and enables automatic failover.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 High Availability (Database HA): Ensures continuous database service through replication and failover.</a:t>
            </a:r>
          </a:p>
        </p:txBody>
      </p:sp>
    </p:spTree>
    <p:extLst>
      <p:ext uri="{BB962C8B-B14F-4D97-AF65-F5344CB8AC3E}">
        <p14:creationId xmlns:p14="http://schemas.microsoft.com/office/powerpoint/2010/main" val="3030817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dirty="0"/>
              <a:t>Cluster Structure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6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32570" cy="48926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 dirty="0"/>
              <a:t>Types of Clusters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 dirty="0"/>
              <a:t>Load Balancing Cluster</a:t>
            </a:r>
            <a:endParaRPr lang="en-US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/>
              <a:t>Distributes incoming traffic and processing workload evenly across multiple nodes.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 dirty="0"/>
              <a:t>Example: </a:t>
            </a:r>
            <a:r>
              <a:rPr lang="en-US" dirty="0"/>
              <a:t>During Shopee’s 11/11 sales event, there are millions of user visits.</a:t>
            </a:r>
            <a:br>
              <a:rPr lang="en-US" dirty="0"/>
            </a:br>
            <a:r>
              <a:rPr lang="en-US" dirty="0"/>
              <a:t>If all requests are handled by a single server, the system may become overloaded and crash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435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dirty="0"/>
              <a:t>Cluster Structure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7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32570" cy="48926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 dirty="0"/>
              <a:t>Types of Clusters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 dirty="0"/>
              <a:t>Load Balancing Cluster</a:t>
            </a:r>
            <a:endParaRPr lang="en-US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/>
              <a:t>Technologies supporting Load Balancing Cluster: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 err="1"/>
              <a:t>HAProxy</a:t>
            </a:r>
            <a:r>
              <a:rPr lang="en-US" dirty="0"/>
              <a:t> Load Balancer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Spark Cluster Load Distribution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Kafka Partition Balancing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901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dirty="0"/>
              <a:t>Cluster Structure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KHDL&amp;TTNT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8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32570" cy="48926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 dirty="0"/>
              <a:t>Cluster structures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 dirty="0"/>
              <a:t>Symmetric Cluster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 Nodes are equal peers with the same role.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 There is no central coordinating node.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 Each node is responsible for both processing and management tasks.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/>
              <a:t>Technologies using Symmetric Cluster: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/>
              <a:t> Blockchain Networks (Ethereum, Bitcoin)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/>
              <a:t> Cassandra Ring Architecture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US" sz="1800" dirty="0">
              <a:effectLst/>
              <a:ea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US" sz="1800" dirty="0">
              <a:effectLst/>
              <a:ea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6E8B602-FB35-4E34-844C-63A8F7DB8047}"/>
              </a:ext>
            </a:extLst>
          </p:cNvPr>
          <p:cNvSpPr txBox="1">
            <a:spLocks/>
          </p:cNvSpPr>
          <p:nvPr/>
        </p:nvSpPr>
        <p:spPr>
          <a:xfrm>
            <a:off x="3118485" y="6492875"/>
            <a:ext cx="3086100" cy="3651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82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r>
              <a:rPr lang="en-US" dirty="0"/>
              <a:t>BM KHDL</a:t>
            </a:r>
          </a:p>
        </p:txBody>
      </p:sp>
    </p:spTree>
    <p:extLst>
      <p:ext uri="{BB962C8B-B14F-4D97-AF65-F5344CB8AC3E}">
        <p14:creationId xmlns:p14="http://schemas.microsoft.com/office/powerpoint/2010/main" val="650549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dirty="0"/>
              <a:t>Cluster Structure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9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32570" cy="48926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 dirty="0"/>
              <a:t>Cluster structures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/>
              <a:t>Asymmetric Cluster (Master–Worker)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 is a central node called the Master.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remaining nodes act as Workers.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Master coordinates and manages tasks, while Workers execute the assigned workloads.</a:t>
            </a:r>
          </a:p>
          <a:p>
            <a:pPr marL="0" indent="0">
              <a:buNone/>
            </a:pPr>
            <a:r>
              <a:rPr lang="en-US" b="1" dirty="0"/>
              <a:t>Technologies Using Asymmetric (Master–Worker) Clusters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Spark Cluster (Driver–Executor)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YARN Resource Manager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HDFS Master–Worker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4055328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dirty="0"/>
              <a:t>Distributed File Systems (DFS)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10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32570" cy="4892675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 A DFS is a file system that allows data to be stored across multiple machines (nodes).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 Users still access the data as if it were a single unified file.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 Large files are split into smaller blocks/chunks.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 Each block is distributed across different nodes and is typically replicated to prevent data loss.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 dirty="0"/>
              <a:t>Technologies supporting DFS: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/>
              <a:t> Hadoop Distributed File System (HDFS)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/>
              <a:t> Google File System (GFS)</a:t>
            </a:r>
          </a:p>
        </p:txBody>
      </p:sp>
    </p:spTree>
    <p:extLst>
      <p:ext uri="{BB962C8B-B14F-4D97-AF65-F5344CB8AC3E}">
        <p14:creationId xmlns:p14="http://schemas.microsoft.com/office/powerpoint/2010/main" val="3739859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 fontScale="90000"/>
          </a:bodyPr>
          <a:lstStyle/>
          <a:p>
            <a:r>
              <a:rPr lang="en-US"/>
              <a:t>Sharding and Replication Techniques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11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32570" cy="48926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 dirty="0" err="1"/>
              <a:t>Sharding</a:t>
            </a:r>
            <a:endParaRPr lang="en-US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/>
              <a:t>Dividing a large dataset into smaller, manageable pieces called shards, which are stored on different nodes.</a:t>
            </a:r>
          </a:p>
          <a:p>
            <a:pPr marL="0" indent="0">
              <a:buNone/>
            </a:pPr>
            <a:r>
              <a:rPr lang="en-US" b="1" dirty="0"/>
              <a:t>Technologies using </a:t>
            </a:r>
            <a:r>
              <a:rPr lang="en-US" b="1" dirty="0" err="1"/>
              <a:t>Sharding</a:t>
            </a:r>
            <a:r>
              <a:rPr lang="en-US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MongoDB </a:t>
            </a:r>
            <a:r>
              <a:rPr lang="en-US" b="1" dirty="0" err="1"/>
              <a:t>Sharding</a:t>
            </a:r>
            <a:r>
              <a:rPr lang="en-US" dirty="0"/>
              <a:t> – distributes data across multiple shard servers.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Apache Cassandra</a:t>
            </a:r>
            <a:r>
              <a:rPr lang="en-US" dirty="0"/>
              <a:t> – automatically partitions and distributes data using a ring architecture.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MySQL </a:t>
            </a:r>
            <a:r>
              <a:rPr lang="en-US" b="1" dirty="0" err="1"/>
              <a:t>Sharding</a:t>
            </a:r>
            <a:r>
              <a:rPr lang="en-US" b="1" dirty="0"/>
              <a:t> </a:t>
            </a:r>
            <a:r>
              <a:rPr lang="en-US" dirty="0"/>
              <a:t>– splits databases based on user/customer IDs.</a:t>
            </a:r>
          </a:p>
        </p:txBody>
      </p:sp>
    </p:spTree>
    <p:extLst>
      <p:ext uri="{BB962C8B-B14F-4D97-AF65-F5344CB8AC3E}">
        <p14:creationId xmlns:p14="http://schemas.microsoft.com/office/powerpoint/2010/main" val="4245420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 fontScale="90000"/>
          </a:bodyPr>
          <a:lstStyle/>
          <a:p>
            <a:r>
              <a:rPr lang="en-US"/>
              <a:t>Sharding and Replication Techniques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KHDL&amp;TTNT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12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32570" cy="48926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 dirty="0"/>
              <a:t>Data Replication</a:t>
            </a:r>
            <a:endParaRPr lang="en-US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/>
              <a:t>Creating multiple copies of data across different nodes to ensure availability and protect against data loss.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 dirty="0"/>
              <a:t>Example:</a:t>
            </a:r>
            <a:r>
              <a:rPr lang="en-US" dirty="0"/>
              <a:t> In a cloud storage service like Amazon S3, data is automatically replicated across multiple data centers.</a:t>
            </a:r>
          </a:p>
        </p:txBody>
      </p:sp>
    </p:spTree>
    <p:extLst>
      <p:ext uri="{BB962C8B-B14F-4D97-AF65-F5344CB8AC3E}">
        <p14:creationId xmlns:p14="http://schemas.microsoft.com/office/powerpoint/2010/main" val="3962923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 fontScale="90000"/>
          </a:bodyPr>
          <a:lstStyle/>
          <a:p>
            <a:r>
              <a:rPr lang="en-US"/>
              <a:t>Sharding and Replication Techniques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KHDL&amp;TTNT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13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32570" cy="48926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/>
              <a:t>2.3. Combining Sharding and Replication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/>
              <a:t>Definition:</a:t>
            </a:r>
            <a:r>
              <a:rPr lang="en-US"/>
              <a:t> Using both sharding and replication to maximize scalability and reliability.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/>
              <a:t>Example:</a:t>
            </a:r>
            <a:r>
              <a:rPr lang="en-US"/>
              <a:t> A global e-commerce platform might shard its database by region (e.g., Europe, Asia, Americas) and replicate each shard across multiple data centers for redundancy.</a:t>
            </a:r>
          </a:p>
        </p:txBody>
      </p:sp>
    </p:spTree>
    <p:extLst>
      <p:ext uri="{BB962C8B-B14F-4D97-AF65-F5344CB8AC3E}">
        <p14:creationId xmlns:p14="http://schemas.microsoft.com/office/powerpoint/2010/main" val="2111303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/>
              <a:t>Parallel Data Processing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KHDL&amp;TTNT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14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32570" cy="48926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/>
              <a:t>Definition:</a:t>
            </a:r>
            <a:r>
              <a:rPr lang="en-US"/>
              <a:t> Dividing a computational task into smaller tasks that can be executed simultaneously on multiple processors or nodes.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/>
              <a:t>Example:</a:t>
            </a:r>
            <a:r>
              <a:rPr lang="en-US"/>
              <a:t> Analyzing large datasets using MapReduce, where the data is split into chunks, processed in parallel, and then combined to produce the final result.</a:t>
            </a:r>
          </a:p>
        </p:txBody>
      </p:sp>
    </p:spTree>
    <p:extLst>
      <p:ext uri="{BB962C8B-B14F-4D97-AF65-F5344CB8AC3E}">
        <p14:creationId xmlns:p14="http://schemas.microsoft.com/office/powerpoint/2010/main" val="3121172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/>
              <a:t>Distributed Data Processing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KHDL&amp;TTNT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15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32570" cy="48926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/>
              <a:t>Definition:</a:t>
            </a:r>
            <a:r>
              <a:rPr lang="en-US"/>
              <a:t> Processing data that is distributed across multiple nodes or locations in a network.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/>
              <a:t>Example:</a:t>
            </a:r>
            <a:r>
              <a:rPr lang="en-US"/>
              <a:t> Apache Spark processes large-scale data across a distributed cluster, enabling tasks like real-time analytics and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84643105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cdb2004108l</Template>
  <TotalTime>15407</TotalTime>
  <Words>819</Words>
  <Application>Microsoft Office PowerPoint</Application>
  <PresentationFormat>On-screen Show (4:3)</PresentationFormat>
  <Paragraphs>136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Georgia</vt:lpstr>
      <vt:lpstr>Symbol</vt:lpstr>
      <vt:lpstr>Times New Roman</vt:lpstr>
      <vt:lpstr>Verdana</vt:lpstr>
      <vt:lpstr>Custom Design</vt:lpstr>
      <vt:lpstr>1_Custom Design</vt:lpstr>
      <vt:lpstr>KỸ THUẬT LƯU TRỮ</vt:lpstr>
      <vt:lpstr>CONTENT</vt:lpstr>
      <vt:lpstr>Cluster Structure</vt:lpstr>
      <vt:lpstr>Cluster Structure</vt:lpstr>
      <vt:lpstr>Cluster Structure</vt:lpstr>
      <vt:lpstr>Cluster Structure</vt:lpstr>
      <vt:lpstr>Cluster Structure</vt:lpstr>
      <vt:lpstr>Cluster Structure</vt:lpstr>
      <vt:lpstr>Cluster Structure</vt:lpstr>
      <vt:lpstr>Distributed File Systems (DFS)</vt:lpstr>
      <vt:lpstr>Sharding and Replication Techniques</vt:lpstr>
      <vt:lpstr>Sharding and Replication Techniques</vt:lpstr>
      <vt:lpstr>Sharding and Replication Techniques</vt:lpstr>
      <vt:lpstr>Parallel Data Processing</vt:lpstr>
      <vt:lpstr>Distributed Data Processing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CẤU TRÚC DỮ LIỆU VÀ GIẢI THUẬT</dc:title>
  <dc:creator>Sony</dc:creator>
  <cp:lastModifiedBy>HP</cp:lastModifiedBy>
  <cp:revision>305</cp:revision>
  <cp:lastPrinted>2024-08-22T02:09:11Z</cp:lastPrinted>
  <dcterms:created xsi:type="dcterms:W3CDTF">2011-02-16T03:20:26Z</dcterms:created>
  <dcterms:modified xsi:type="dcterms:W3CDTF">2026-08-03T03:53:57Z</dcterms:modified>
</cp:coreProperties>
</file>